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notesSlides/notesSlide15.xml" ContentType="application/vnd.openxmlformats-officedocument.presentationml.notesSlide+xml"/>
  <Override PartName="/ppt/charts/chart9.xml" ContentType="application/vnd.openxmlformats-officedocument.drawingml.chart+xml"/>
  <Override PartName="/ppt/notesSlides/notesSlide16.xml" ContentType="application/vnd.openxmlformats-officedocument.presentationml.notesSlide+xml"/>
  <Override PartName="/ppt/charts/chart10.xml" ContentType="application/vnd.openxmlformats-officedocument.drawingml.chart+xml"/>
  <Override PartName="/ppt/notesSlides/notesSlide17.xml" ContentType="application/vnd.openxmlformats-officedocument.presentationml.notesSlide+xml"/>
  <Override PartName="/ppt/charts/chart11.xml" ContentType="application/vnd.openxmlformats-officedocument.drawingml.chart+xml"/>
  <Override PartName="/ppt/notesSlides/notesSlide18.xml" ContentType="application/vnd.openxmlformats-officedocument.presentationml.notesSlide+xml"/>
  <Override PartName="/ppt/charts/chart12.xml" ContentType="application/vnd.openxmlformats-officedocument.drawingml.chart+xml"/>
  <Override PartName="/ppt/notesSlides/notesSlide19.xml" ContentType="application/vnd.openxmlformats-officedocument.presentationml.notesSlide+xml"/>
  <Override PartName="/ppt/charts/chart13.xml" ContentType="application/vnd.openxmlformats-officedocument.drawingml.chart+xml"/>
  <Override PartName="/ppt/notesSlides/notesSlide20.xml" ContentType="application/vnd.openxmlformats-officedocument.presentationml.notesSlide+xml"/>
  <Override PartName="/ppt/charts/chart14.xml" ContentType="application/vnd.openxmlformats-officedocument.drawingml.chart+xml"/>
  <Override PartName="/ppt/notesSlides/notesSlide21.xml" ContentType="application/vnd.openxmlformats-officedocument.presentationml.notesSlide+xml"/>
  <Override PartName="/ppt/charts/chart15.xml" ContentType="application/vnd.openxmlformats-officedocument.drawingml.chart+xml"/>
  <Override PartName="/ppt/notesSlides/notesSlide22.xml" ContentType="application/vnd.openxmlformats-officedocument.presentationml.notesSlide+xml"/>
  <Override PartName="/ppt/charts/chart16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8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4" r:id="rId25"/>
    <p:sldId id="279" r:id="rId26"/>
    <p:sldId id="283" r:id="rId27"/>
    <p:sldId id="281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19YKwvO3t1NMzGf5WQqFmA5VR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595" autoAdjust="0"/>
  </p:normalViewPr>
  <p:slideViewPr>
    <p:cSldViewPr snapToGrid="0">
      <p:cViewPr varScale="1">
        <p:scale>
          <a:sx n="58" d="100"/>
          <a:sy n="58" d="100"/>
        </p:scale>
        <p:origin x="9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Sugar (g)</c:v>
          </c:tx>
          <c:spPr>
            <a:solidFill>
              <a:srgbClr val="64C7EA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64C7EA"/>
              </a:solidFill>
            </c:spPr>
            <c:extLst>
              <c:ext xmlns:c16="http://schemas.microsoft.com/office/drawing/2014/chart" uri="{C3380CC4-5D6E-409C-BE32-E72D297353CC}">
                <c16:uniqueId val="{00000001-D951-41C4-9B5C-905D7DBF5B89}"/>
              </c:ext>
            </c:extLst>
          </c:dPt>
          <c:dPt>
            <c:idx val="1"/>
            <c:invertIfNegative val="0"/>
            <c:bubble3D val="0"/>
            <c:spPr>
              <a:solidFill>
                <a:srgbClr val="64C7EA"/>
              </a:solidFill>
            </c:spPr>
            <c:extLst>
              <c:ext xmlns:c16="http://schemas.microsoft.com/office/drawing/2014/chart" uri="{C3380CC4-5D6E-409C-BE32-E72D297353CC}">
                <c16:uniqueId val="{00000003-D951-41C4-9B5C-905D7DBF5B89}"/>
              </c:ext>
            </c:extLst>
          </c:dPt>
          <c:dPt>
            <c:idx val="2"/>
            <c:invertIfNegative val="0"/>
            <c:bubble3D val="0"/>
            <c:spPr>
              <a:solidFill>
                <a:srgbClr val="64C7EA"/>
              </a:solidFill>
            </c:spPr>
            <c:extLst>
              <c:ext xmlns:c16="http://schemas.microsoft.com/office/drawing/2014/chart" uri="{C3380CC4-5D6E-409C-BE32-E72D297353CC}">
                <c16:uniqueId val="{00000005-D951-41C4-9B5C-905D7DBF5B89}"/>
              </c:ext>
            </c:extLst>
          </c:dPt>
          <c:dPt>
            <c:idx val="3"/>
            <c:invertIfNegative val="0"/>
            <c:bubble3D val="0"/>
            <c:spPr>
              <a:solidFill>
                <a:srgbClr val="64C7EA"/>
              </a:solidFill>
            </c:spPr>
            <c:extLst>
              <c:ext xmlns:c16="http://schemas.microsoft.com/office/drawing/2014/chart" uri="{C3380CC4-5D6E-409C-BE32-E72D297353CC}">
                <c16:uniqueId val="{00000007-D951-41C4-9B5C-905D7DBF5B89}"/>
              </c:ext>
            </c:extLst>
          </c:dPt>
          <c:dPt>
            <c:idx val="4"/>
            <c:invertIfNegative val="0"/>
            <c:bubble3D val="0"/>
            <c:spPr>
              <a:solidFill>
                <a:srgbClr val="64C7EA"/>
              </a:solidFill>
            </c:spPr>
            <c:extLst>
              <c:ext xmlns:c16="http://schemas.microsoft.com/office/drawing/2014/chart" uri="{C3380CC4-5D6E-409C-BE32-E72D297353CC}">
                <c16:uniqueId val="{00000009-D951-41C4-9B5C-905D7DBF5B89}"/>
              </c:ext>
            </c:extLst>
          </c:dPt>
          <c:dPt>
            <c:idx val="5"/>
            <c:invertIfNegative val="0"/>
            <c:bubble3D val="0"/>
            <c:spPr>
              <a:solidFill>
                <a:srgbClr val="64C7EA"/>
              </a:solidFill>
            </c:spPr>
            <c:extLst>
              <c:ext xmlns:c16="http://schemas.microsoft.com/office/drawing/2014/chart" uri="{C3380CC4-5D6E-409C-BE32-E72D297353CC}">
                <c16:uniqueId val="{0000000B-D951-41C4-9B5C-905D7DBF5B89}"/>
              </c:ext>
            </c:extLst>
          </c:dPt>
          <c:dPt>
            <c:idx val="6"/>
            <c:invertIfNegative val="0"/>
            <c:bubble3D val="0"/>
            <c:spPr>
              <a:solidFill>
                <a:srgbClr val="64C7EA"/>
              </a:solidFill>
            </c:spPr>
            <c:extLst>
              <c:ext xmlns:c16="http://schemas.microsoft.com/office/drawing/2014/chart" uri="{C3380CC4-5D6E-409C-BE32-E72D297353CC}">
                <c16:uniqueId val="{0000000D-D951-41C4-9B5C-905D7DBF5B89}"/>
              </c:ext>
            </c:extLst>
          </c:dPt>
          <c:dPt>
            <c:idx val="7"/>
            <c:invertIfNegative val="0"/>
            <c:bubble3D val="0"/>
            <c:spPr>
              <a:solidFill>
                <a:srgbClr val="64C7EA"/>
              </a:solidFill>
            </c:spPr>
            <c:extLst>
              <c:ext xmlns:c16="http://schemas.microsoft.com/office/drawing/2014/chart" uri="{C3380CC4-5D6E-409C-BE32-E72D297353CC}">
                <c16:uniqueId val="{0000000F-D951-41C4-9B5C-905D7DBF5B8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F5F7F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10</c:v>
                </c:pt>
                <c:pt idx="4">
                  <c:v>12</c:v>
                </c:pt>
                <c:pt idx="5">
                  <c:v>11</c:v>
                </c:pt>
                <c:pt idx="6">
                  <c:v>8</c:v>
                </c:pt>
                <c:pt idx="7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D951-41C4-9B5C-905D7DBF5B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FBAC8"/>
            </a:solidFill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Sugar (g)</c:v>
          </c:tx>
          <c:spPr>
            <a:solidFill>
              <a:srgbClr val="64C7EA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1-B637-40D8-BD10-DD653B17B0B6}"/>
              </c:ext>
            </c:extLst>
          </c:dPt>
          <c:dPt>
            <c:idx val="1"/>
            <c:invertIfNegative val="0"/>
            <c:bubble3D val="0"/>
            <c:spPr>
              <a:solidFill>
                <a:srgbClr val="FFD166"/>
              </a:solidFill>
            </c:spPr>
            <c:extLst>
              <c:ext xmlns:c16="http://schemas.microsoft.com/office/drawing/2014/chart" uri="{C3380CC4-5D6E-409C-BE32-E72D297353CC}">
                <c16:uniqueId val="{00000003-B637-40D8-BD10-DD653B17B0B6}"/>
              </c:ext>
            </c:extLst>
          </c:dPt>
          <c:dPt>
            <c:idx val="2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5-B637-40D8-BD10-DD653B17B0B6}"/>
              </c:ext>
            </c:extLst>
          </c:dPt>
          <c:dPt>
            <c:idx val="3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7-B637-40D8-BD10-DD653B17B0B6}"/>
              </c:ext>
            </c:extLst>
          </c:dPt>
          <c:dPt>
            <c:idx val="4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9-B637-40D8-BD10-DD653B17B0B6}"/>
              </c:ext>
            </c:extLst>
          </c:dPt>
          <c:dPt>
            <c:idx val="5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B-B637-40D8-BD10-DD653B17B0B6}"/>
              </c:ext>
            </c:extLst>
          </c:dPt>
          <c:dPt>
            <c:idx val="6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D-B637-40D8-BD10-DD653B17B0B6}"/>
              </c:ext>
            </c:extLst>
          </c:dPt>
          <c:dPt>
            <c:idx val="7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F-B637-40D8-BD10-DD653B17B0B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F5F7F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10</c:v>
                </c:pt>
                <c:pt idx="4">
                  <c:v>12</c:v>
                </c:pt>
                <c:pt idx="5">
                  <c:v>11</c:v>
                </c:pt>
                <c:pt idx="6">
                  <c:v>8</c:v>
                </c:pt>
                <c:pt idx="7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B637-40D8-BD10-DD653B17B0B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FBAC8"/>
            </a:solidFill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Sugar (g)</c:v>
          </c:tx>
          <c:spPr>
            <a:solidFill>
              <a:srgbClr val="64C7EA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1-6F1B-41C1-BF3C-9EA5A87FA687}"/>
              </c:ext>
            </c:extLst>
          </c:dPt>
          <c:dPt>
            <c:idx val="1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3-6F1B-41C1-BF3C-9EA5A87FA687}"/>
              </c:ext>
            </c:extLst>
          </c:dPt>
          <c:dPt>
            <c:idx val="2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5-6F1B-41C1-BF3C-9EA5A87FA687}"/>
              </c:ext>
            </c:extLst>
          </c:dPt>
          <c:dPt>
            <c:idx val="3"/>
            <c:invertIfNegative val="0"/>
            <c:bubble3D val="0"/>
            <c:spPr>
              <a:solidFill>
                <a:srgbClr val="FFD166"/>
              </a:solidFill>
            </c:spPr>
            <c:extLst>
              <c:ext xmlns:c16="http://schemas.microsoft.com/office/drawing/2014/chart" uri="{C3380CC4-5D6E-409C-BE32-E72D297353CC}">
                <c16:uniqueId val="{00000007-6F1B-41C1-BF3C-9EA5A87FA687}"/>
              </c:ext>
            </c:extLst>
          </c:dPt>
          <c:dPt>
            <c:idx val="4"/>
            <c:invertIfNegative val="0"/>
            <c:bubble3D val="0"/>
            <c:spPr>
              <a:solidFill>
                <a:srgbClr val="FFD166"/>
              </a:solidFill>
            </c:spPr>
            <c:extLst>
              <c:ext xmlns:c16="http://schemas.microsoft.com/office/drawing/2014/chart" uri="{C3380CC4-5D6E-409C-BE32-E72D297353CC}">
                <c16:uniqueId val="{00000009-6F1B-41C1-BF3C-9EA5A87FA687}"/>
              </c:ext>
            </c:extLst>
          </c:dPt>
          <c:dPt>
            <c:idx val="5"/>
            <c:invertIfNegative val="0"/>
            <c:bubble3D val="0"/>
            <c:spPr>
              <a:solidFill>
                <a:srgbClr val="FFD166"/>
              </a:solidFill>
            </c:spPr>
            <c:extLst>
              <c:ext xmlns:c16="http://schemas.microsoft.com/office/drawing/2014/chart" uri="{C3380CC4-5D6E-409C-BE32-E72D297353CC}">
                <c16:uniqueId val="{0000000B-6F1B-41C1-BF3C-9EA5A87FA687}"/>
              </c:ext>
            </c:extLst>
          </c:dPt>
          <c:dPt>
            <c:idx val="6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D-6F1B-41C1-BF3C-9EA5A87FA687}"/>
              </c:ext>
            </c:extLst>
          </c:dPt>
          <c:dPt>
            <c:idx val="7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F-6F1B-41C1-BF3C-9EA5A87FA6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F5F7F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10</c:v>
                </c:pt>
                <c:pt idx="4">
                  <c:v>12</c:v>
                </c:pt>
                <c:pt idx="5">
                  <c:v>11</c:v>
                </c:pt>
                <c:pt idx="6">
                  <c:v>8</c:v>
                </c:pt>
                <c:pt idx="7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6F1B-41C1-BF3C-9EA5A87FA6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FBAC8"/>
            </a:solidFill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Sugar (g)</c:v>
          </c:tx>
          <c:spPr>
            <a:solidFill>
              <a:srgbClr val="64C7EA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32C-4042-B3B8-7EB31B0F074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32C-4042-B3B8-7EB31B0F074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32C-4042-B3B8-7EB31B0F074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32C-4042-B3B8-7EB31B0F074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32C-4042-B3B8-7EB31B0F0740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32C-4042-B3B8-7EB31B0F074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832C-4042-B3B8-7EB31B0F0740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832C-4042-B3B8-7EB31B0F074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F5F7F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10</c:v>
                </c:pt>
                <c:pt idx="4">
                  <c:v>12</c:v>
                </c:pt>
                <c:pt idx="5">
                  <c:v>11</c:v>
                </c:pt>
                <c:pt idx="6">
                  <c:v>8</c:v>
                </c:pt>
                <c:pt idx="7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832C-4042-B3B8-7EB31B0F074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FBAC8"/>
            </a:solidFill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Sugar (g)</c:v>
          </c:tx>
          <c:spPr>
            <a:solidFill>
              <a:srgbClr val="64C7EA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1-7337-4827-874C-EDF5209B7FA6}"/>
              </c:ext>
            </c:extLst>
          </c:dPt>
          <c:dPt>
            <c:idx val="1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3-7337-4827-874C-EDF5209B7FA6}"/>
              </c:ext>
            </c:extLst>
          </c:dPt>
          <c:dPt>
            <c:idx val="2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5-7337-4827-874C-EDF5209B7FA6}"/>
              </c:ext>
            </c:extLst>
          </c:dPt>
          <c:dPt>
            <c:idx val="3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7-7337-4827-874C-EDF5209B7FA6}"/>
              </c:ext>
            </c:extLst>
          </c:dPt>
          <c:dPt>
            <c:idx val="4"/>
            <c:invertIfNegative val="0"/>
            <c:bubble3D val="0"/>
            <c:spPr>
              <a:solidFill>
                <a:srgbClr val="FFD166"/>
              </a:solidFill>
            </c:spPr>
            <c:extLst>
              <c:ext xmlns:c16="http://schemas.microsoft.com/office/drawing/2014/chart" uri="{C3380CC4-5D6E-409C-BE32-E72D297353CC}">
                <c16:uniqueId val="{00000009-7337-4827-874C-EDF5209B7FA6}"/>
              </c:ext>
            </c:extLst>
          </c:dPt>
          <c:dPt>
            <c:idx val="5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B-7337-4827-874C-EDF5209B7FA6}"/>
              </c:ext>
            </c:extLst>
          </c:dPt>
          <c:dPt>
            <c:idx val="6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D-7337-4827-874C-EDF5209B7FA6}"/>
              </c:ext>
            </c:extLst>
          </c:dPt>
          <c:dPt>
            <c:idx val="7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F-7337-4827-874C-EDF5209B7FA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F5F7F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10</c:v>
                </c:pt>
                <c:pt idx="4">
                  <c:v>12</c:v>
                </c:pt>
                <c:pt idx="5">
                  <c:v>11</c:v>
                </c:pt>
                <c:pt idx="6">
                  <c:v>8</c:v>
                </c:pt>
                <c:pt idx="7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7337-4827-874C-EDF5209B7F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FBAC8"/>
            </a:solidFill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Sugar (g)</c:v>
          </c:tx>
          <c:spPr>
            <a:solidFill>
              <a:srgbClr val="64C7EA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CFA-4061-9874-D4BA7887E67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CFA-4061-9874-D4BA7887E67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CFA-4061-9874-D4BA7887E67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CFA-4061-9874-D4BA7887E67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CFA-4061-9874-D4BA7887E674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CFA-4061-9874-D4BA7887E674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CFA-4061-9874-D4BA7887E674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CFA-4061-9874-D4BA7887E67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F5F7F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A</c:v>
                </c:pt>
                <c:pt idx="1">
                  <c:v>C</c:v>
                </c:pt>
                <c:pt idx="2">
                  <c:v>B</c:v>
                </c:pt>
                <c:pt idx="3">
                  <c:v>H</c:v>
                </c:pt>
                <c:pt idx="4">
                  <c:v>G</c:v>
                </c:pt>
                <c:pt idx="5">
                  <c:v>D</c:v>
                </c:pt>
                <c:pt idx="6">
                  <c:v>F</c:v>
                </c:pt>
                <c:pt idx="7">
                  <c:v>E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7</c:v>
                </c:pt>
                <c:pt idx="4">
                  <c:v>8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0CFA-4061-9874-D4BA7887E6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FBAC8"/>
            </a:solidFill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Sugar (g)</c:v>
          </c:tx>
          <c:spPr>
            <a:solidFill>
              <a:srgbClr val="64C7EA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FFD166"/>
              </a:solidFill>
            </c:spPr>
            <c:extLst>
              <c:ext xmlns:c16="http://schemas.microsoft.com/office/drawing/2014/chart" uri="{C3380CC4-5D6E-409C-BE32-E72D297353CC}">
                <c16:uniqueId val="{00000001-B7E9-43FF-989A-4F7A0399B25C}"/>
              </c:ext>
            </c:extLst>
          </c:dPt>
          <c:dPt>
            <c:idx val="1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3-B7E9-43FF-989A-4F7A0399B25C}"/>
              </c:ext>
            </c:extLst>
          </c:dPt>
          <c:dPt>
            <c:idx val="2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5-B7E9-43FF-989A-4F7A0399B25C}"/>
              </c:ext>
            </c:extLst>
          </c:dPt>
          <c:dPt>
            <c:idx val="3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7-B7E9-43FF-989A-4F7A0399B25C}"/>
              </c:ext>
            </c:extLst>
          </c:dPt>
          <c:dPt>
            <c:idx val="4"/>
            <c:invertIfNegative val="0"/>
            <c:bubble3D val="0"/>
            <c:spPr>
              <a:solidFill>
                <a:srgbClr val="FFD166"/>
              </a:solidFill>
            </c:spPr>
            <c:extLst>
              <c:ext xmlns:c16="http://schemas.microsoft.com/office/drawing/2014/chart" uri="{C3380CC4-5D6E-409C-BE32-E72D297353CC}">
                <c16:uniqueId val="{00000009-B7E9-43FF-989A-4F7A0399B25C}"/>
              </c:ext>
            </c:extLst>
          </c:dPt>
          <c:dPt>
            <c:idx val="5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B-B7E9-43FF-989A-4F7A0399B25C}"/>
              </c:ext>
            </c:extLst>
          </c:dPt>
          <c:dPt>
            <c:idx val="6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D-B7E9-43FF-989A-4F7A0399B25C}"/>
              </c:ext>
            </c:extLst>
          </c:dPt>
          <c:dPt>
            <c:idx val="7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F-B7E9-43FF-989A-4F7A0399B25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F5F7F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10</c:v>
                </c:pt>
                <c:pt idx="4">
                  <c:v>12</c:v>
                </c:pt>
                <c:pt idx="5">
                  <c:v>11</c:v>
                </c:pt>
                <c:pt idx="6">
                  <c:v>8</c:v>
                </c:pt>
                <c:pt idx="7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B7E9-43FF-989A-4F7A0399B25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FBAC8"/>
            </a:solidFill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Number of cereals</c:v>
          </c:tx>
          <c:spPr>
            <a:solidFill>
              <a:srgbClr val="64C7EA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8F-4241-BE3E-6500C06BE72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C8F-4241-BE3E-6500C06BE72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C8F-4241-BE3E-6500C06BE72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C8F-4241-BE3E-6500C06BE72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F5F7F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0–&lt;3</c:v>
                </c:pt>
                <c:pt idx="1">
                  <c:v>3–&lt;6</c:v>
                </c:pt>
                <c:pt idx="2">
                  <c:v>6–&lt;9</c:v>
                </c:pt>
                <c:pt idx="3">
                  <c:v>9–12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1C8F-4241-BE3E-6500C06BE7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FBAC8"/>
            </a:solidFill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1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A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7A9-4292-9853-A2CDDB671DA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Data'!$A$2:$A$2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Data'!$B$2:$B$2</c:f>
              <c:numCache>
                <c:formatCode>General</c:formatCode>
                <c:ptCount val="1"/>
                <c:pt idx="0">
                  <c:v>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7A9-4292-9853-A2CDDB671DAB}"/>
            </c:ext>
          </c:extLst>
        </c:ser>
        <c:ser>
          <c:idx val="1"/>
          <c:order val="1"/>
          <c:tx>
            <c:v>B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B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7A9-4292-9853-A2CDDB671DA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Data'!$C$2:$C$2</c:f>
              <c:numCache>
                <c:formatCode>General</c:formatCode>
                <c:ptCount val="1"/>
                <c:pt idx="0">
                  <c:v>4</c:v>
                </c:pt>
              </c:numCache>
            </c:numRef>
          </c:xVal>
          <c:yVal>
            <c:numRef>
              <c:f>'Chart Data'!$D$2:$D$2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27A9-4292-9853-A2CDDB671DAB}"/>
            </c:ext>
          </c:extLst>
        </c:ser>
        <c:ser>
          <c:idx val="2"/>
          <c:order val="2"/>
          <c:tx>
            <c:v>C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C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7A9-4292-9853-A2CDDB671DA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Data'!$E$2:$E$2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27A9-4292-9853-A2CDDB671DAB}"/>
            </c:ext>
          </c:extLst>
        </c:ser>
        <c:ser>
          <c:idx val="3"/>
          <c:order val="3"/>
          <c:tx>
            <c:v>D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D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7A9-4292-9853-A2CDDB671DA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10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130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27A9-4292-9853-A2CDDB671DAB}"/>
            </c:ext>
          </c:extLst>
        </c:ser>
        <c:ser>
          <c:idx val="4"/>
          <c:order val="4"/>
          <c:tx>
            <c:v>E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E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7A9-4292-9853-A2CDDB671DA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12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140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27A9-4292-9853-A2CDDB671DAB}"/>
            </c:ext>
          </c:extLst>
        </c:ser>
        <c:ser>
          <c:idx val="5"/>
          <c:order val="5"/>
          <c:tx>
            <c:v>F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F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7A9-4292-9853-A2CDDB671DA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Data'!$K$2:$K$2</c:f>
              <c:numCache>
                <c:formatCode>General</c:formatCode>
                <c:ptCount val="1"/>
                <c:pt idx="0">
                  <c:v>11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135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27A9-4292-9853-A2CDDB671DAB}"/>
            </c:ext>
          </c:extLst>
        </c:ser>
        <c:ser>
          <c:idx val="6"/>
          <c:order val="6"/>
          <c:tx>
            <c:v>G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G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27A9-4292-9853-A2CDDB671DA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Data'!$M$2:$M$2</c:f>
              <c:numCache>
                <c:formatCode>General</c:formatCode>
                <c:ptCount val="1"/>
                <c:pt idx="0">
                  <c:v>8</c:v>
                </c:pt>
              </c:numCache>
            </c:numRef>
          </c:xVal>
          <c:yVal>
            <c:numRef>
              <c:f>'Chart Data'!$N$2:$N$2</c:f>
              <c:numCache>
                <c:formatCode>General</c:formatCode>
                <c:ptCount val="1"/>
                <c:pt idx="0">
                  <c:v>120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D-27A9-4292-9853-A2CDDB671DAB}"/>
            </c:ext>
          </c:extLst>
        </c:ser>
        <c:ser>
          <c:idx val="7"/>
          <c:order val="7"/>
          <c:tx>
            <c:v>H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H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27A9-4292-9853-A2CDDB671DA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Data'!$O$2:$O$2</c:f>
              <c:numCache>
                <c:formatCode>General</c:formatCode>
                <c:ptCount val="1"/>
                <c:pt idx="0">
                  <c:v>7</c:v>
                </c:pt>
              </c:numCache>
            </c:numRef>
          </c:xVal>
          <c:yVal>
            <c:numRef>
              <c:f>'Chart Data'!$P$2:$P$2</c:f>
              <c:numCache>
                <c:formatCode>General</c:formatCode>
                <c:ptCount val="1"/>
                <c:pt idx="0">
                  <c:v>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F-27A9-4292-9853-A2CDDB671D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50"/>
          <c:min val="8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14"/>
          <c:min val="0"/>
        </c:scaling>
        <c:delete val="0"/>
        <c:axPos val="b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A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8DD-46AD-95D6-FBAF4294F4A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Data'!$A$2:$A$2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Data'!$B$2:$B$2</c:f>
              <c:numCache>
                <c:formatCode>General</c:formatCode>
                <c:ptCount val="1"/>
                <c:pt idx="0">
                  <c:v>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8DD-46AD-95D6-FBAF4294F4A7}"/>
            </c:ext>
          </c:extLst>
        </c:ser>
        <c:ser>
          <c:idx val="1"/>
          <c:order val="1"/>
          <c:tx>
            <c:v>B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B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8DD-46AD-95D6-FBAF4294F4A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Data'!$C$2:$C$2</c:f>
              <c:numCache>
                <c:formatCode>General</c:formatCode>
                <c:ptCount val="1"/>
                <c:pt idx="0">
                  <c:v>4</c:v>
                </c:pt>
              </c:numCache>
            </c:numRef>
          </c:xVal>
          <c:yVal>
            <c:numRef>
              <c:f>'Chart Data'!$D$2:$D$2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28DD-46AD-95D6-FBAF4294F4A7}"/>
            </c:ext>
          </c:extLst>
        </c:ser>
        <c:ser>
          <c:idx val="2"/>
          <c:order val="2"/>
          <c:tx>
            <c:v>C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C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8DD-46AD-95D6-FBAF4294F4A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Data'!$E$2:$E$2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28DD-46AD-95D6-FBAF4294F4A7}"/>
            </c:ext>
          </c:extLst>
        </c:ser>
        <c:ser>
          <c:idx val="3"/>
          <c:order val="3"/>
          <c:tx>
            <c:v>D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D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8DD-46AD-95D6-FBAF4294F4A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10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130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28DD-46AD-95D6-FBAF4294F4A7}"/>
            </c:ext>
          </c:extLst>
        </c:ser>
        <c:ser>
          <c:idx val="4"/>
          <c:order val="4"/>
          <c:tx>
            <c:v>E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E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8DD-46AD-95D6-FBAF4294F4A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12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140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28DD-46AD-95D6-FBAF4294F4A7}"/>
            </c:ext>
          </c:extLst>
        </c:ser>
        <c:ser>
          <c:idx val="5"/>
          <c:order val="5"/>
          <c:tx>
            <c:v>F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F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8DD-46AD-95D6-FBAF4294F4A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Data'!$K$2:$K$2</c:f>
              <c:numCache>
                <c:formatCode>General</c:formatCode>
                <c:ptCount val="1"/>
                <c:pt idx="0">
                  <c:v>11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135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28DD-46AD-95D6-FBAF4294F4A7}"/>
            </c:ext>
          </c:extLst>
        </c:ser>
        <c:ser>
          <c:idx val="6"/>
          <c:order val="6"/>
          <c:tx>
            <c:v>G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G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28DD-46AD-95D6-FBAF4294F4A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Data'!$M$2:$M$2</c:f>
              <c:numCache>
                <c:formatCode>General</c:formatCode>
                <c:ptCount val="1"/>
                <c:pt idx="0">
                  <c:v>8</c:v>
                </c:pt>
              </c:numCache>
            </c:numRef>
          </c:xVal>
          <c:yVal>
            <c:numRef>
              <c:f>'Chart Data'!$N$2:$N$2</c:f>
              <c:numCache>
                <c:formatCode>General</c:formatCode>
                <c:ptCount val="1"/>
                <c:pt idx="0">
                  <c:v>120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D-28DD-46AD-95D6-FBAF4294F4A7}"/>
            </c:ext>
          </c:extLst>
        </c:ser>
        <c:ser>
          <c:idx val="7"/>
          <c:order val="7"/>
          <c:tx>
            <c:v>H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H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28DD-46AD-95D6-FBAF4294F4A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Data'!$O$2:$O$2</c:f>
              <c:numCache>
                <c:formatCode>General</c:formatCode>
                <c:ptCount val="1"/>
                <c:pt idx="0">
                  <c:v>7</c:v>
                </c:pt>
              </c:numCache>
            </c:numRef>
          </c:xVal>
          <c:yVal>
            <c:numRef>
              <c:f>'Chart Data'!$P$2:$P$2</c:f>
              <c:numCache>
                <c:formatCode>General</c:formatCode>
                <c:ptCount val="1"/>
                <c:pt idx="0">
                  <c:v>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F-28DD-46AD-95D6-FBAF4294F4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50"/>
          <c:min val="8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14"/>
          <c:min val="0"/>
        </c:scaling>
        <c:delete val="0"/>
        <c:axPos val="b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A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D93-4CD3-A1E0-E325745AC9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Data'!$A$2:$A$2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D93-4CD3-A1E0-E325745AC9AA}"/>
            </c:ext>
          </c:extLst>
        </c:ser>
        <c:ser>
          <c:idx val="1"/>
          <c:order val="1"/>
          <c:tx>
            <c:v>B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B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1D93-4CD3-A1E0-E325745AC9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Data'!$C$2:$C$2</c:f>
              <c:numCache>
                <c:formatCode>General</c:formatCode>
                <c:ptCount val="1"/>
                <c:pt idx="0">
                  <c:v>4</c:v>
                </c:pt>
              </c:numCache>
            </c:numRef>
          </c:xVal>
          <c:yVal>
            <c:numRef>
              <c:f>'Chart Data'!$D$2:$D$2</c:f>
              <c:numCache>
                <c:formatCode>General</c:formatCode>
                <c:ptCount val="1"/>
                <c:pt idx="0">
                  <c:v>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1D93-4CD3-A1E0-E325745AC9AA}"/>
            </c:ext>
          </c:extLst>
        </c:ser>
        <c:ser>
          <c:idx val="2"/>
          <c:order val="2"/>
          <c:tx>
            <c:v>C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C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1D93-4CD3-A1E0-E325745AC9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Data'!$E$2:$E$2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1D93-4CD3-A1E0-E325745AC9AA}"/>
            </c:ext>
          </c:extLst>
        </c:ser>
        <c:ser>
          <c:idx val="3"/>
          <c:order val="3"/>
          <c:tx>
            <c:v>D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D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1D93-4CD3-A1E0-E325745AC9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10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1D93-4CD3-A1E0-E325745AC9AA}"/>
            </c:ext>
          </c:extLst>
        </c:ser>
        <c:ser>
          <c:idx val="4"/>
          <c:order val="4"/>
          <c:tx>
            <c:v>E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E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1D93-4CD3-A1E0-E325745AC9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12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1D93-4CD3-A1E0-E325745AC9AA}"/>
            </c:ext>
          </c:extLst>
        </c:ser>
        <c:ser>
          <c:idx val="5"/>
          <c:order val="5"/>
          <c:tx>
            <c:v>F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F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1D93-4CD3-A1E0-E325745AC9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Data'!$K$2:$K$2</c:f>
              <c:numCache>
                <c:formatCode>General</c:formatCode>
                <c:ptCount val="1"/>
                <c:pt idx="0">
                  <c:v>11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1D93-4CD3-A1E0-E325745AC9AA}"/>
            </c:ext>
          </c:extLst>
        </c:ser>
        <c:ser>
          <c:idx val="6"/>
          <c:order val="6"/>
          <c:tx>
            <c:v>G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G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1D93-4CD3-A1E0-E325745AC9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Data'!$M$2:$M$2</c:f>
              <c:numCache>
                <c:formatCode>General</c:formatCode>
                <c:ptCount val="1"/>
                <c:pt idx="0">
                  <c:v>8</c:v>
                </c:pt>
              </c:numCache>
            </c:numRef>
          </c:xVal>
          <c:yVal>
            <c:numRef>
              <c:f>'Chart Data'!$N$2:$N$2</c:f>
              <c:numCache>
                <c:formatCode>General</c:formatCode>
                <c:ptCount val="1"/>
                <c:pt idx="0">
                  <c:v>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D-1D93-4CD3-A1E0-E325745AC9AA}"/>
            </c:ext>
          </c:extLst>
        </c:ser>
        <c:ser>
          <c:idx val="7"/>
          <c:order val="7"/>
          <c:tx>
            <c:v>H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H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1D93-4CD3-A1E0-E325745AC9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Data'!$O$2:$O$2</c:f>
              <c:numCache>
                <c:formatCode>General</c:formatCode>
                <c:ptCount val="1"/>
                <c:pt idx="0">
                  <c:v>7</c:v>
                </c:pt>
              </c:numCache>
            </c:numRef>
          </c:xVal>
          <c:yVal>
            <c:numRef>
              <c:f>'Chart Data'!$P$2:$P$2</c:f>
              <c:numCache>
                <c:formatCode>General</c:formatCode>
                <c:ptCount val="1"/>
                <c:pt idx="0">
                  <c:v>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F-1D93-4CD3-A1E0-E325745AC9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2"/>
      </c:valAx>
      <c:valAx>
        <c:axId val="48650112"/>
        <c:scaling>
          <c:orientation val="minMax"/>
          <c:max val="14"/>
          <c:min val="0"/>
        </c:scaling>
        <c:delete val="0"/>
        <c:axPos val="b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A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7BC-419F-BB3D-054919FABC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Data'!$A$2:$A$2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Data'!$B$2:$B$2</c:f>
              <c:numCache>
                <c:formatCode>General</c:formatCode>
                <c:ptCount val="1"/>
                <c:pt idx="0">
                  <c:v>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7BC-419F-BB3D-054919FABC26}"/>
            </c:ext>
          </c:extLst>
        </c:ser>
        <c:ser>
          <c:idx val="1"/>
          <c:order val="1"/>
          <c:tx>
            <c:v>B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B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7BC-419F-BB3D-054919FABC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Data'!$C$2:$C$2</c:f>
              <c:numCache>
                <c:formatCode>General</c:formatCode>
                <c:ptCount val="1"/>
                <c:pt idx="0">
                  <c:v>4</c:v>
                </c:pt>
              </c:numCache>
            </c:numRef>
          </c:xVal>
          <c:yVal>
            <c:numRef>
              <c:f>'Chart Data'!$D$2:$D$2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27BC-419F-BB3D-054919FABC26}"/>
            </c:ext>
          </c:extLst>
        </c:ser>
        <c:ser>
          <c:idx val="2"/>
          <c:order val="2"/>
          <c:tx>
            <c:v>C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C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7BC-419F-BB3D-054919FABC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Data'!$E$2:$E$2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27BC-419F-BB3D-054919FABC26}"/>
            </c:ext>
          </c:extLst>
        </c:ser>
        <c:ser>
          <c:idx val="3"/>
          <c:order val="3"/>
          <c:tx>
            <c:v>D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D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7BC-419F-BB3D-054919FABC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10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130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27BC-419F-BB3D-054919FABC26}"/>
            </c:ext>
          </c:extLst>
        </c:ser>
        <c:ser>
          <c:idx val="4"/>
          <c:order val="4"/>
          <c:tx>
            <c:v>E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E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7BC-419F-BB3D-054919FABC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12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140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27BC-419F-BB3D-054919FABC26}"/>
            </c:ext>
          </c:extLst>
        </c:ser>
        <c:ser>
          <c:idx val="5"/>
          <c:order val="5"/>
          <c:tx>
            <c:v>F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F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7BC-419F-BB3D-054919FABC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Data'!$K$2:$K$2</c:f>
              <c:numCache>
                <c:formatCode>General</c:formatCode>
                <c:ptCount val="1"/>
                <c:pt idx="0">
                  <c:v>11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135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27BC-419F-BB3D-054919FABC26}"/>
            </c:ext>
          </c:extLst>
        </c:ser>
        <c:ser>
          <c:idx val="6"/>
          <c:order val="6"/>
          <c:tx>
            <c:v>G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G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27BC-419F-BB3D-054919FABC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Data'!$M$2:$M$2</c:f>
              <c:numCache>
                <c:formatCode>General</c:formatCode>
                <c:ptCount val="1"/>
                <c:pt idx="0">
                  <c:v>8</c:v>
                </c:pt>
              </c:numCache>
            </c:numRef>
          </c:xVal>
          <c:yVal>
            <c:numRef>
              <c:f>'Chart Data'!$N$2:$N$2</c:f>
              <c:numCache>
                <c:formatCode>General</c:formatCode>
                <c:ptCount val="1"/>
                <c:pt idx="0">
                  <c:v>120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D-27BC-419F-BB3D-054919FABC26}"/>
            </c:ext>
          </c:extLst>
        </c:ser>
        <c:ser>
          <c:idx val="7"/>
          <c:order val="7"/>
          <c:tx>
            <c:v>H</c:v>
          </c:tx>
          <c:spPr>
            <a:ln w="0">
              <a:noFill/>
            </a:ln>
          </c:spPr>
          <c:marker>
            <c:symbol val="circle"/>
            <c:size val="14"/>
            <c:spPr>
              <a:noFill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650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</a:rPr>
                      <a:t>H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27BC-419F-BB3D-054919FABC2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Data'!$O$2:$O$2</c:f>
              <c:numCache>
                <c:formatCode>General</c:formatCode>
                <c:ptCount val="1"/>
                <c:pt idx="0">
                  <c:v>7</c:v>
                </c:pt>
              </c:numCache>
            </c:numRef>
          </c:xVal>
          <c:yVal>
            <c:numRef>
              <c:f>'Chart Data'!$P$2:$P$2</c:f>
              <c:numCache>
                <c:formatCode>General</c:formatCode>
                <c:ptCount val="1"/>
                <c:pt idx="0">
                  <c:v>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F-27BC-419F-BB3D-054919FABC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50"/>
          <c:min val="8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14"/>
          <c:min val="0"/>
        </c:scaling>
        <c:delete val="0"/>
        <c:axPos val="b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Sugar (g)</c:v>
          </c:tx>
          <c:spPr>
            <a:solidFill>
              <a:srgbClr val="64C7EA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90-442A-8DDD-11B0454B4D7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C90-442A-8DDD-11B0454B4D7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C90-442A-8DDD-11B0454B4D7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C90-442A-8DDD-11B0454B4D7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C90-442A-8DDD-11B0454B4D7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C90-442A-8DDD-11B0454B4D7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C90-442A-8DDD-11B0454B4D7D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C90-442A-8DDD-11B0454B4D7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F5F7F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10</c:v>
                </c:pt>
                <c:pt idx="4">
                  <c:v>12</c:v>
                </c:pt>
                <c:pt idx="5">
                  <c:v>11</c:v>
                </c:pt>
                <c:pt idx="6">
                  <c:v>8</c:v>
                </c:pt>
                <c:pt idx="7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1C90-442A-8DDD-11B0454B4D7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FBAC8"/>
            </a:solidFill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Average sugar (g)</c:v>
          </c:tx>
          <c:spPr>
            <a:solidFill>
              <a:srgbClr val="64C7EA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648-44F8-9F97-A77FC163AEC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648-44F8-9F97-A77FC163AEC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F5F7F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4.75</c:v>
                </c:pt>
                <c:pt idx="1">
                  <c:v>9.5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2648-44F8-9F97-A77FC163AEC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FBAC8"/>
            </a:solidFill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Average sugar (g)</c:v>
          </c:tx>
          <c:spPr>
            <a:solidFill>
              <a:srgbClr val="64C7EA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FFD166"/>
              </a:solidFill>
            </c:spPr>
            <c:extLst>
              <c:ext xmlns:c16="http://schemas.microsoft.com/office/drawing/2014/chart" uri="{C3380CC4-5D6E-409C-BE32-E72D297353CC}">
                <c16:uniqueId val="{00000001-1F56-4C91-B17E-F21A30FE56BC}"/>
              </c:ext>
            </c:extLst>
          </c:dPt>
          <c:dPt>
            <c:idx val="1"/>
            <c:invertIfNegative val="0"/>
            <c:bubble3D val="0"/>
            <c:spPr>
              <a:solidFill>
                <a:srgbClr val="425163"/>
              </a:solidFill>
            </c:spPr>
            <c:extLst>
              <c:ext xmlns:c16="http://schemas.microsoft.com/office/drawing/2014/chart" uri="{C3380CC4-5D6E-409C-BE32-E72D297353CC}">
                <c16:uniqueId val="{00000003-1F56-4C91-B17E-F21A30FE56B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F5F7F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4.75</c:v>
                </c:pt>
                <c:pt idx="1">
                  <c:v>9.5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1F56-4C91-B17E-F21A30FE56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FBAC8"/>
            </a:solidFill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Sugar (g)</c:v>
          </c:tx>
          <c:spPr>
            <a:solidFill>
              <a:srgbClr val="64C7EA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54C-444E-8C35-4F9BBE48E7A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54C-444E-8C35-4F9BBE48E7A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54C-444E-8C35-4F9BBE48E7A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54C-444E-8C35-4F9BBE48E7A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54C-444E-8C35-4F9BBE48E7A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54C-444E-8C35-4F9BBE48E7A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654C-444E-8C35-4F9BBE48E7AF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654C-444E-8C35-4F9BBE48E7AF}"/>
              </c:ext>
            </c:extLst>
          </c:dPt>
          <c:cat>
            <c:strRef>
              <c:f>'Chart Data'!$A$2:$A$9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10</c:v>
                </c:pt>
                <c:pt idx="4">
                  <c:v>12</c:v>
                </c:pt>
                <c:pt idx="5">
                  <c:v>11</c:v>
                </c:pt>
                <c:pt idx="6">
                  <c:v>8</c:v>
                </c:pt>
                <c:pt idx="7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654C-444E-8C35-4F9BBE48E7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FBAC8"/>
            </a:solidFill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33404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10151C"/>
        </a:solidFill>
      </c:spPr>
    </c:plotArea>
    <c:plotVisOnly val="1"/>
    <c:dispBlanksAs val="zero"/>
    <c:showDLblsOverMax val="1"/>
  </c:chart>
  <c:spPr>
    <a:solidFill>
      <a:srgbClr val="10151C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8" name="Google Shape;3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1884fc869a64813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h1884fc869a648139_0_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4" name="Google Shape;54;h1884fc869a648139_0_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166813" y="0"/>
            <a:ext cx="5334001" cy="3000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1884fc869a64813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h1884fc869a648139_0_5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3" name="Google Shape;83;h1884fc869a648139_0_5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1884fc869a64813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h1884fc869a648139_0_7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6" name="Google Shape;96;h1884fc869a648139_0_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10" name="Google Shape;11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3" name="Google Shape;12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49" name="Google Shape;14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62" name="Google Shape;162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75" name="Google Shape;175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88" name="Google Shape;18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02" name="Google Shape;202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14" name="Google Shape;214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29" name="Google Shape;229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46" name="Google Shape;246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60" name="Google Shape;260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73" name="Google Shape;273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86" name="Google Shape;286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can we use them when designing a visualization?</a:t>
            </a:r>
            <a:r>
              <a:rPr lang="en-GB" dirty="0"/>
              <a:t> using them as a checklist. We ask: can this visualization support the tasks our users need?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/>
              <a:t>shows the difference between a task and an interaction. The task is what the user wants to achieve: reading a value. The interaction is how the tool helps them achieve it: labels reveal that value.</a:t>
            </a:r>
            <a:endParaRPr sz="1200" dirty="0"/>
          </a:p>
        </p:txBody>
      </p:sp>
      <p:sp>
        <p:nvSpPr>
          <p:cNvPr id="299" name="Google Shape;299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166813" y="0"/>
            <a:ext cx="5334001" cy="3000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paper’s central contribution is helping designers think more explicitly about what users want to find in their data.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29" name="Google Shape;329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58" name="Google Shape;358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47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62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§1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09600" y="1447118"/>
            <a:ext cx="100012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Ten basic tasks for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understanding data</a:t>
            </a:r>
            <a:endParaRPr dirty="0"/>
          </a:p>
        </p:txBody>
      </p:sp>
      <p:sp>
        <p:nvSpPr>
          <p:cNvPr id="20" name="Google Shape;20;p1"/>
          <p:cNvSpPr/>
          <p:nvPr/>
        </p:nvSpPr>
        <p:spPr>
          <a:xfrm>
            <a:off x="647700" y="3675974"/>
            <a:ext cx="10572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 b="0" dirty="0">
                <a:solidFill>
                  <a:srgbClr val="64C7EA"/>
                </a:solidFill>
                <a:latin typeface="Arial"/>
                <a:ea typeface="Arial"/>
                <a:cs typeface="Arial"/>
                <a:sym typeface="Arial"/>
              </a:rPr>
              <a:t>Low-Level Components of Analytic Activity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 b="0" dirty="0">
                <a:solidFill>
                  <a:srgbClr val="64C7EA"/>
                </a:solidFill>
                <a:latin typeface="Arial"/>
                <a:ea typeface="Arial"/>
                <a:cs typeface="Arial"/>
                <a:sym typeface="Arial"/>
              </a:rPr>
              <a:t>in Information Visualization</a:t>
            </a:r>
            <a:endParaRPr dirty="0"/>
          </a:p>
        </p:txBody>
      </p:sp>
      <p:sp>
        <p:nvSpPr>
          <p:cNvPr id="21" name="Google Shape;21;p1"/>
          <p:cNvSpPr/>
          <p:nvPr/>
        </p:nvSpPr>
        <p:spPr>
          <a:xfrm>
            <a:off x="647700" y="4666580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Robert Amar, James Eagan and John Stasko · 2005</a:t>
            </a:r>
            <a:endParaRPr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AC4E3E-F586-0987-E851-22022A1208DB}"/>
              </a:ext>
            </a:extLst>
          </p:cNvPr>
          <p:cNvSpPr txBox="1"/>
          <p:nvPr/>
        </p:nvSpPr>
        <p:spPr>
          <a:xfrm>
            <a:off x="8880232" y="5211538"/>
            <a:ext cx="24545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Arvid Almqvist</a:t>
            </a:r>
          </a:p>
          <a:p>
            <a:r>
              <a:rPr lang="en-US" sz="1800" dirty="0">
                <a:solidFill>
                  <a:schemeClr val="bg1"/>
                </a:solidFill>
              </a:rPr>
              <a:t>Muhammad Qasim 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Why do we make a visualization?</a:t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 dirty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To help someone answer a question about data</a:t>
            </a:r>
            <a:endParaRPr dirty="0"/>
          </a:p>
        </p:txBody>
      </p:sp>
      <p:sp>
        <p:nvSpPr>
          <p:cNvPr id="29" name="Google Shape;29;p2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§1   •   Fictional cereal data per 30 g serving</a:t>
            </a:r>
            <a:endParaRPr dirty="0"/>
          </a:p>
        </p:txBody>
      </p:sp>
      <p:sp>
        <p:nvSpPr>
          <p:cNvPr id="30" name="Google Shape;30;p2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aphicFrame>
        <p:nvGraphicFramePr>
          <p:cNvPr id="31" name="Google Shape;31;p2"/>
          <p:cNvGraphicFramePr/>
          <p:nvPr/>
        </p:nvGraphicFramePr>
        <p:xfrm>
          <a:off x="666750" y="1981200"/>
          <a:ext cx="75247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Google Shape;32;p2"/>
          <p:cNvSpPr/>
          <p:nvPr/>
        </p:nvSpPr>
        <p:spPr>
          <a:xfrm>
            <a:off x="809625" y="1695450"/>
            <a:ext cx="7524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(g)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What is our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question?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One value?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 pattern?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An unusual case?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What this paper focuses on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§§1–2</a:t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666750" y="1809750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64C7EA"/>
                </a:solidFill>
                <a:latin typeface="Arial"/>
                <a:ea typeface="Arial"/>
                <a:cs typeface="Arial"/>
                <a:sym typeface="Arial"/>
              </a:rPr>
              <a:t>Earlier approaches</a:t>
            </a:r>
            <a:endParaRPr dirty="0"/>
          </a:p>
        </p:txBody>
      </p:sp>
      <p:sp>
        <p:nvSpPr>
          <p:cNvPr id="44" name="Google Shape;44;p3"/>
          <p:cNvSpPr/>
          <p:nvPr/>
        </p:nvSpPr>
        <p:spPr>
          <a:xfrm>
            <a:off x="666750" y="2733675"/>
            <a:ext cx="50482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How should data be shown?</a:t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666750" y="3571875"/>
            <a:ext cx="5048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 b="0" dirty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What can the system do?</a:t>
            </a:r>
            <a:endParaRPr dirty="0"/>
          </a:p>
        </p:txBody>
      </p:sp>
      <p:sp>
        <p:nvSpPr>
          <p:cNvPr id="46" name="Google Shape;46;p3"/>
          <p:cNvSpPr/>
          <p:nvPr/>
        </p:nvSpPr>
        <p:spPr>
          <a:xfrm>
            <a:off x="666750" y="4333875"/>
            <a:ext cx="50482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For example: overview, zoom, filter</a:t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619875" y="1809750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This paper</a:t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6619875" y="2733675"/>
            <a:ext cx="47625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What does the user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want to find in the data?</a:t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619875" y="4333875"/>
            <a:ext cx="4762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Concrete analysis questions</a:t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666750" y="5581650"/>
            <a:ext cx="108108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Earlier taxonomies also included user goals. This paper puts analysis at the centre.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1884fc869a648139_0_26"/>
          <p:cNvSpPr/>
          <p:nvPr/>
        </p:nvSpPr>
        <p:spPr>
          <a:xfrm>
            <a:off x="609600" y="361950"/>
            <a:ext cx="109728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What this paper focuses on</a:t>
            </a:r>
            <a:endParaRPr/>
          </a:p>
        </p:txBody>
      </p:sp>
      <p:sp>
        <p:nvSpPr>
          <p:cNvPr id="57" name="Google Shape;57;h1884fc869a648139_0_26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§§1–2</a:t>
            </a:r>
            <a:endParaRPr/>
          </a:p>
        </p:txBody>
      </p:sp>
      <p:sp>
        <p:nvSpPr>
          <p:cNvPr id="58" name="Google Shape;58;h1884fc869a648139_0_26"/>
          <p:cNvSpPr/>
          <p:nvPr/>
        </p:nvSpPr>
        <p:spPr>
          <a:xfrm>
            <a:off x="11334750" y="6315075"/>
            <a:ext cx="428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9" name="Google Shape;59;h1884fc869a648139_0_26"/>
          <p:cNvSpPr/>
          <p:nvPr/>
        </p:nvSpPr>
        <p:spPr>
          <a:xfrm>
            <a:off x="542250" y="1612125"/>
            <a:ext cx="471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64C7EA"/>
                </a:solidFill>
              </a:rPr>
              <a:t>Representational Primacy</a:t>
            </a:r>
            <a:endParaRPr dirty="0"/>
          </a:p>
        </p:txBody>
      </p:sp>
      <p:sp>
        <p:nvSpPr>
          <p:cNvPr id="60" name="Google Shape;60;h1884fc869a648139_0_26"/>
          <p:cNvSpPr/>
          <p:nvPr/>
        </p:nvSpPr>
        <p:spPr>
          <a:xfrm>
            <a:off x="6791850" y="1612125"/>
            <a:ext cx="4857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FFD166"/>
                </a:solidFill>
              </a:rPr>
              <a:t>Analytical Primacy</a:t>
            </a:r>
            <a:endParaRPr/>
          </a:p>
        </p:txBody>
      </p:sp>
      <p:cxnSp>
        <p:nvCxnSpPr>
          <p:cNvPr id="61" name="Google Shape;61;h1884fc869a648139_0_26"/>
          <p:cNvCxnSpPr>
            <a:stCxn id="59" idx="3"/>
            <a:endCxn id="60" idx="1"/>
          </p:cNvCxnSpPr>
          <p:nvPr/>
        </p:nvCxnSpPr>
        <p:spPr>
          <a:xfrm>
            <a:off x="5261250" y="1897875"/>
            <a:ext cx="1530600" cy="0"/>
          </a:xfrm>
          <a:prstGeom prst="straightConnector1">
            <a:avLst/>
          </a:prstGeom>
          <a:noFill/>
          <a:ln w="7620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" name="Google Shape;62;h1884fc869a648139_0_26"/>
          <p:cNvSpPr/>
          <p:nvPr/>
        </p:nvSpPr>
        <p:spPr>
          <a:xfrm>
            <a:off x="3324150" y="3095550"/>
            <a:ext cx="50484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F5F7FA"/>
                </a:solidFill>
              </a:rPr>
              <a:t>START from user’s goal</a:t>
            </a:r>
            <a:endParaRPr/>
          </a:p>
        </p:txBody>
      </p:sp>
      <p:sp>
        <p:nvSpPr>
          <p:cNvPr id="63" name="Google Shape;63;h1884fc869a648139_0_26"/>
          <p:cNvSpPr/>
          <p:nvPr/>
        </p:nvSpPr>
        <p:spPr>
          <a:xfrm>
            <a:off x="2757450" y="4248625"/>
            <a:ext cx="6181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F5F7FA"/>
                </a:solidFill>
              </a:rPr>
              <a:t>THEN ask what visualization can support that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94AF35-3C78-4D06-914A-BB8426682BB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Where the ten tasks came from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6F03A7-B2E2-4B9C-93F8-56C6D5D424C4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FBAC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Amar, Eagan &amp; Stasko (2005), §3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234D76-ECA7-447E-A290-2D4486B37D11}"/>
              </a:ext>
            </a:extLst>
          </p:cNvPr>
          <p:cNvSpPr>
            <a:spLocks noGrp="1"/>
          </p:cNvSpPr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r>
              <a:rPr kumimoji="0" sz="1425" b="0" i="0" u="none" strike="noStrike" kern="1200" cap="none" spc="0" normalizeH="0" baseline="0" noProof="0">
                <a:ln>
                  <a:noFill/>
                </a:ln>
                <a:solidFill>
                  <a:srgbClr val="AFBAC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374677-F696-49A5-B0A9-A5E397C57AAB}"/>
              </a:ext>
            </a:extLst>
          </p:cNvPr>
          <p:cNvSpPr>
            <a:spLocks noGrp="1"/>
          </p:cNvSpPr>
          <p:nvPr/>
        </p:nvSpPr>
        <p:spPr>
          <a:xfrm>
            <a:off x="619125" y="2085975"/>
            <a:ext cx="3048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0" b="1">
                <a:solidFill>
                  <a:srgbClr val="64C7EA"/>
                </a:solidFill>
                <a:latin typeface="Arial"/>
                <a:ea typeface="Arial"/>
                <a:cs typeface="Arial"/>
              </a:defRPr>
            </a:pPr>
            <a:r>
              <a:rPr kumimoji="0" sz="6750" b="1" i="0" u="none" strike="noStrike" kern="1200" cap="none" spc="0" normalizeH="0" baseline="0" noProof="0">
                <a:ln>
                  <a:noFill/>
                </a:ln>
                <a:solidFill>
                  <a:srgbClr val="64C7E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196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C4910E-CD76-471D-BD55-E4530CE2C906}"/>
              </a:ext>
            </a:extLst>
          </p:cNvPr>
          <p:cNvSpPr>
            <a:spLocks noGrp="1"/>
          </p:cNvSpPr>
          <p:nvPr/>
        </p:nvSpPr>
        <p:spPr>
          <a:xfrm>
            <a:off x="619125" y="3381375"/>
            <a:ext cx="32861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student questions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055A06-5739-4D57-AF94-B142B678B072}"/>
              </a:ext>
            </a:extLst>
          </p:cNvPr>
          <p:cNvSpPr>
            <a:spLocks noGrp="1"/>
          </p:cNvSpPr>
          <p:nvPr/>
        </p:nvSpPr>
        <p:spPr>
          <a:xfrm>
            <a:off x="4533900" y="2085975"/>
            <a:ext cx="20955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0" b="1">
                <a:solidFill>
                  <a:srgbClr val="64C7EA"/>
                </a:solidFill>
                <a:latin typeface="Arial"/>
                <a:ea typeface="Arial"/>
                <a:cs typeface="Arial"/>
              </a:defRPr>
            </a:pPr>
            <a:r>
              <a:rPr kumimoji="0" sz="6750" b="1" i="0" u="none" strike="noStrike" kern="1200" cap="none" spc="0" normalizeH="0" baseline="0" noProof="0">
                <a:ln>
                  <a:noFill/>
                </a:ln>
                <a:solidFill>
                  <a:srgbClr val="64C7E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58247D-48CE-43C1-987C-1F76B69FA2FA}"/>
              </a:ext>
            </a:extLst>
          </p:cNvPr>
          <p:cNvSpPr>
            <a:spLocks noGrp="1"/>
          </p:cNvSpPr>
          <p:nvPr/>
        </p:nvSpPr>
        <p:spPr>
          <a:xfrm>
            <a:off x="4533900" y="3381375"/>
            <a:ext cx="2476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datasets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06E755-054E-41AA-9A30-75E6D225E869}"/>
              </a:ext>
            </a:extLst>
          </p:cNvPr>
          <p:cNvSpPr>
            <a:spLocks noGrp="1"/>
          </p:cNvSpPr>
          <p:nvPr/>
        </p:nvSpPr>
        <p:spPr>
          <a:xfrm>
            <a:off x="8401050" y="2085975"/>
            <a:ext cx="24765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0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kumimoji="0" sz="6750" b="1" i="0" u="none" strike="noStrike" kern="1200" cap="none" spc="0" normalizeH="0" baseline="0" noProof="0">
                <a:ln>
                  <a:noFill/>
                </a:ln>
                <a:solidFill>
                  <a:srgbClr val="FFD166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7BD06E-C12C-47FE-9C55-4FF8A7695FB2}"/>
              </a:ext>
            </a:extLst>
          </p:cNvPr>
          <p:cNvSpPr>
            <a:spLocks noGrp="1"/>
          </p:cNvSpPr>
          <p:nvPr/>
        </p:nvSpPr>
        <p:spPr>
          <a:xfrm>
            <a:off x="8401050" y="3381375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basic tasks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1BB935-9943-4952-9478-1E586246DA0B}"/>
              </a:ext>
            </a:extLst>
          </p:cNvPr>
          <p:cNvSpPr>
            <a:spLocks noGrp="1"/>
          </p:cNvSpPr>
          <p:nvPr/>
        </p:nvSpPr>
        <p:spPr>
          <a:xfrm>
            <a:off x="619125" y="4438650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authors grouped questions with similar goals.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4FB8C-DE84-44BE-9850-E6327AA7F477}"/>
              </a:ext>
            </a:extLst>
          </p:cNvPr>
          <p:cNvSpPr>
            <a:spLocks noGrp="1"/>
          </p:cNvSpPr>
          <p:nvPr/>
        </p:nvSpPr>
        <p:spPr>
          <a:xfrm>
            <a:off x="619125" y="523875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kumimoji="0" lang="en-US" sz="2250" b="0" i="0" u="none" strike="noStrike" kern="1200" cap="none" spc="0" normalizeH="0" baseline="0" noProof="0" dirty="0">
                <a:ln>
                  <a:noFill/>
                </a:ln>
                <a:solidFill>
                  <a:srgbClr val="FFD166"/>
                </a:solidFill>
                <a:effectLst/>
                <a:uLnTx/>
                <a:uFillTx/>
                <a:latin typeface="Arial"/>
                <a:cs typeface="Arial"/>
              </a:rPr>
              <a:t>Refined those groups into </a:t>
            </a:r>
            <a:r>
              <a:rPr kumimoji="0" lang="en-US" sz="2250" i="0" u="none" strike="noStrike" kern="1200" cap="none" spc="0" normalizeH="0" baseline="0" noProof="0" dirty="0">
                <a:ln>
                  <a:noFill/>
                </a:ln>
                <a:solidFill>
                  <a:srgbClr val="FFD166"/>
                </a:solidFill>
                <a:effectLst/>
                <a:uLnTx/>
                <a:uFillTx/>
                <a:latin typeface="Arial"/>
                <a:cs typeface="Arial"/>
              </a:rPr>
              <a:t>ten basic analysis tasks.</a:t>
            </a:r>
            <a:endParaRPr kumimoji="0" sz="2250" i="0" u="none" strike="noStrike" kern="1200" cap="none" spc="0" normalizeH="0" baseline="0" noProof="0" dirty="0">
              <a:ln>
                <a:noFill/>
              </a:ln>
              <a:solidFill>
                <a:srgbClr val="FFD166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D02297-7C8A-1AF6-D345-7EDF87B7EB2C}"/>
              </a:ext>
            </a:extLst>
          </p:cNvPr>
          <p:cNvSpPr txBox="1"/>
          <p:nvPr/>
        </p:nvSpPr>
        <p:spPr>
          <a:xfrm>
            <a:off x="8146597" y="485823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Affinity diagramming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23760233-9F92-A0F2-3226-B101303C0391}"/>
              </a:ext>
            </a:extLst>
          </p:cNvPr>
          <p:cNvSpPr/>
          <p:nvPr/>
        </p:nvSpPr>
        <p:spPr>
          <a:xfrm>
            <a:off x="7620000" y="4234543"/>
            <a:ext cx="402771" cy="1709057"/>
          </a:xfrm>
          <a:prstGeom prst="rightBrac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169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0151C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1884fc869a648139_0_52"/>
          <p:cNvSpPr/>
          <p:nvPr/>
        </p:nvSpPr>
        <p:spPr>
          <a:xfrm>
            <a:off x="609600" y="361950"/>
            <a:ext cx="109728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64C7EA"/>
                </a:solidFill>
              </a:rPr>
              <a:t>The datasets they used</a:t>
            </a:r>
            <a:endParaRPr dirty="0">
              <a:solidFill>
                <a:srgbClr val="64C7EA"/>
              </a:solidFill>
            </a:endParaRPr>
          </a:p>
        </p:txBody>
      </p:sp>
      <p:sp>
        <p:nvSpPr>
          <p:cNvPr id="86" name="Google Shape;86;h1884fc869a648139_0_52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§3</a:t>
            </a:r>
            <a:endParaRPr/>
          </a:p>
        </p:txBody>
      </p:sp>
      <p:sp>
        <p:nvSpPr>
          <p:cNvPr id="87" name="Google Shape;87;h1884fc869a648139_0_52"/>
          <p:cNvSpPr/>
          <p:nvPr/>
        </p:nvSpPr>
        <p:spPr>
          <a:xfrm>
            <a:off x="11334750" y="6315075"/>
            <a:ext cx="428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8" name="Google Shape;88;h1884fc869a648139_0_52"/>
          <p:cNvSpPr/>
          <p:nvPr/>
        </p:nvSpPr>
        <p:spPr>
          <a:xfrm>
            <a:off x="609600" y="1310700"/>
            <a:ext cx="50484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FFD166"/>
                </a:solidFill>
              </a:rPr>
              <a:t>Cereals</a:t>
            </a:r>
            <a:endParaRPr>
              <a:solidFill>
                <a:srgbClr val="FFD166"/>
              </a:solidFill>
            </a:endParaRPr>
          </a:p>
        </p:txBody>
      </p:sp>
      <p:sp>
        <p:nvSpPr>
          <p:cNvPr id="89" name="Google Shape;89;h1884fc869a648139_0_52"/>
          <p:cNvSpPr/>
          <p:nvPr/>
        </p:nvSpPr>
        <p:spPr>
          <a:xfrm>
            <a:off x="609600" y="2148900"/>
            <a:ext cx="5048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FFD166"/>
                </a:solidFill>
              </a:rPr>
              <a:t>Mutual funds</a:t>
            </a:r>
            <a:endParaRPr>
              <a:solidFill>
                <a:srgbClr val="FFD166"/>
              </a:solidFill>
            </a:endParaRPr>
          </a:p>
        </p:txBody>
      </p:sp>
      <p:sp>
        <p:nvSpPr>
          <p:cNvPr id="90" name="Google Shape;90;h1884fc869a648139_0_52"/>
          <p:cNvSpPr/>
          <p:nvPr/>
        </p:nvSpPr>
        <p:spPr>
          <a:xfrm>
            <a:off x="609600" y="2891700"/>
            <a:ext cx="50484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FFD166"/>
                </a:solidFill>
              </a:rPr>
              <a:t>Cars</a:t>
            </a:r>
            <a:endParaRPr>
              <a:solidFill>
                <a:srgbClr val="FFD166"/>
              </a:solidFill>
            </a:endParaRPr>
          </a:p>
        </p:txBody>
      </p:sp>
      <p:sp>
        <p:nvSpPr>
          <p:cNvPr id="91" name="Google Shape;91;h1884fc869a648139_0_52"/>
          <p:cNvSpPr/>
          <p:nvPr/>
        </p:nvSpPr>
        <p:spPr>
          <a:xfrm>
            <a:off x="609600" y="3729900"/>
            <a:ext cx="5048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FFD166"/>
                </a:solidFill>
              </a:rPr>
              <a:t>Films</a:t>
            </a:r>
            <a:endParaRPr>
              <a:solidFill>
                <a:srgbClr val="FFD166"/>
              </a:solidFill>
            </a:endParaRPr>
          </a:p>
        </p:txBody>
      </p:sp>
      <p:sp>
        <p:nvSpPr>
          <p:cNvPr id="92" name="Google Shape;92;h1884fc869a648139_0_52"/>
          <p:cNvSpPr/>
          <p:nvPr/>
        </p:nvSpPr>
        <p:spPr>
          <a:xfrm>
            <a:off x="609600" y="4679650"/>
            <a:ext cx="5048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FFD166"/>
                </a:solidFill>
              </a:rPr>
              <a:t>Grocery surveys</a:t>
            </a:r>
            <a:endParaRPr>
              <a:solidFill>
                <a:srgbClr val="FFD1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0151C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1884fc869a648139_0_75"/>
          <p:cNvSpPr/>
          <p:nvPr/>
        </p:nvSpPr>
        <p:spPr>
          <a:xfrm>
            <a:off x="609600" y="361950"/>
            <a:ext cx="109728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64C7EA"/>
                </a:solidFill>
              </a:rPr>
              <a:t>The datasets they used</a:t>
            </a:r>
            <a:endParaRPr>
              <a:solidFill>
                <a:srgbClr val="64C7EA"/>
              </a:solidFill>
            </a:endParaRPr>
          </a:p>
        </p:txBody>
      </p:sp>
      <p:sp>
        <p:nvSpPr>
          <p:cNvPr id="99" name="Google Shape;99;h1884fc869a648139_0_75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§3</a:t>
            </a:r>
            <a:endParaRPr/>
          </a:p>
        </p:txBody>
      </p:sp>
      <p:sp>
        <p:nvSpPr>
          <p:cNvPr id="100" name="Google Shape;100;h1884fc869a648139_0_75"/>
          <p:cNvSpPr/>
          <p:nvPr/>
        </p:nvSpPr>
        <p:spPr>
          <a:xfrm>
            <a:off x="11334750" y="6315075"/>
            <a:ext cx="428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1" name="Google Shape;101;h1884fc869a648139_0_75"/>
          <p:cNvSpPr/>
          <p:nvPr/>
        </p:nvSpPr>
        <p:spPr>
          <a:xfrm>
            <a:off x="609600" y="1310700"/>
            <a:ext cx="13470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FFD166"/>
                </a:solidFill>
              </a:rPr>
              <a:t>Cereals</a:t>
            </a:r>
            <a:endParaRPr>
              <a:solidFill>
                <a:srgbClr val="FFD166"/>
              </a:solidFill>
            </a:endParaRPr>
          </a:p>
        </p:txBody>
      </p:sp>
      <p:sp>
        <p:nvSpPr>
          <p:cNvPr id="102" name="Google Shape;102;h1884fc869a648139_0_75"/>
          <p:cNvSpPr/>
          <p:nvPr/>
        </p:nvSpPr>
        <p:spPr>
          <a:xfrm>
            <a:off x="609600" y="2148900"/>
            <a:ext cx="5048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FBAC8"/>
                </a:solidFill>
              </a:rPr>
              <a:t>Mutual funds</a:t>
            </a:r>
            <a:endParaRPr>
              <a:solidFill>
                <a:srgbClr val="AFBAC8"/>
              </a:solidFill>
            </a:endParaRPr>
          </a:p>
        </p:txBody>
      </p:sp>
      <p:sp>
        <p:nvSpPr>
          <p:cNvPr id="103" name="Google Shape;103;h1884fc869a648139_0_75"/>
          <p:cNvSpPr/>
          <p:nvPr/>
        </p:nvSpPr>
        <p:spPr>
          <a:xfrm>
            <a:off x="609600" y="2891700"/>
            <a:ext cx="50484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FBAC8"/>
                </a:solidFill>
              </a:rPr>
              <a:t>Cars</a:t>
            </a:r>
            <a:endParaRPr>
              <a:solidFill>
                <a:srgbClr val="AFBAC8"/>
              </a:solidFill>
            </a:endParaRPr>
          </a:p>
        </p:txBody>
      </p:sp>
      <p:sp>
        <p:nvSpPr>
          <p:cNvPr id="104" name="Google Shape;104;h1884fc869a648139_0_75"/>
          <p:cNvSpPr/>
          <p:nvPr/>
        </p:nvSpPr>
        <p:spPr>
          <a:xfrm>
            <a:off x="609600" y="3729900"/>
            <a:ext cx="5048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FBAC8"/>
                </a:solidFill>
              </a:rPr>
              <a:t>Films</a:t>
            </a:r>
            <a:endParaRPr>
              <a:solidFill>
                <a:srgbClr val="AFBAC8"/>
              </a:solidFill>
            </a:endParaRPr>
          </a:p>
        </p:txBody>
      </p:sp>
      <p:sp>
        <p:nvSpPr>
          <p:cNvPr id="105" name="Google Shape;105;h1884fc869a648139_0_75"/>
          <p:cNvSpPr/>
          <p:nvPr/>
        </p:nvSpPr>
        <p:spPr>
          <a:xfrm>
            <a:off x="609600" y="4679650"/>
            <a:ext cx="5048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FBAC8"/>
                </a:solidFill>
              </a:rPr>
              <a:t>Grocery surveys</a:t>
            </a:r>
            <a:endParaRPr>
              <a:solidFill>
                <a:srgbClr val="AFBAC8"/>
              </a:solidFill>
            </a:endParaRPr>
          </a:p>
        </p:txBody>
      </p:sp>
      <p:cxnSp>
        <p:nvCxnSpPr>
          <p:cNvPr id="106" name="Google Shape;106;h1884fc869a648139_0_75"/>
          <p:cNvCxnSpPr>
            <a:endCxn id="101" idx="3"/>
          </p:cNvCxnSpPr>
          <p:nvPr/>
        </p:nvCxnSpPr>
        <p:spPr>
          <a:xfrm flipH="1">
            <a:off x="1956600" y="1553400"/>
            <a:ext cx="1512000" cy="3900"/>
          </a:xfrm>
          <a:prstGeom prst="straightConnector1">
            <a:avLst/>
          </a:prstGeom>
          <a:noFill/>
          <a:ln w="76200" cap="flat" cmpd="sng">
            <a:solidFill>
              <a:srgbClr val="FFD166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1. Retrieve Value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How much sugar does cereal B have?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§4   •   Fictional cereal data per 30 g serving</a:t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graphicFrame>
        <p:nvGraphicFramePr>
          <p:cNvPr id="116" name="Google Shape;116;p5"/>
          <p:cNvGraphicFramePr/>
          <p:nvPr/>
        </p:nvGraphicFramePr>
        <p:xfrm>
          <a:off x="666750" y="1981200"/>
          <a:ext cx="75247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7" name="Google Shape;117;p5"/>
          <p:cNvSpPr/>
          <p:nvPr/>
        </p:nvSpPr>
        <p:spPr>
          <a:xfrm>
            <a:off x="809625" y="1695450"/>
            <a:ext cx="7524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(g)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B has 4 g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We already know which cereal to look at.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2. Filter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Which cereals have more than 8 g of sugar?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§4   •   Fictional cereal data per 30 g serving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graphicFrame>
        <p:nvGraphicFramePr>
          <p:cNvPr id="129" name="Google Shape;129;p6"/>
          <p:cNvGraphicFramePr/>
          <p:nvPr/>
        </p:nvGraphicFramePr>
        <p:xfrm>
          <a:off x="666750" y="1981200"/>
          <a:ext cx="75247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0" name="Google Shape;130;p6"/>
          <p:cNvSpPr/>
          <p:nvPr/>
        </p:nvSpPr>
        <p:spPr>
          <a:xfrm>
            <a:off x="809625" y="1695450"/>
            <a:ext cx="7524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(g)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D, E and F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 condition selects the cases.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“High sugar” needs a clear cutoff.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3. Compute Derived Value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What is the average sugar content?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§4   •   Fictional cereal data per 30 g serving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graphicFrame>
        <p:nvGraphicFramePr>
          <p:cNvPr id="142" name="Google Shape;142;p7"/>
          <p:cNvGraphicFramePr/>
          <p:nvPr/>
        </p:nvGraphicFramePr>
        <p:xfrm>
          <a:off x="666750" y="1981200"/>
          <a:ext cx="75247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3" name="Google Shape;143;p7"/>
          <p:cNvSpPr/>
          <p:nvPr/>
        </p:nvSpPr>
        <p:spPr>
          <a:xfrm>
            <a:off x="809625" y="1695450"/>
            <a:ext cx="7524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(g)</a:t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7.125 g</a:t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57 g ÷ 8 cereals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0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Create a new summary value.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4. Find Extremum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Which cereal has the most sugar?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§4   •   Fictional cereal data per 30 g serving</a:t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graphicFrame>
        <p:nvGraphicFramePr>
          <p:cNvPr id="155" name="Google Shape;155;p8"/>
          <p:cNvGraphicFramePr/>
          <p:nvPr/>
        </p:nvGraphicFramePr>
        <p:xfrm>
          <a:off x="666750" y="1981200"/>
          <a:ext cx="75247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6" name="Google Shape;156;p8"/>
          <p:cNvSpPr/>
          <p:nvPr/>
        </p:nvSpPr>
        <p:spPr>
          <a:xfrm>
            <a:off x="809625" y="1695450"/>
            <a:ext cx="7524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(g)</a:t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E has 12 g</a:t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Find the case with the highest or lowest value.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5. Sort</a:t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What is the order from least to most sugar?</a:t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§4   •   Fictional cereal data per 30 g serving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graphicFrame>
        <p:nvGraphicFramePr>
          <p:cNvPr id="168" name="Google Shape;168;p9"/>
          <p:cNvGraphicFramePr/>
          <p:nvPr/>
        </p:nvGraphicFramePr>
        <p:xfrm>
          <a:off x="666750" y="1981200"/>
          <a:ext cx="75247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9" name="Google Shape;169;p9"/>
          <p:cNvSpPr/>
          <p:nvPr/>
        </p:nvSpPr>
        <p:spPr>
          <a:xfrm>
            <a:off x="809625" y="1695450"/>
            <a:ext cx="7524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(g)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All cases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in order</a:t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Find Extremum only needs the top or bottom cases.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6. Determine Range</a:t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What sugar values does this dataset cover?</a:t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§4   •   Fictional cereal data per 30 g serving</a:t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graphicFrame>
        <p:nvGraphicFramePr>
          <p:cNvPr id="181" name="Google Shape;181;p10"/>
          <p:cNvGraphicFramePr/>
          <p:nvPr/>
        </p:nvGraphicFramePr>
        <p:xfrm>
          <a:off x="666750" y="1981200"/>
          <a:ext cx="75247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2" name="Google Shape;182;p10"/>
          <p:cNvSpPr/>
          <p:nvPr/>
        </p:nvSpPr>
        <p:spPr>
          <a:xfrm>
            <a:off x="809625" y="1695450"/>
            <a:ext cx="7524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(g)</a:t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2 to 12 g</a:t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Range gives the limits.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It does not show how values fill the space.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7. Characterize Distribution</a:t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Where do the sugar values fall?</a:t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§4   •   Fictional cereal data per 30 g serving</a:t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graphicFrame>
        <p:nvGraphicFramePr>
          <p:cNvPr id="194" name="Google Shape;194;p11"/>
          <p:cNvGraphicFramePr/>
          <p:nvPr/>
        </p:nvGraphicFramePr>
        <p:xfrm>
          <a:off x="666750" y="1981200"/>
          <a:ext cx="75247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5" name="Google Shape;195;p11"/>
          <p:cNvSpPr/>
          <p:nvPr/>
        </p:nvSpPr>
        <p:spPr>
          <a:xfrm>
            <a:off x="809625" y="1695450"/>
            <a:ext cx="7524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Number of cereals</a:t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2762250" y="5772150"/>
            <a:ext cx="5143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groups (g)</a:t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Values in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groups</a:t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The last group includes 12 g.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The shape depends on the group boundaries.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8. Find Anomalies</a:t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Which cereal breaks the upward pattern?</a:t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§4   •   Fictional cereal data per 30 g serving</a:t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graphicFrame>
        <p:nvGraphicFramePr>
          <p:cNvPr id="208" name="Google Shape;208;p12"/>
          <p:cNvGraphicFramePr/>
          <p:nvPr/>
        </p:nvGraphicFramePr>
        <p:xfrm>
          <a:off x="762000" y="1971675"/>
          <a:ext cx="7239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9" name="Google Shape;209;p12"/>
          <p:cNvSpPr/>
          <p:nvPr/>
        </p:nvSpPr>
        <p:spPr>
          <a:xfrm>
            <a:off x="3476625" y="5791200"/>
            <a:ext cx="2857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(g)</a:t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857250" y="1704975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Calories (kcal)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8. Find Anomalies</a:t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Which cereal breaks the upward pattern?</a:t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§4   •   Fictional cereal data per 30 g serving</a:t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graphicFrame>
        <p:nvGraphicFramePr>
          <p:cNvPr id="220" name="Google Shape;220;p13"/>
          <p:cNvGraphicFramePr/>
          <p:nvPr/>
        </p:nvGraphicFramePr>
        <p:xfrm>
          <a:off x="762000" y="1971675"/>
          <a:ext cx="7239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1" name="Google Shape;221;p13"/>
          <p:cNvSpPr/>
          <p:nvPr/>
        </p:nvSpPr>
        <p:spPr>
          <a:xfrm>
            <a:off x="3476625" y="5791200"/>
            <a:ext cx="2857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(g)</a:t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857250" y="1704975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Calories (kcal)</a:t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4295775" y="4324350"/>
            <a:ext cx="590550" cy="590550"/>
          </a:xfrm>
          <a:prstGeom prst="ellipse">
            <a:avLst/>
          </a:prstGeom>
          <a:noFill/>
          <a:ln w="3810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H stands out</a:t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7 g sugar, 95 kcal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0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Unusual for the pattern. Neither value is extreme.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9. Cluster</a:t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Which cereals have similar sugar and fibre values?</a:t>
            </a:r>
            <a:endParaRPr/>
          </a:p>
        </p:txBody>
      </p:sp>
      <p:sp>
        <p:nvSpPr>
          <p:cNvPr id="233" name="Google Shape;233;p14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§4   •   Fictional cereal data per 30 g serving</a:t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graphicFrame>
        <p:nvGraphicFramePr>
          <p:cNvPr id="235" name="Google Shape;235;p14"/>
          <p:cNvGraphicFramePr/>
          <p:nvPr/>
        </p:nvGraphicFramePr>
        <p:xfrm>
          <a:off x="762000" y="1971675"/>
          <a:ext cx="7239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6" name="Google Shape;236;p14"/>
          <p:cNvSpPr/>
          <p:nvPr/>
        </p:nvSpPr>
        <p:spPr>
          <a:xfrm>
            <a:off x="3476625" y="5791200"/>
            <a:ext cx="2857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(g)</a:t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857250" y="1704975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Fibre (g)</a:t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1762125" y="2038350"/>
            <a:ext cx="1714500" cy="1285875"/>
          </a:xfrm>
          <a:prstGeom prst="ellipse">
            <a:avLst/>
          </a:prstGeom>
          <a:noFill/>
          <a:ln w="3810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5553075" y="3962400"/>
            <a:ext cx="1666875" cy="1285875"/>
          </a:xfrm>
          <a:prstGeom prst="ellipse">
            <a:avLst/>
          </a:prstGeom>
          <a:noFill/>
          <a:ln w="3810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4181475" y="3343275"/>
            <a:ext cx="1143000" cy="666750"/>
          </a:xfrm>
          <a:prstGeom prst="ellipse">
            <a:avLst/>
          </a:prstGeom>
          <a:noFill/>
          <a:ln w="3810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Three visible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groups</a:t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A–C: more fibre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D–F: less fibre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G–H: in between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10. Correlate</a:t>
            </a:r>
            <a:endParaRPr/>
          </a:p>
        </p:txBody>
      </p:sp>
      <p:sp>
        <p:nvSpPr>
          <p:cNvPr id="249" name="Google Shape;249;p15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Do cereals with more sugar also have more calories?</a:t>
            </a:r>
            <a:endParaRPr/>
          </a:p>
        </p:txBody>
      </p:sp>
      <p:sp>
        <p:nvSpPr>
          <p:cNvPr id="250" name="Google Shape;250;p15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§4   •   Fictional cereal data per 30 g serving</a:t>
            </a:r>
            <a:endParaRPr/>
          </a:p>
        </p:txBody>
      </p:sp>
      <p:sp>
        <p:nvSpPr>
          <p:cNvPr id="251" name="Google Shape;251;p15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graphicFrame>
        <p:nvGraphicFramePr>
          <p:cNvPr id="252" name="Google Shape;252;p15"/>
          <p:cNvGraphicFramePr/>
          <p:nvPr/>
        </p:nvGraphicFramePr>
        <p:xfrm>
          <a:off x="762000" y="1971675"/>
          <a:ext cx="7239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3" name="Google Shape;253;p15"/>
          <p:cNvSpPr/>
          <p:nvPr/>
        </p:nvSpPr>
        <p:spPr>
          <a:xfrm>
            <a:off x="3476625" y="5791200"/>
            <a:ext cx="2857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(g)</a:t>
            </a: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857250" y="1704975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Calories (kcal)</a:t>
            </a: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An upward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pattern</a:t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More sugar often goes with more calories in this example.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 question can need several tasks</a:t>
            </a:r>
            <a:endParaRPr/>
          </a:p>
        </p:txBody>
      </p:sp>
      <p:sp>
        <p:nvSpPr>
          <p:cNvPr id="263" name="Google Shape;263;p16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Which brand has the lowest average sugar?</a:t>
            </a:r>
            <a:endParaRPr/>
          </a:p>
        </p:txBody>
      </p:sp>
      <p:sp>
        <p:nvSpPr>
          <p:cNvPr id="264" name="Google Shape;264;p16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§5.1   •   Fictional cereal data per 30 g serving</a:t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graphicFrame>
        <p:nvGraphicFramePr>
          <p:cNvPr id="266" name="Google Shape;266;p16"/>
          <p:cNvGraphicFramePr/>
          <p:nvPr/>
        </p:nvGraphicFramePr>
        <p:xfrm>
          <a:off x="666750" y="1981200"/>
          <a:ext cx="75247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7" name="Google Shape;267;p16"/>
          <p:cNvSpPr/>
          <p:nvPr/>
        </p:nvSpPr>
        <p:spPr>
          <a:xfrm>
            <a:off x="809625" y="1695450"/>
            <a:ext cx="7524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(g)</a:t>
            </a:r>
            <a:endParaRPr/>
          </a:p>
        </p:txBody>
      </p:sp>
      <p:sp>
        <p:nvSpPr>
          <p:cNvPr id="268" name="Google Shape;268;p16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North: A–D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South: E–H</a:t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 single cereal cannot answer a question about a brand average.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First, compute each brand’s average</a:t>
            </a:r>
            <a:endParaRPr/>
          </a:p>
        </p:txBody>
      </p:sp>
      <p:sp>
        <p:nvSpPr>
          <p:cNvPr id="276" name="Google Shape;276;p17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Which brand has the lowest average sugar?</a:t>
            </a:r>
            <a:endParaRPr/>
          </a:p>
        </p:txBody>
      </p:sp>
      <p:sp>
        <p:nvSpPr>
          <p:cNvPr id="277" name="Google Shape;277;p17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§5.1   •   Fictional cereal data per 30 g serving</a:t>
            </a: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graphicFrame>
        <p:nvGraphicFramePr>
          <p:cNvPr id="279" name="Google Shape;279;p17"/>
          <p:cNvGraphicFramePr/>
          <p:nvPr/>
        </p:nvGraphicFramePr>
        <p:xfrm>
          <a:off x="666750" y="1981200"/>
          <a:ext cx="75247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0" name="Google Shape;280;p17"/>
          <p:cNvSpPr/>
          <p:nvPr/>
        </p:nvSpPr>
        <p:spPr>
          <a:xfrm>
            <a:off x="809625" y="1695450"/>
            <a:ext cx="7524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Average sugar (g)</a:t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Compute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Derived Value</a:t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North: 19 ÷ 4 = 4.75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South: 38 ÷ 4 = 9.5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Then, find the lowest average</a:t>
            </a:r>
            <a:endParaRPr/>
          </a:p>
        </p:txBody>
      </p:sp>
      <p:sp>
        <p:nvSpPr>
          <p:cNvPr id="289" name="Google Shape;289;p18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Which brand has the lowest average sugar?</a:t>
            </a:r>
            <a:endParaRPr/>
          </a:p>
        </p:txBody>
      </p:sp>
      <p:sp>
        <p:nvSpPr>
          <p:cNvPr id="290" name="Google Shape;290;p18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§5.1   •   Fictional cereal data per 30 g serving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graphicFrame>
        <p:nvGraphicFramePr>
          <p:cNvPr id="292" name="Google Shape;292;p18"/>
          <p:cNvGraphicFramePr/>
          <p:nvPr/>
        </p:nvGraphicFramePr>
        <p:xfrm>
          <a:off x="666750" y="1981200"/>
          <a:ext cx="75247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3" name="Google Shape;293;p18"/>
          <p:cNvSpPr/>
          <p:nvPr/>
        </p:nvSpPr>
        <p:spPr>
          <a:xfrm>
            <a:off x="809625" y="1695450"/>
            <a:ext cx="7524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Average sugar (g)</a:t>
            </a:r>
            <a:endParaRPr/>
          </a:p>
        </p:txBody>
      </p:sp>
      <p:sp>
        <p:nvSpPr>
          <p:cNvPr id="294" name="Google Shape;294;p18"/>
          <p:cNvSpPr/>
          <p:nvPr/>
        </p:nvSpPr>
        <p:spPr>
          <a:xfrm>
            <a:off x="8572500" y="247650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Find Extremum</a:t>
            </a:r>
            <a:endParaRPr/>
          </a:p>
        </p:txBody>
      </p:sp>
      <p:sp>
        <p:nvSpPr>
          <p:cNvPr id="295" name="Google Shape;295;p18"/>
          <p:cNvSpPr/>
          <p:nvPr/>
        </p:nvSpPr>
        <p:spPr>
          <a:xfrm>
            <a:off x="8572500" y="3886200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North has the lowest average.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0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Two tasks answer one question.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 checklist for visualization design</a:t>
            </a:r>
            <a:endParaRPr dirty="0"/>
          </a:p>
        </p:txBody>
      </p:sp>
      <p:sp>
        <p:nvSpPr>
          <p:cNvPr id="302" name="Google Shape;302;p19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 dirty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Ca</a:t>
            </a:r>
            <a:r>
              <a:rPr lang="en-GB" sz="2175" b="0" dirty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n this visualization support the tasks our users need</a:t>
            </a:r>
            <a:r>
              <a:rPr lang="en-US" sz="2175" b="0" dirty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dirty="0"/>
          </a:p>
        </p:txBody>
      </p:sp>
      <p:sp>
        <p:nvSpPr>
          <p:cNvPr id="303" name="Google Shape;303;p19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§7   •   Fictional cereal data per 30 g serving</a:t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graphicFrame>
        <p:nvGraphicFramePr>
          <p:cNvPr id="305" name="Google Shape;305;p19"/>
          <p:cNvGraphicFramePr/>
          <p:nvPr/>
        </p:nvGraphicFramePr>
        <p:xfrm>
          <a:off x="666750" y="1981200"/>
          <a:ext cx="6715125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6" name="Google Shape;306;p19"/>
          <p:cNvSpPr/>
          <p:nvPr/>
        </p:nvSpPr>
        <p:spPr>
          <a:xfrm>
            <a:off x="809625" y="1695450"/>
            <a:ext cx="6715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Sugar (g)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8143875" y="2000250"/>
            <a:ext cx="3429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Highest sugar?</a:t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8143875" y="2514600"/>
            <a:ext cx="34766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dirty="0">
                <a:solidFill>
                  <a:srgbClr val="64C7EA"/>
                </a:solidFill>
                <a:latin typeface="Arial"/>
                <a:ea typeface="Arial"/>
                <a:cs typeface="Arial"/>
                <a:sym typeface="Arial"/>
              </a:rPr>
              <a:t>Visible in the bars</a:t>
            </a:r>
            <a:endParaRPr dirty="0"/>
          </a:p>
        </p:txBody>
      </p:sp>
      <p:sp>
        <p:nvSpPr>
          <p:cNvPr id="309" name="Google Shape;309;p19"/>
          <p:cNvSpPr/>
          <p:nvPr/>
        </p:nvSpPr>
        <p:spPr>
          <a:xfrm>
            <a:off x="8143875" y="3476625"/>
            <a:ext cx="34766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Exact value?</a:t>
            </a:r>
            <a:endParaRPr/>
          </a:p>
        </p:txBody>
      </p:sp>
      <p:sp>
        <p:nvSpPr>
          <p:cNvPr id="310" name="Google Shape;310;p19"/>
          <p:cNvSpPr/>
          <p:nvPr/>
        </p:nvSpPr>
        <p:spPr>
          <a:xfrm>
            <a:off x="8143875" y="3990975"/>
            <a:ext cx="34766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dirty="0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Labels make reading easier</a:t>
            </a:r>
            <a:endParaRPr dirty="0"/>
          </a:p>
        </p:txBody>
      </p:sp>
      <p:sp>
        <p:nvSpPr>
          <p:cNvPr id="311" name="Google Shape;311;p19"/>
          <p:cNvSpPr/>
          <p:nvPr/>
        </p:nvSpPr>
        <p:spPr>
          <a:xfrm>
            <a:off x="714375" y="5743575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Task = read a value     Interaction = hover to reveal it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0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9C7B0F8-D931-439E-8761-98EC6EE19C2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the research contributes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8727D3-803D-45B6-BB0E-3FA03BC5B23D}"/>
              </a:ext>
            </a:extLst>
          </p:cNvPr>
          <p:cNvSpPr>
            <a:spLocks noGrp="1"/>
          </p:cNvSpPr>
          <p:nvPr/>
        </p:nvSpPr>
        <p:spPr>
          <a:xfrm>
            <a:off x="666750" y="13716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175" b="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common language for discussing what visualizations help users do.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2ED5C3-9552-4E77-8061-D44FC1850B65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FBAC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Amar, Eagan &amp; Stasko (2005), §§6.1, 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CAE42E-9B19-48B3-9118-C7F2BF5883D6}"/>
              </a:ext>
            </a:extLst>
          </p:cNvPr>
          <p:cNvSpPr>
            <a:spLocks noGrp="1"/>
          </p:cNvSpPr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r>
              <a:rPr kumimoji="0" sz="1425" b="0" i="0" u="none" strike="noStrike" kern="1200" cap="none" spc="0" normalizeH="0" baseline="0" noProof="0">
                <a:ln>
                  <a:noFill/>
                </a:ln>
                <a:solidFill>
                  <a:srgbClr val="AFBAC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F88BB8-56B9-47FC-B427-7911471299CA}"/>
              </a:ext>
            </a:extLst>
          </p:cNvPr>
          <p:cNvSpPr>
            <a:spLocks noGrp="1"/>
          </p:cNvSpPr>
          <p:nvPr/>
        </p:nvSpPr>
        <p:spPr>
          <a:xfrm>
            <a:off x="666750" y="200977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700" b="1">
                <a:solidFill>
                  <a:srgbClr val="64C7EA"/>
                </a:solidFill>
                <a:latin typeface="Arial"/>
                <a:ea typeface="Arial"/>
                <a:cs typeface="Arial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64C7E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Grounded in user questions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CD1B6-A850-4C9C-AA06-34F8A39A4421}"/>
              </a:ext>
            </a:extLst>
          </p:cNvPr>
          <p:cNvSpPr>
            <a:spLocks noGrp="1"/>
          </p:cNvSpPr>
          <p:nvPr/>
        </p:nvSpPr>
        <p:spPr>
          <a:xfrm>
            <a:off x="666750" y="265985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checklist for designing and evaluating visualizations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1A7950-C4CC-4E8C-89D6-DB57DCF4C065}"/>
              </a:ext>
            </a:extLst>
          </p:cNvPr>
          <p:cNvSpPr>
            <a:spLocks noGrp="1"/>
          </p:cNvSpPr>
          <p:nvPr/>
        </p:nvSpPr>
        <p:spPr>
          <a:xfrm>
            <a:off x="609600" y="3868341"/>
            <a:ext cx="124396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rial"/>
                <a:cs typeface="Arial"/>
              </a:rPr>
              <a:t>Includes four tasks not listed in </a:t>
            </a: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rial"/>
                <a:cs typeface="Arial"/>
              </a:rPr>
              <a:t>Wehrend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rial"/>
                <a:cs typeface="Arial"/>
              </a:rPr>
              <a:t> and Lewis’s taxonomy</a:t>
            </a:r>
            <a:r>
              <a:rPr kumimoji="0" 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AFBAC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3024FA-17EA-444E-9B71-83417188F263}"/>
              </a:ext>
            </a:extLst>
          </p:cNvPr>
          <p:cNvSpPr>
            <a:spLocks noGrp="1"/>
          </p:cNvSpPr>
          <p:nvPr/>
        </p:nvSpPr>
        <p:spPr>
          <a:xfrm>
            <a:off x="609600" y="4529138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D166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Compute Derived Value     Find Extremum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23B25C-44D3-4C5B-9057-BDF134DC8457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D166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Determine Range                Find Anomalies</a:t>
            </a:r>
          </a:p>
        </p:txBody>
      </p:sp>
    </p:spTree>
    <p:extLst>
      <p:ext uri="{BB962C8B-B14F-4D97-AF65-F5344CB8AC3E}">
        <p14:creationId xmlns:p14="http://schemas.microsoft.com/office/powerpoint/2010/main" val="578459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Some questions need clearer criteria</a:t>
            </a: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609600" y="1057275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Which cereal is best?</a:t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§5.2</a:t>
            </a:r>
            <a:endParaRPr/>
          </a:p>
        </p:txBody>
      </p:sp>
      <p:sp>
        <p:nvSpPr>
          <p:cNvPr id="334" name="Google Shape;334;p21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666750" y="2057400"/>
            <a:ext cx="509587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25" b="1">
                <a:solidFill>
                  <a:srgbClr val="64C7EA"/>
                </a:solidFill>
                <a:latin typeface="Arial"/>
                <a:ea typeface="Arial"/>
                <a:cs typeface="Arial"/>
                <a:sym typeface="Arial"/>
              </a:rPr>
              <a:t>“Lowest sugar”</a:t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>
            <a:off x="666750" y="3028950"/>
            <a:ext cx="4953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75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 has 2 g</a:t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>
            <a:off x="6686550" y="2057400"/>
            <a:ext cx="4953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25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“Best for me”</a:t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6686550" y="3028950"/>
            <a:ext cx="47625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Price? Taste? Nutrition?</a:t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666750" y="4800600"/>
            <a:ext cx="1071562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Tasks help once the goal is clear. They cannot choose our priorities.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7140589-4BBF-43DD-AC28-481579A1DD6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framework has limits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2E3FE3-FE4C-460A-8236-91B4BA1D95FC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FBAC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Amar, Eagan &amp; Stasko (2005), §§5–6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3C397C-B1A3-428A-9C9E-989485F4F1AF}"/>
              </a:ext>
            </a:extLst>
          </p:cNvPr>
          <p:cNvSpPr>
            <a:spLocks noGrp="1"/>
          </p:cNvSpPr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0">
                <a:solidFill>
                  <a:srgbClr val="AFBAC8"/>
                </a:solidFill>
                <a:latin typeface="Arial"/>
                <a:ea typeface="Arial"/>
                <a:cs typeface="Arial"/>
              </a:defRPr>
            </a:pPr>
            <a:r>
              <a:rPr kumimoji="0" sz="1425" b="0" i="0" u="none" strike="noStrike" kern="1200" cap="none" spc="0" normalizeH="0" baseline="0" noProof="0">
                <a:ln>
                  <a:noFill/>
                </a:ln>
                <a:solidFill>
                  <a:srgbClr val="AFBAC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C98519-EEBA-450A-AA2D-E3CBC30CAA7F}"/>
              </a:ext>
            </a:extLst>
          </p:cNvPr>
          <p:cNvSpPr>
            <a:spLocks noGrp="1"/>
          </p:cNvSpPr>
          <p:nvPr/>
        </p:nvSpPr>
        <p:spPr>
          <a:xfrm>
            <a:off x="666750" y="2974529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25" b="1">
                <a:solidFill>
                  <a:srgbClr val="64C7EA"/>
                </a:solidFill>
                <a:latin typeface="Arial"/>
                <a:ea typeface="Arial"/>
                <a:cs typeface="Arial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4C7E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Evidence limit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64C7EA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4FC659-6D62-4D6E-9717-B7E16BFA35DD}"/>
              </a:ext>
            </a:extLst>
          </p:cNvPr>
          <p:cNvSpPr>
            <a:spLocks noGrp="1"/>
          </p:cNvSpPr>
          <p:nvPr/>
        </p:nvSpPr>
        <p:spPr>
          <a:xfrm>
            <a:off x="4476750" y="2974529"/>
            <a:ext cx="70008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rial"/>
                <a:cs typeface="Arial"/>
              </a:rPr>
              <a:t>Students’ questions may reflect the tools they had already seen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5F7FA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BB124F-72D0-42A7-982C-D9EA47836E1A}"/>
              </a:ext>
            </a:extLst>
          </p:cNvPr>
          <p:cNvSpPr>
            <a:spLocks noGrp="1"/>
          </p:cNvSpPr>
          <p:nvPr/>
        </p:nvSpPr>
        <p:spPr>
          <a:xfrm>
            <a:off x="666750" y="4235908"/>
            <a:ext cx="3524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25" b="1">
                <a:solidFill>
                  <a:srgbClr val="64C7EA"/>
                </a:solidFill>
                <a:latin typeface="Arial"/>
                <a:ea typeface="Arial"/>
                <a:cs typeface="Arial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4C7EA"/>
                </a:solidFill>
                <a:effectLst/>
                <a:uLnTx/>
                <a:uFillTx/>
                <a:latin typeface="Arial"/>
                <a:cs typeface="Arial"/>
              </a:rPr>
              <a:t>The list may be incomplete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64C7EA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1294B3-6ACA-4BA8-96F5-D796E658FA97}"/>
              </a:ext>
            </a:extLst>
          </p:cNvPr>
          <p:cNvSpPr>
            <a:spLocks noGrp="1"/>
          </p:cNvSpPr>
          <p:nvPr/>
        </p:nvSpPr>
        <p:spPr>
          <a:xfrm>
            <a:off x="4476750" y="4235908"/>
            <a:ext cx="70008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rial"/>
                <a:cs typeface="Arial"/>
              </a:rPr>
              <a:t>Expert analysts may reveal other tasks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F5F7FA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7AEF81-2FB4-8AA8-7C6F-27C495D7EC00}"/>
              </a:ext>
            </a:extLst>
          </p:cNvPr>
          <p:cNvSpPr>
            <a:spLocks noGrp="1"/>
          </p:cNvSpPr>
          <p:nvPr/>
        </p:nvSpPr>
        <p:spPr>
          <a:xfrm>
            <a:off x="666747" y="1711767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25" b="1">
                <a:solidFill>
                  <a:srgbClr val="64C7EA"/>
                </a:solidFill>
                <a:latin typeface="Arial"/>
                <a:ea typeface="Arial"/>
                <a:cs typeface="Arial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4C7EA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Focus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64C7EA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BE97A7-0F97-77FD-2B27-22F1B6AFE4F3}"/>
              </a:ext>
            </a:extLst>
          </p:cNvPr>
          <p:cNvSpPr>
            <a:spLocks noGrp="1"/>
          </p:cNvSpPr>
          <p:nvPr/>
        </p:nvSpPr>
        <p:spPr>
          <a:xfrm>
            <a:off x="4476748" y="1711767"/>
            <a:ext cx="736691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Arial"/>
                <a:cs typeface="Arial"/>
              </a:rPr>
              <a:t>Basic analytic tasks for understanding data through visualization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F5F7FA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807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2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C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"/>
          <p:cNvSpPr/>
          <p:nvPr/>
        </p:nvSpPr>
        <p:spPr>
          <a:xfrm>
            <a:off x="609600" y="36195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What we learned from the paper</a:t>
            </a:r>
            <a:endParaRPr/>
          </a:p>
        </p:txBody>
      </p:sp>
      <p:sp>
        <p:nvSpPr>
          <p:cNvPr id="361" name="Google Shape;361;p23"/>
          <p:cNvSpPr/>
          <p:nvPr/>
        </p:nvSpPr>
        <p:spPr>
          <a:xfrm>
            <a:off x="609600" y="63722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Amar, Eagan &amp; Stasko (2005), §7</a:t>
            </a:r>
            <a:endParaRPr/>
          </a:p>
        </p:txBody>
      </p:sp>
      <p:sp>
        <p:nvSpPr>
          <p:cNvPr id="362" name="Google Shape;362;p23"/>
          <p:cNvSpPr/>
          <p:nvPr/>
        </p:nvSpPr>
        <p:spPr>
          <a:xfrm>
            <a:off x="11334750" y="6315075"/>
            <a:ext cx="42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AFBAC8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666750" y="1857375"/>
            <a:ext cx="105727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64C7EA"/>
                </a:solidFill>
                <a:latin typeface="Arial"/>
                <a:ea typeface="Arial"/>
                <a:cs typeface="Arial"/>
                <a:sym typeface="Arial"/>
              </a:rPr>
              <a:t>The user’s analysis goal comes first</a:t>
            </a: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666750" y="2905125"/>
            <a:ext cx="10572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The taxonomy names ten basic analysis tasks</a:t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666750" y="3981450"/>
            <a:ext cx="10572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Tasks combine and help us evaluate visualizations</a:t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666750" y="5057775"/>
            <a:ext cx="10572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Clear criteria and context still matter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1404</Words>
  <Application>Microsoft Office PowerPoint</Application>
  <PresentationFormat>Widescreen</PresentationFormat>
  <Paragraphs>265</Paragraphs>
  <Slides>26</Slides>
  <Notes>26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ChatGPT</vt:lpstr>
      <vt:lpstr>1_ChatGPT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Qasim Ali Rasheed</cp:lastModifiedBy>
  <cp:revision>3</cp:revision>
  <dcterms:modified xsi:type="dcterms:W3CDTF">2026-10-01T21:10:14Z</dcterms:modified>
</cp:coreProperties>
</file>