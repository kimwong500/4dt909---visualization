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4"/>
  </p:notesMasterIdLst>
  <p:sldIdLst>
    <p:sldId id="261" r:id="rId2"/>
    <p:sldId id="263" r:id="rId3"/>
    <p:sldId id="257" r:id="rId4"/>
    <p:sldId id="260" r:id="rId5"/>
    <p:sldId id="262" r:id="rId6"/>
    <p:sldId id="264" r:id="rId7"/>
    <p:sldId id="258" r:id="rId8"/>
    <p:sldId id="259" r:id="rId9"/>
    <p:sldId id="265" r:id="rId10"/>
    <p:sldId id="266" r:id="rId11"/>
    <p:sldId id="269"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85245" autoAdjust="0"/>
  </p:normalViewPr>
  <p:slideViewPr>
    <p:cSldViewPr snapToGrid="0" showGuides="1">
      <p:cViewPr varScale="1">
        <p:scale>
          <a:sx n="135" d="100"/>
          <a:sy n="135" d="100"/>
        </p:scale>
        <p:origin x="1224" y="13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3AA641-057B-4BD9-BFC1-21B03B06ED4A}" type="datetimeFigureOut">
              <a:rPr lang="de-DE" smtClean="0"/>
              <a:t>01.10.2026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18D36A-6E4D-4428-B64C-4D7AF0B117B1}" type="slidenum">
              <a:rPr lang="de-DE" smtClean="0"/>
              <a:t>‹Nr.›</a:t>
            </a:fld>
            <a:endParaRPr lang="de-DE"/>
          </a:p>
        </p:txBody>
      </p:sp>
    </p:spTree>
    <p:extLst>
      <p:ext uri="{BB962C8B-B14F-4D97-AF65-F5344CB8AC3E}">
        <p14:creationId xmlns:p14="http://schemas.microsoft.com/office/powerpoint/2010/main" val="21459432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Imagine </a:t>
            </a:r>
            <a:r>
              <a:rPr lang="de-DE" dirty="0" err="1"/>
              <a:t>you</a:t>
            </a:r>
            <a:r>
              <a:rPr lang="de-DE" dirty="0"/>
              <a:t> </a:t>
            </a:r>
            <a:r>
              <a:rPr lang="de-DE" dirty="0" err="1"/>
              <a:t>are</a:t>
            </a:r>
            <a:r>
              <a:rPr lang="de-DE" dirty="0"/>
              <a:t> </a:t>
            </a:r>
            <a:r>
              <a:rPr lang="de-DE" dirty="0" err="1"/>
              <a:t>reading</a:t>
            </a:r>
            <a:r>
              <a:rPr lang="de-DE" dirty="0"/>
              <a:t> a </a:t>
            </a:r>
            <a:r>
              <a:rPr lang="de-DE" dirty="0" err="1"/>
              <a:t>financial</a:t>
            </a:r>
            <a:r>
              <a:rPr lang="de-DE" dirty="0"/>
              <a:t> </a:t>
            </a:r>
            <a:r>
              <a:rPr lang="de-DE" dirty="0" err="1"/>
              <a:t>news</a:t>
            </a:r>
            <a:r>
              <a:rPr lang="de-DE" dirty="0"/>
              <a:t> </a:t>
            </a:r>
            <a:r>
              <a:rPr lang="de-DE" dirty="0" err="1"/>
              <a:t>article</a:t>
            </a:r>
            <a:r>
              <a:rPr lang="de-DE" dirty="0"/>
              <a:t> like </a:t>
            </a:r>
            <a:r>
              <a:rPr lang="de-DE" dirty="0" err="1"/>
              <a:t>this</a:t>
            </a:r>
            <a:r>
              <a:rPr lang="de-DE" dirty="0"/>
              <a:t> </a:t>
            </a:r>
            <a:r>
              <a:rPr lang="de-DE" dirty="0" err="1"/>
              <a:t>one</a:t>
            </a:r>
            <a:r>
              <a:rPr lang="de-DE" dirty="0"/>
              <a:t>.</a:t>
            </a:r>
          </a:p>
          <a:p>
            <a:endParaRPr lang="de-DE" dirty="0"/>
          </a:p>
          <a:p>
            <a:r>
              <a:rPr lang="de-DE" dirty="0"/>
              <a:t>Small </a:t>
            </a:r>
            <a:r>
              <a:rPr lang="de-DE" dirty="0" err="1"/>
              <a:t>charts</a:t>
            </a:r>
            <a:r>
              <a:rPr lang="de-DE" dirty="0"/>
              <a:t> </a:t>
            </a:r>
            <a:r>
              <a:rPr lang="de-DE" dirty="0" err="1"/>
              <a:t>showing</a:t>
            </a:r>
            <a:r>
              <a:rPr lang="de-DE" dirty="0"/>
              <a:t> stock </a:t>
            </a:r>
            <a:r>
              <a:rPr lang="de-DE" dirty="0" err="1"/>
              <a:t>price</a:t>
            </a:r>
            <a:r>
              <a:rPr lang="de-DE" dirty="0"/>
              <a:t> </a:t>
            </a:r>
            <a:r>
              <a:rPr lang="de-DE" dirty="0" err="1"/>
              <a:t>trends</a:t>
            </a:r>
            <a:r>
              <a:rPr lang="de-DE" dirty="0"/>
              <a:t> (Word </a:t>
            </a:r>
            <a:r>
              <a:rPr lang="de-DE" dirty="0" err="1"/>
              <a:t>scale</a:t>
            </a:r>
            <a:r>
              <a:rPr lang="de-DE" dirty="0"/>
              <a:t> </a:t>
            </a:r>
            <a:r>
              <a:rPr lang="de-DE" dirty="0" err="1"/>
              <a:t>vis</a:t>
            </a:r>
            <a:r>
              <a:rPr lang="de-DE" dirty="0"/>
              <a:t>) </a:t>
            </a:r>
          </a:p>
          <a:p>
            <a:endParaRPr lang="de-DE" dirty="0"/>
          </a:p>
          <a:p>
            <a:pPr marL="171450" indent="-171450">
              <a:buFont typeface="Wingdings" panose="05000000000000000000" pitchFamily="2" charset="2"/>
              <a:buChar char="à"/>
            </a:pPr>
            <a:r>
              <a:rPr lang="de-DE" dirty="0">
                <a:sym typeface="Wingdings" panose="05000000000000000000" pitchFamily="2" charset="2"/>
              </a:rPr>
              <a:t>Place </a:t>
            </a:r>
            <a:r>
              <a:rPr lang="de-DE" dirty="0" err="1">
                <a:sym typeface="Wingdings" panose="05000000000000000000" pitchFamily="2" charset="2"/>
              </a:rPr>
              <a:t>data</a:t>
            </a:r>
            <a:r>
              <a:rPr lang="de-DE" dirty="0">
                <a:sym typeface="Wingdings" panose="05000000000000000000" pitchFamily="2" charset="2"/>
              </a:rPr>
              <a:t> </a:t>
            </a:r>
            <a:r>
              <a:rPr lang="de-DE" dirty="0" err="1">
                <a:sym typeface="Wingdings" panose="05000000000000000000" pitchFamily="2" charset="2"/>
              </a:rPr>
              <a:t>directly</a:t>
            </a:r>
            <a:r>
              <a:rPr lang="de-DE" dirty="0">
                <a:sym typeface="Wingdings" panose="05000000000000000000" pitchFamily="2" charset="2"/>
              </a:rPr>
              <a:t> </a:t>
            </a:r>
            <a:r>
              <a:rPr lang="de-DE" dirty="0" err="1">
                <a:sym typeface="Wingdings" panose="05000000000000000000" pitchFamily="2" charset="2"/>
              </a:rPr>
              <a:t>next</a:t>
            </a:r>
            <a:r>
              <a:rPr lang="de-DE" dirty="0">
                <a:sym typeface="Wingdings" panose="05000000000000000000" pitchFamily="2" charset="2"/>
              </a:rPr>
              <a:t> to the </a:t>
            </a:r>
            <a:r>
              <a:rPr lang="de-DE" dirty="0" err="1">
                <a:sym typeface="Wingdings" panose="05000000000000000000" pitchFamily="2" charset="2"/>
              </a:rPr>
              <a:t>company</a:t>
            </a:r>
            <a:r>
              <a:rPr lang="de-DE" dirty="0">
                <a:sym typeface="Wingdings" panose="05000000000000000000" pitchFamily="2" charset="2"/>
              </a:rPr>
              <a:t> </a:t>
            </a:r>
            <a:r>
              <a:rPr lang="de-DE" dirty="0" err="1">
                <a:sym typeface="Wingdings" panose="05000000000000000000" pitchFamily="2" charset="2"/>
              </a:rPr>
              <a:t>thats</a:t>
            </a:r>
            <a:r>
              <a:rPr lang="de-DE" dirty="0">
                <a:sym typeface="Wingdings" panose="05000000000000000000" pitchFamily="2" charset="2"/>
              </a:rPr>
              <a:t> </a:t>
            </a:r>
            <a:r>
              <a:rPr lang="de-DE" dirty="0" err="1">
                <a:sym typeface="Wingdings" panose="05000000000000000000" pitchFamily="2" charset="2"/>
              </a:rPr>
              <a:t>discussed</a:t>
            </a:r>
            <a:r>
              <a:rPr lang="de-DE" dirty="0">
                <a:sym typeface="Wingdings" panose="05000000000000000000" pitchFamily="2" charset="2"/>
              </a:rPr>
              <a:t>; See </a:t>
            </a:r>
            <a:r>
              <a:rPr lang="de-DE" dirty="0" err="1">
                <a:sym typeface="Wingdings" panose="05000000000000000000" pitchFamily="2" charset="2"/>
              </a:rPr>
              <a:t>trend</a:t>
            </a:r>
            <a:r>
              <a:rPr lang="de-DE" dirty="0">
                <a:sym typeface="Wingdings" panose="05000000000000000000" pitchFamily="2" charset="2"/>
              </a:rPr>
              <a:t> </a:t>
            </a:r>
            <a:r>
              <a:rPr lang="de-DE" dirty="0" err="1">
                <a:sym typeface="Wingdings" panose="05000000000000000000" pitchFamily="2" charset="2"/>
              </a:rPr>
              <a:t>while</a:t>
            </a:r>
            <a:r>
              <a:rPr lang="de-DE" dirty="0">
                <a:sym typeface="Wingdings" panose="05000000000000000000" pitchFamily="2" charset="2"/>
              </a:rPr>
              <a:t> </a:t>
            </a:r>
            <a:r>
              <a:rPr lang="de-DE" dirty="0" err="1">
                <a:sym typeface="Wingdings" panose="05000000000000000000" pitchFamily="2" charset="2"/>
              </a:rPr>
              <a:t>reading</a:t>
            </a:r>
            <a:endParaRPr lang="de-DE" dirty="0">
              <a:sym typeface="Wingdings" panose="05000000000000000000" pitchFamily="2" charset="2"/>
            </a:endParaRPr>
          </a:p>
          <a:p>
            <a:pPr marL="171450" indent="-171450">
              <a:buFont typeface="Wingdings" panose="05000000000000000000" pitchFamily="2" charset="2"/>
              <a:buChar char="à"/>
            </a:pPr>
            <a:endParaRPr lang="de-DE" dirty="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de-DE" dirty="0" err="1"/>
              <a:t>Now</a:t>
            </a:r>
            <a:r>
              <a:rPr lang="de-DE" dirty="0"/>
              <a:t>, </a:t>
            </a:r>
            <a:r>
              <a:rPr lang="de-DE" dirty="0" err="1"/>
              <a:t>take</a:t>
            </a:r>
            <a:r>
              <a:rPr lang="de-DE" dirty="0"/>
              <a:t> a </a:t>
            </a:r>
            <a:r>
              <a:rPr lang="de-DE" dirty="0" err="1"/>
              <a:t>few</a:t>
            </a:r>
            <a:r>
              <a:rPr lang="de-DE" dirty="0"/>
              <a:t> </a:t>
            </a:r>
            <a:r>
              <a:rPr lang="de-DE" dirty="0" err="1"/>
              <a:t>seconds</a:t>
            </a:r>
            <a:r>
              <a:rPr lang="de-DE" dirty="0"/>
              <a:t> to </a:t>
            </a:r>
            <a:r>
              <a:rPr lang="de-DE" dirty="0" err="1"/>
              <a:t>look</a:t>
            </a:r>
            <a:r>
              <a:rPr lang="de-DE" dirty="0"/>
              <a:t> at the </a:t>
            </a:r>
            <a:r>
              <a:rPr lang="de-DE" dirty="0" err="1"/>
              <a:t>charts</a:t>
            </a:r>
            <a:endParaRPr lang="de-DE" dirty="0"/>
          </a:p>
          <a:p>
            <a:pPr marL="0" indent="0">
              <a:buFont typeface="Wingdings" panose="05000000000000000000" pitchFamily="2" charset="2"/>
              <a:buNone/>
            </a:pPr>
            <a:endParaRPr lang="de-DE" dirty="0"/>
          </a:p>
          <a:p>
            <a:pPr marL="0" indent="0">
              <a:buFont typeface="Wingdings" panose="05000000000000000000" pitchFamily="2" charset="2"/>
              <a:buNone/>
            </a:pPr>
            <a:endParaRPr lang="de-DE" dirty="0"/>
          </a:p>
          <a:p>
            <a:pPr marL="0" indent="0">
              <a:buFont typeface="Wingdings" panose="05000000000000000000" pitchFamily="2" charset="2"/>
              <a:buNone/>
            </a:pPr>
            <a:endParaRPr lang="de-DE" dirty="0"/>
          </a:p>
          <a:p>
            <a:pPr marL="0" indent="0">
              <a:buFont typeface="Wingdings" panose="05000000000000000000" pitchFamily="2" charset="2"/>
              <a:buNone/>
            </a:pPr>
            <a:r>
              <a:rPr lang="de-DE" dirty="0"/>
              <a:t>Gets </a:t>
            </a:r>
            <a:r>
              <a:rPr lang="de-DE" dirty="0" err="1"/>
              <a:t>harder</a:t>
            </a:r>
            <a:r>
              <a:rPr lang="de-DE" dirty="0"/>
              <a:t> in </a:t>
            </a:r>
            <a:r>
              <a:rPr lang="de-DE" dirty="0" err="1"/>
              <a:t>longer</a:t>
            </a:r>
            <a:r>
              <a:rPr lang="de-DE" dirty="0"/>
              <a:t> </a:t>
            </a:r>
            <a:r>
              <a:rPr lang="de-DE" dirty="0" err="1"/>
              <a:t>documents</a:t>
            </a:r>
            <a:endParaRPr lang="de-DE" dirty="0"/>
          </a:p>
          <a:p>
            <a:pPr marL="0" indent="0">
              <a:buFont typeface="Wingdings" panose="05000000000000000000" pitchFamily="2" charset="2"/>
              <a:buNone/>
            </a:pPr>
            <a:endParaRPr lang="de-DE" dirty="0"/>
          </a:p>
          <a:p>
            <a:pPr marL="0" indent="0">
              <a:buFont typeface="Wingdings" panose="05000000000000000000" pitchFamily="2" charset="2"/>
              <a:buNone/>
            </a:pPr>
            <a:r>
              <a:rPr lang="de-DE" dirty="0"/>
              <a:t>This </a:t>
            </a:r>
            <a:r>
              <a:rPr lang="de-DE" dirty="0" err="1"/>
              <a:t>is</a:t>
            </a:r>
            <a:r>
              <a:rPr lang="de-DE" dirty="0"/>
              <a:t> the Problem of the Paper</a:t>
            </a:r>
          </a:p>
        </p:txBody>
      </p:sp>
      <p:sp>
        <p:nvSpPr>
          <p:cNvPr id="4" name="Foliennummernplatzhalter 3"/>
          <p:cNvSpPr>
            <a:spLocks noGrp="1"/>
          </p:cNvSpPr>
          <p:nvPr>
            <p:ph type="sldNum" sz="quarter" idx="5"/>
          </p:nvPr>
        </p:nvSpPr>
        <p:spPr/>
        <p:txBody>
          <a:bodyPr/>
          <a:lstStyle/>
          <a:p>
            <a:fld id="{2018D36A-6E4D-4428-B64C-4D7AF0B117B1}" type="slidenum">
              <a:rPr lang="de-DE" smtClean="0"/>
              <a:t>2</a:t>
            </a:fld>
            <a:endParaRPr lang="de-DE"/>
          </a:p>
        </p:txBody>
      </p:sp>
    </p:spTree>
    <p:extLst>
      <p:ext uri="{BB962C8B-B14F-4D97-AF65-F5344CB8AC3E}">
        <p14:creationId xmlns:p14="http://schemas.microsoft.com/office/powerpoint/2010/main" val="3602935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Problem: </a:t>
            </a:r>
            <a:r>
              <a:rPr lang="de-DE" dirty="0" err="1"/>
              <a:t>Comparing</a:t>
            </a:r>
            <a:r>
              <a:rPr lang="de-DE" dirty="0"/>
              <a:t> multiple </a:t>
            </a:r>
            <a:r>
              <a:rPr lang="de-DE" dirty="0" err="1"/>
              <a:t>visualtions</a:t>
            </a:r>
            <a:r>
              <a:rPr lang="de-DE" dirty="0"/>
              <a:t>; Maybe </a:t>
            </a:r>
            <a:r>
              <a:rPr lang="de-DE" dirty="0" err="1"/>
              <a:t>requires</a:t>
            </a:r>
            <a:r>
              <a:rPr lang="de-DE" dirty="0"/>
              <a:t> </a:t>
            </a:r>
            <a:r>
              <a:rPr lang="de-DE" dirty="0" err="1"/>
              <a:t>scorll</a:t>
            </a:r>
            <a:endParaRPr lang="de-DE" dirty="0"/>
          </a:p>
          <a:p>
            <a:endParaRPr lang="de-DE" dirty="0"/>
          </a:p>
        </p:txBody>
      </p:sp>
      <p:sp>
        <p:nvSpPr>
          <p:cNvPr id="4" name="Foliennummernplatzhalter 3"/>
          <p:cNvSpPr>
            <a:spLocks noGrp="1"/>
          </p:cNvSpPr>
          <p:nvPr>
            <p:ph type="sldNum" sz="quarter" idx="5"/>
          </p:nvPr>
        </p:nvSpPr>
        <p:spPr/>
        <p:txBody>
          <a:bodyPr/>
          <a:lstStyle/>
          <a:p>
            <a:fld id="{2018D36A-6E4D-4428-B64C-4D7AF0B117B1}" type="slidenum">
              <a:rPr lang="de-DE" smtClean="0"/>
              <a:t>3</a:t>
            </a:fld>
            <a:endParaRPr lang="de-DE"/>
          </a:p>
        </p:txBody>
      </p:sp>
    </p:spTree>
    <p:extLst>
      <p:ext uri="{BB962C8B-B14F-4D97-AF65-F5344CB8AC3E}">
        <p14:creationId xmlns:p14="http://schemas.microsoft.com/office/powerpoint/2010/main" val="1751689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Before</a:t>
            </a:r>
            <a:r>
              <a:rPr lang="de-DE" dirty="0"/>
              <a:t> </a:t>
            </a:r>
            <a:r>
              <a:rPr lang="de-DE" dirty="0" err="1"/>
              <a:t>we</a:t>
            </a:r>
            <a:r>
              <a:rPr lang="de-DE" dirty="0"/>
              <a:t> </a:t>
            </a:r>
            <a:r>
              <a:rPr lang="de-DE" dirty="0" err="1"/>
              <a:t>can</a:t>
            </a:r>
            <a:r>
              <a:rPr lang="de-DE" dirty="0"/>
              <a:t> </a:t>
            </a:r>
            <a:r>
              <a:rPr lang="de-DE" dirty="0" err="1"/>
              <a:t>compare</a:t>
            </a:r>
            <a:r>
              <a:rPr lang="de-DE" dirty="0"/>
              <a:t> </a:t>
            </a:r>
            <a:r>
              <a:rPr lang="de-DE" dirty="0" err="1"/>
              <a:t>visualizations</a:t>
            </a:r>
            <a:r>
              <a:rPr lang="de-DE" dirty="0"/>
              <a:t>, </a:t>
            </a:r>
            <a:r>
              <a:rPr lang="de-DE" dirty="0" err="1"/>
              <a:t>we</a:t>
            </a:r>
            <a:r>
              <a:rPr lang="de-DE" dirty="0"/>
              <a:t> </a:t>
            </a:r>
            <a:r>
              <a:rPr lang="de-DE" dirty="0" err="1"/>
              <a:t>first</a:t>
            </a:r>
            <a:r>
              <a:rPr lang="de-DE" dirty="0"/>
              <a:t> </a:t>
            </a:r>
            <a:r>
              <a:rPr lang="de-DE" dirty="0" err="1"/>
              <a:t>need</a:t>
            </a:r>
            <a:r>
              <a:rPr lang="de-DE" dirty="0"/>
              <a:t> to bring </a:t>
            </a:r>
            <a:r>
              <a:rPr lang="de-DE" dirty="0" err="1"/>
              <a:t>them</a:t>
            </a:r>
            <a:r>
              <a:rPr lang="de-DE" dirty="0"/>
              <a:t> </a:t>
            </a:r>
            <a:r>
              <a:rPr lang="de-DE" dirty="0" err="1"/>
              <a:t>together</a:t>
            </a:r>
            <a:r>
              <a:rPr lang="de-DE" dirty="0"/>
              <a:t>.</a:t>
            </a:r>
          </a:p>
          <a:p>
            <a:endParaRPr lang="de-DE" dirty="0"/>
          </a:p>
          <a:p>
            <a:r>
              <a:rPr lang="de-DE" dirty="0" err="1"/>
              <a:t>Slect</a:t>
            </a:r>
            <a:r>
              <a:rPr lang="de-DE" dirty="0"/>
              <a:t> </a:t>
            </a:r>
            <a:r>
              <a:rPr lang="de-DE" dirty="0" err="1"/>
              <a:t>focus</a:t>
            </a:r>
            <a:r>
              <a:rPr lang="de-DE" dirty="0"/>
              <a:t> </a:t>
            </a:r>
            <a:r>
              <a:rPr lang="de-DE" dirty="0" err="1"/>
              <a:t>entity</a:t>
            </a:r>
            <a:r>
              <a:rPr lang="de-DE" dirty="0"/>
              <a:t> -&gt; relevant </a:t>
            </a:r>
            <a:r>
              <a:rPr lang="de-DE" dirty="0" err="1"/>
              <a:t>visualizations</a:t>
            </a:r>
            <a:r>
              <a:rPr lang="de-DE" dirty="0"/>
              <a:t> </a:t>
            </a:r>
            <a:r>
              <a:rPr lang="de-DE" dirty="0" err="1"/>
              <a:t>are</a:t>
            </a:r>
            <a:r>
              <a:rPr lang="de-DE" dirty="0"/>
              <a:t> </a:t>
            </a:r>
            <a:r>
              <a:rPr lang="de-DE" dirty="0" err="1"/>
              <a:t>collected</a:t>
            </a:r>
            <a:r>
              <a:rPr lang="de-DE" dirty="0"/>
              <a:t> </a:t>
            </a:r>
            <a:r>
              <a:rPr lang="de-DE" dirty="0" err="1"/>
              <a:t>around</a:t>
            </a:r>
            <a:r>
              <a:rPr lang="de-DE" dirty="0"/>
              <a:t> </a:t>
            </a:r>
            <a:r>
              <a:rPr lang="de-DE" dirty="0" err="1"/>
              <a:t>this</a:t>
            </a:r>
            <a:r>
              <a:rPr lang="de-DE" dirty="0"/>
              <a:t> pos.</a:t>
            </a:r>
          </a:p>
          <a:p>
            <a:endParaRPr lang="de-DE" dirty="0"/>
          </a:p>
          <a:p>
            <a:r>
              <a:rPr lang="de-DE" dirty="0"/>
              <a:t>Drag -&gt; Simpler alternative </a:t>
            </a:r>
            <a:r>
              <a:rPr lang="de-DE" dirty="0" err="1"/>
              <a:t>manually</a:t>
            </a:r>
            <a:r>
              <a:rPr lang="de-DE" dirty="0"/>
              <a:t> </a:t>
            </a:r>
            <a:r>
              <a:rPr lang="de-DE" dirty="0" err="1"/>
              <a:t>drag</a:t>
            </a:r>
            <a:r>
              <a:rPr lang="de-DE" dirty="0"/>
              <a:t> </a:t>
            </a:r>
            <a:r>
              <a:rPr lang="de-DE" dirty="0" err="1"/>
              <a:t>charts</a:t>
            </a:r>
            <a:r>
              <a:rPr lang="de-DE" dirty="0"/>
              <a:t> </a:t>
            </a:r>
            <a:r>
              <a:rPr lang="de-DE" dirty="0" err="1"/>
              <a:t>together</a:t>
            </a:r>
            <a:r>
              <a:rPr lang="de-DE" dirty="0"/>
              <a:t>.</a:t>
            </a:r>
          </a:p>
          <a:p>
            <a:endParaRPr lang="de-DE" dirty="0"/>
          </a:p>
          <a:p>
            <a:r>
              <a:rPr lang="de-DE" dirty="0"/>
              <a:t>Original </a:t>
            </a:r>
            <a:r>
              <a:rPr lang="de-DE" dirty="0" err="1"/>
              <a:t>visualization</a:t>
            </a:r>
            <a:r>
              <a:rPr lang="de-DE" dirty="0"/>
              <a:t> </a:t>
            </a:r>
            <a:r>
              <a:rPr lang="de-DE" dirty="0" err="1"/>
              <a:t>does</a:t>
            </a:r>
            <a:r>
              <a:rPr lang="de-DE" dirty="0"/>
              <a:t> not </a:t>
            </a:r>
            <a:r>
              <a:rPr lang="de-DE" dirty="0" err="1"/>
              <a:t>disappera</a:t>
            </a:r>
            <a:r>
              <a:rPr lang="de-DE" dirty="0"/>
              <a:t>; a </a:t>
            </a:r>
            <a:r>
              <a:rPr lang="de-DE" dirty="0" err="1"/>
              <a:t>faded</a:t>
            </a:r>
            <a:r>
              <a:rPr lang="de-DE" dirty="0"/>
              <a:t> </a:t>
            </a:r>
            <a:r>
              <a:rPr lang="de-DE" dirty="0" err="1"/>
              <a:t>copy</a:t>
            </a:r>
            <a:r>
              <a:rPr lang="de-DE" dirty="0"/>
              <a:t> </a:t>
            </a:r>
            <a:r>
              <a:rPr lang="de-DE" dirty="0" err="1"/>
              <a:t>stays</a:t>
            </a:r>
            <a:endParaRPr lang="de-DE" dirty="0"/>
          </a:p>
        </p:txBody>
      </p:sp>
      <p:sp>
        <p:nvSpPr>
          <p:cNvPr id="4" name="Foliennummernplatzhalter 3"/>
          <p:cNvSpPr>
            <a:spLocks noGrp="1"/>
          </p:cNvSpPr>
          <p:nvPr>
            <p:ph type="sldNum" sz="quarter" idx="5"/>
          </p:nvPr>
        </p:nvSpPr>
        <p:spPr/>
        <p:txBody>
          <a:bodyPr/>
          <a:lstStyle/>
          <a:p>
            <a:fld id="{2018D36A-6E4D-4428-B64C-4D7AF0B117B1}" type="slidenum">
              <a:rPr lang="de-DE" smtClean="0"/>
              <a:t>4</a:t>
            </a:fld>
            <a:endParaRPr lang="de-DE"/>
          </a:p>
        </p:txBody>
      </p:sp>
    </p:spTree>
    <p:extLst>
      <p:ext uri="{BB962C8B-B14F-4D97-AF65-F5344CB8AC3E}">
        <p14:creationId xmlns:p14="http://schemas.microsoft.com/office/powerpoint/2010/main" val="1504088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After </a:t>
            </a:r>
            <a:r>
              <a:rPr lang="de-DE" dirty="0" err="1"/>
              <a:t>collecting</a:t>
            </a:r>
            <a:r>
              <a:rPr lang="de-DE" dirty="0"/>
              <a:t>; </a:t>
            </a:r>
            <a:r>
              <a:rPr lang="de-DE" dirty="0" err="1"/>
              <a:t>simplying</a:t>
            </a:r>
            <a:r>
              <a:rPr lang="de-DE" dirty="0"/>
              <a:t> </a:t>
            </a:r>
            <a:r>
              <a:rPr lang="de-DE" dirty="0" err="1"/>
              <a:t>place</a:t>
            </a:r>
            <a:r>
              <a:rPr lang="de-DE" dirty="0"/>
              <a:t> the </a:t>
            </a:r>
            <a:r>
              <a:rPr lang="de-DE" dirty="0" err="1"/>
              <a:t>together</a:t>
            </a:r>
            <a:endParaRPr lang="de-DE" dirty="0"/>
          </a:p>
          <a:p>
            <a:endParaRPr lang="de-DE" dirty="0"/>
          </a:p>
          <a:p>
            <a:r>
              <a:rPr lang="de-DE" dirty="0" err="1"/>
              <a:t>Grid</a:t>
            </a:r>
            <a:r>
              <a:rPr lang="de-DE" dirty="0"/>
              <a:t>; to </a:t>
            </a:r>
            <a:r>
              <a:rPr lang="de-DE" dirty="0" err="1"/>
              <a:t>see</a:t>
            </a:r>
            <a:r>
              <a:rPr lang="de-DE" dirty="0"/>
              <a:t> a </a:t>
            </a:r>
            <a:r>
              <a:rPr lang="de-DE" dirty="0" err="1"/>
              <a:t>lot</a:t>
            </a:r>
            <a:r>
              <a:rPr lang="de-DE" dirty="0"/>
              <a:t> on </a:t>
            </a:r>
            <a:r>
              <a:rPr lang="de-DE" dirty="0" err="1"/>
              <a:t>one</a:t>
            </a:r>
            <a:r>
              <a:rPr lang="de-DE" dirty="0"/>
              <a:t> screen</a:t>
            </a:r>
          </a:p>
          <a:p>
            <a:endParaRPr lang="de-DE" dirty="0"/>
          </a:p>
          <a:p>
            <a:r>
              <a:rPr lang="de-DE" dirty="0" err="1"/>
              <a:t>Rows</a:t>
            </a:r>
            <a:r>
              <a:rPr lang="de-DE" dirty="0"/>
              <a:t> </a:t>
            </a:r>
            <a:r>
              <a:rPr lang="de-DE" dirty="0" err="1"/>
              <a:t>or</a:t>
            </a:r>
            <a:r>
              <a:rPr lang="de-DE" dirty="0"/>
              <a:t> </a:t>
            </a:r>
            <a:r>
              <a:rPr lang="de-DE" dirty="0" err="1"/>
              <a:t>columns</a:t>
            </a:r>
            <a:r>
              <a:rPr lang="de-DE" dirty="0"/>
              <a:t> for </a:t>
            </a:r>
            <a:r>
              <a:rPr lang="de-DE" dirty="0" err="1"/>
              <a:t>comparison</a:t>
            </a:r>
            <a:r>
              <a:rPr lang="de-DE" dirty="0"/>
              <a:t> on a </a:t>
            </a:r>
            <a:r>
              <a:rPr lang="de-DE" dirty="0" err="1"/>
              <a:t>axis</a:t>
            </a:r>
            <a:endParaRPr lang="de-DE" dirty="0"/>
          </a:p>
          <a:p>
            <a:endParaRPr lang="de-DE" dirty="0"/>
          </a:p>
          <a:p>
            <a:r>
              <a:rPr lang="de-DE" dirty="0"/>
              <a:t>Cluster; </a:t>
            </a:r>
            <a:r>
              <a:rPr lang="de-DE" dirty="0" err="1"/>
              <a:t>groups</a:t>
            </a:r>
            <a:r>
              <a:rPr lang="de-DE" dirty="0"/>
              <a:t> </a:t>
            </a:r>
            <a:r>
              <a:rPr lang="de-DE" dirty="0" err="1"/>
              <a:t>with</a:t>
            </a:r>
            <a:r>
              <a:rPr lang="de-DE" dirty="0"/>
              <a:t> </a:t>
            </a:r>
            <a:r>
              <a:rPr lang="de-DE" dirty="0" err="1"/>
              <a:t>similar</a:t>
            </a:r>
            <a:r>
              <a:rPr lang="de-DE" dirty="0"/>
              <a:t> </a:t>
            </a:r>
            <a:r>
              <a:rPr lang="de-DE" dirty="0" err="1"/>
              <a:t>characteristics</a:t>
            </a:r>
            <a:endParaRPr lang="de-DE" dirty="0"/>
          </a:p>
          <a:p>
            <a:endParaRPr lang="de-DE" dirty="0"/>
          </a:p>
          <a:p>
            <a:r>
              <a:rPr lang="de-DE" dirty="0" err="1"/>
              <a:t>Ordering</a:t>
            </a:r>
            <a:r>
              <a:rPr lang="de-DE" dirty="0"/>
              <a:t>: </a:t>
            </a:r>
            <a:r>
              <a:rPr lang="de-DE" dirty="0" err="1"/>
              <a:t>manually</a:t>
            </a:r>
            <a:r>
              <a:rPr lang="de-DE" dirty="0"/>
              <a:t> </a:t>
            </a:r>
            <a:r>
              <a:rPr lang="de-DE" dirty="0" err="1"/>
              <a:t>rearrange</a:t>
            </a:r>
            <a:r>
              <a:rPr lang="de-DE" dirty="0"/>
              <a:t> </a:t>
            </a:r>
            <a:r>
              <a:rPr lang="de-DE" dirty="0" err="1"/>
              <a:t>or</a:t>
            </a:r>
            <a:r>
              <a:rPr lang="de-DE" dirty="0"/>
              <a:t> </a:t>
            </a:r>
            <a:r>
              <a:rPr lang="de-DE" dirty="0" err="1"/>
              <a:t>sort</a:t>
            </a:r>
            <a:r>
              <a:rPr lang="de-DE" dirty="0"/>
              <a:t> </a:t>
            </a:r>
            <a:r>
              <a:rPr lang="de-DE" dirty="0" err="1"/>
              <a:t>according</a:t>
            </a:r>
            <a:r>
              <a:rPr lang="de-DE" dirty="0"/>
              <a:t> to </a:t>
            </a:r>
            <a:r>
              <a:rPr lang="de-DE" dirty="0" err="1"/>
              <a:t>data</a:t>
            </a:r>
            <a:endParaRPr lang="de-DE" dirty="0"/>
          </a:p>
          <a:p>
            <a:endParaRPr lang="de-DE" dirty="0"/>
          </a:p>
          <a:p>
            <a:r>
              <a:rPr lang="de-DE" dirty="0">
                <a:sym typeface="Wingdings" panose="05000000000000000000" pitchFamily="2" charset="2"/>
              </a:rPr>
              <a:t> Arrangement </a:t>
            </a:r>
            <a:r>
              <a:rPr lang="de-DE" dirty="0" err="1">
                <a:sym typeface="Wingdings" panose="05000000000000000000" pitchFamily="2" charset="2"/>
              </a:rPr>
              <a:t>makes</a:t>
            </a:r>
            <a:r>
              <a:rPr lang="de-DE" dirty="0">
                <a:sym typeface="Wingdings" panose="05000000000000000000" pitchFamily="2" charset="2"/>
              </a:rPr>
              <a:t> </a:t>
            </a:r>
            <a:r>
              <a:rPr lang="de-DE" dirty="0" err="1">
                <a:sym typeface="Wingdings" panose="05000000000000000000" pitchFamily="2" charset="2"/>
              </a:rPr>
              <a:t>patterns</a:t>
            </a:r>
            <a:r>
              <a:rPr lang="de-DE" dirty="0">
                <a:sym typeface="Wingdings" panose="05000000000000000000" pitchFamily="2" charset="2"/>
              </a:rPr>
              <a:t> and </a:t>
            </a:r>
            <a:r>
              <a:rPr lang="de-DE" dirty="0" err="1">
                <a:sym typeface="Wingdings" panose="05000000000000000000" pitchFamily="2" charset="2"/>
              </a:rPr>
              <a:t>differences</a:t>
            </a:r>
            <a:r>
              <a:rPr lang="de-DE" dirty="0">
                <a:sym typeface="Wingdings" panose="05000000000000000000" pitchFamily="2" charset="2"/>
              </a:rPr>
              <a:t> </a:t>
            </a:r>
            <a:r>
              <a:rPr lang="de-DE" dirty="0" err="1">
                <a:sym typeface="Wingdings" panose="05000000000000000000" pitchFamily="2" charset="2"/>
              </a:rPr>
              <a:t>easier</a:t>
            </a:r>
            <a:r>
              <a:rPr lang="de-DE" dirty="0">
                <a:sym typeface="Wingdings" panose="05000000000000000000" pitchFamily="2" charset="2"/>
              </a:rPr>
              <a:t> to </a:t>
            </a:r>
            <a:r>
              <a:rPr lang="de-DE" dirty="0" err="1">
                <a:sym typeface="Wingdings" panose="05000000000000000000" pitchFamily="2" charset="2"/>
              </a:rPr>
              <a:t>see</a:t>
            </a:r>
            <a:endParaRPr lang="de-DE" dirty="0"/>
          </a:p>
        </p:txBody>
      </p:sp>
      <p:sp>
        <p:nvSpPr>
          <p:cNvPr id="4" name="Foliennummernplatzhalter 3"/>
          <p:cNvSpPr>
            <a:spLocks noGrp="1"/>
          </p:cNvSpPr>
          <p:nvPr>
            <p:ph type="sldNum" sz="quarter" idx="5"/>
          </p:nvPr>
        </p:nvSpPr>
        <p:spPr/>
        <p:txBody>
          <a:bodyPr/>
          <a:lstStyle/>
          <a:p>
            <a:fld id="{2018D36A-6E4D-4428-B64C-4D7AF0B117B1}" type="slidenum">
              <a:rPr lang="de-DE" smtClean="0"/>
              <a:t>5</a:t>
            </a:fld>
            <a:endParaRPr lang="de-DE"/>
          </a:p>
        </p:txBody>
      </p:sp>
    </p:spTree>
    <p:extLst>
      <p:ext uri="{BB962C8B-B14F-4D97-AF65-F5344CB8AC3E}">
        <p14:creationId xmlns:p14="http://schemas.microsoft.com/office/powerpoint/2010/main" val="39024165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how</a:t>
            </a:r>
            <a:r>
              <a:rPr lang="de-DE" dirty="0"/>
              <a:t> to </a:t>
            </a:r>
            <a:r>
              <a:rPr lang="de-DE" dirty="0" err="1"/>
              <a:t>organize</a:t>
            </a:r>
            <a:r>
              <a:rPr lang="de-DE" dirty="0"/>
              <a:t> </a:t>
            </a:r>
            <a:r>
              <a:rPr lang="de-DE" dirty="0" err="1"/>
              <a:t>them</a:t>
            </a:r>
            <a:r>
              <a:rPr lang="de-DE" dirty="0"/>
              <a:t> </a:t>
            </a:r>
            <a:r>
              <a:rPr lang="de-DE" dirty="0" err="1"/>
              <a:t>without</a:t>
            </a:r>
            <a:r>
              <a:rPr lang="de-DE" dirty="0"/>
              <a:t> </a:t>
            </a:r>
            <a:r>
              <a:rPr lang="de-DE" dirty="0" err="1"/>
              <a:t>losing</a:t>
            </a:r>
            <a:r>
              <a:rPr lang="de-DE" dirty="0"/>
              <a:t> the </a:t>
            </a:r>
            <a:r>
              <a:rPr lang="de-DE" dirty="0" err="1"/>
              <a:t>connection</a:t>
            </a:r>
            <a:r>
              <a:rPr lang="de-DE" dirty="0"/>
              <a:t> to the </a:t>
            </a:r>
            <a:r>
              <a:rPr lang="de-DE" dirty="0" err="1"/>
              <a:t>text</a:t>
            </a:r>
            <a:endParaRPr lang="de-DE" dirty="0"/>
          </a:p>
          <a:p>
            <a:endParaRPr lang="de-DE" dirty="0"/>
          </a:p>
          <a:p>
            <a:endParaRPr lang="de-DE" dirty="0"/>
          </a:p>
          <a:p>
            <a:r>
              <a:rPr lang="de-DE" dirty="0" err="1"/>
              <a:t>preserves</a:t>
            </a:r>
            <a:r>
              <a:rPr lang="de-DE" dirty="0"/>
              <a:t> the </a:t>
            </a:r>
            <a:r>
              <a:rPr lang="de-DE" dirty="0" err="1"/>
              <a:t>document</a:t>
            </a:r>
            <a:r>
              <a:rPr lang="de-DE" dirty="0"/>
              <a:t> </a:t>
            </a:r>
            <a:r>
              <a:rPr lang="de-DE" dirty="0" err="1"/>
              <a:t>layout</a:t>
            </a:r>
            <a:r>
              <a:rPr lang="de-DE" dirty="0"/>
              <a:t> but </a:t>
            </a:r>
            <a:r>
              <a:rPr lang="de-DE" dirty="0" err="1"/>
              <a:t>covers</a:t>
            </a:r>
            <a:r>
              <a:rPr lang="de-DE" dirty="0"/>
              <a:t> </a:t>
            </a:r>
            <a:r>
              <a:rPr lang="de-DE" dirty="0" err="1"/>
              <a:t>some</a:t>
            </a:r>
            <a:r>
              <a:rPr lang="de-DE" dirty="0"/>
              <a:t> </a:t>
            </a:r>
            <a:r>
              <a:rPr lang="de-DE" dirty="0" err="1"/>
              <a:t>content</a:t>
            </a:r>
            <a:endParaRPr lang="de-DE" dirty="0"/>
          </a:p>
          <a:p>
            <a:endParaRPr lang="de-DE" dirty="0"/>
          </a:p>
          <a:p>
            <a:r>
              <a:rPr lang="de-DE" dirty="0" err="1"/>
              <a:t>where</a:t>
            </a:r>
            <a:r>
              <a:rPr lang="de-DE" dirty="0"/>
              <a:t> the </a:t>
            </a:r>
            <a:r>
              <a:rPr lang="de-DE" dirty="0" err="1"/>
              <a:t>text</a:t>
            </a:r>
            <a:r>
              <a:rPr lang="de-DE" dirty="0"/>
              <a:t> </a:t>
            </a:r>
            <a:r>
              <a:rPr lang="de-DE" dirty="0" err="1"/>
              <a:t>is</a:t>
            </a:r>
            <a:r>
              <a:rPr lang="de-DE" dirty="0"/>
              <a:t> </a:t>
            </a:r>
            <a:r>
              <a:rPr lang="de-DE" dirty="0" err="1"/>
              <a:t>reflowed</a:t>
            </a:r>
            <a:r>
              <a:rPr lang="de-DE" dirty="0"/>
              <a:t> to </a:t>
            </a:r>
            <a:r>
              <a:rPr lang="de-DE" dirty="0" err="1"/>
              <a:t>create</a:t>
            </a:r>
            <a:r>
              <a:rPr lang="de-DE" dirty="0"/>
              <a:t> </a:t>
            </a:r>
            <a:r>
              <a:rPr lang="de-DE" dirty="0" err="1"/>
              <a:t>space</a:t>
            </a:r>
            <a:endParaRPr lang="de-DE" dirty="0"/>
          </a:p>
          <a:p>
            <a:endParaRPr lang="de-DE" dirty="0"/>
          </a:p>
          <a:p>
            <a:r>
              <a:rPr lang="de-DE" dirty="0" err="1"/>
              <a:t>Or</a:t>
            </a:r>
            <a:r>
              <a:rPr lang="de-DE" dirty="0"/>
              <a:t> </a:t>
            </a:r>
            <a:r>
              <a:rPr lang="de-DE" dirty="0" err="1"/>
              <a:t>persisten</a:t>
            </a:r>
            <a:endParaRPr lang="de-DE" dirty="0"/>
          </a:p>
          <a:p>
            <a:endParaRPr lang="de-DE" dirty="0"/>
          </a:p>
          <a:p>
            <a:endParaRPr lang="de-DE" dirty="0"/>
          </a:p>
          <a:p>
            <a:r>
              <a:rPr lang="de-DE" dirty="0" err="1"/>
              <a:t>Filtering</a:t>
            </a:r>
            <a:r>
              <a:rPr lang="de-DE" dirty="0"/>
              <a:t> -&gt; User </a:t>
            </a:r>
            <a:r>
              <a:rPr lang="de-DE" dirty="0" err="1"/>
              <a:t>can</a:t>
            </a:r>
            <a:r>
              <a:rPr lang="de-DE" dirty="0"/>
              <a:t> </a:t>
            </a:r>
            <a:r>
              <a:rPr lang="de-DE" dirty="0" err="1"/>
              <a:t>keep</a:t>
            </a:r>
            <a:r>
              <a:rPr lang="de-DE" dirty="0"/>
              <a:t> relevant </a:t>
            </a:r>
            <a:r>
              <a:rPr lang="de-DE" dirty="0" err="1"/>
              <a:t>visuals</a:t>
            </a:r>
            <a:r>
              <a:rPr lang="de-DE" dirty="0"/>
              <a:t>; Helps to </a:t>
            </a:r>
            <a:r>
              <a:rPr lang="de-DE" dirty="0" err="1"/>
              <a:t>focus</a:t>
            </a:r>
            <a:r>
              <a:rPr lang="de-DE" dirty="0"/>
              <a:t> on the </a:t>
            </a:r>
            <a:r>
              <a:rPr lang="de-DE" dirty="0" err="1"/>
              <a:t>charts</a:t>
            </a:r>
            <a:r>
              <a:rPr lang="de-DE" dirty="0"/>
              <a:t> </a:t>
            </a:r>
            <a:r>
              <a:rPr lang="de-DE" dirty="0" err="1"/>
              <a:t>that</a:t>
            </a:r>
            <a:r>
              <a:rPr lang="de-DE" dirty="0"/>
              <a:t> matter.</a:t>
            </a:r>
          </a:p>
        </p:txBody>
      </p:sp>
      <p:sp>
        <p:nvSpPr>
          <p:cNvPr id="4" name="Foliennummernplatzhalter 3"/>
          <p:cNvSpPr>
            <a:spLocks noGrp="1"/>
          </p:cNvSpPr>
          <p:nvPr>
            <p:ph type="sldNum" sz="quarter" idx="5"/>
          </p:nvPr>
        </p:nvSpPr>
        <p:spPr/>
        <p:txBody>
          <a:bodyPr/>
          <a:lstStyle/>
          <a:p>
            <a:fld id="{2018D36A-6E4D-4428-B64C-4D7AF0B117B1}" type="slidenum">
              <a:rPr lang="de-DE" smtClean="0"/>
              <a:t>6</a:t>
            </a:fld>
            <a:endParaRPr lang="de-DE"/>
          </a:p>
        </p:txBody>
      </p:sp>
    </p:spTree>
    <p:extLst>
      <p:ext uri="{BB962C8B-B14F-4D97-AF65-F5344CB8AC3E}">
        <p14:creationId xmlns:p14="http://schemas.microsoft.com/office/powerpoint/2010/main" val="35527808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Aligning</a:t>
            </a:r>
          </a:p>
          <a:p>
            <a:pPr marL="285750" indent="-285750">
              <a:buFont typeface="Arial" panose="020B0604020202020204" pitchFamily="34" charset="0"/>
              <a:buChar char="•"/>
            </a:pPr>
            <a:r>
              <a:rPr lang="de-DE" sz="1200" dirty="0" err="1"/>
              <a:t>Column-align</a:t>
            </a:r>
            <a:r>
              <a:rPr lang="de-DE" sz="1200" dirty="0"/>
              <a:t> </a:t>
            </a:r>
            <a:r>
              <a:rPr lang="de-DE" sz="1200" dirty="0">
                <a:sym typeface="Wingdings" panose="05000000000000000000" pitchFamily="2" charset="2"/>
              </a:rPr>
              <a:t> </a:t>
            </a:r>
            <a:r>
              <a:rPr lang="de-DE" sz="1200" dirty="0" err="1">
                <a:sym typeface="Wingdings" panose="05000000000000000000" pitchFamily="2" charset="2"/>
              </a:rPr>
              <a:t>compare</a:t>
            </a:r>
            <a:r>
              <a:rPr lang="de-DE" sz="1200" dirty="0">
                <a:sym typeface="Wingdings" panose="05000000000000000000" pitchFamily="2" charset="2"/>
              </a:rPr>
              <a:t> on the x-</a:t>
            </a:r>
            <a:r>
              <a:rPr lang="de-DE" sz="1200" dirty="0" err="1">
                <a:sym typeface="Wingdings" panose="05000000000000000000" pitchFamily="2" charset="2"/>
              </a:rPr>
              <a:t>axis</a:t>
            </a:r>
            <a:endParaRPr lang="de-DE" sz="1200" dirty="0">
              <a:sym typeface="Wingdings" panose="05000000000000000000" pitchFamily="2" charset="2"/>
            </a:endParaRPr>
          </a:p>
          <a:p>
            <a:pPr marL="285750" indent="-285750">
              <a:buFont typeface="Arial" panose="020B0604020202020204" pitchFamily="34" charset="0"/>
              <a:buChar char="•"/>
            </a:pPr>
            <a:r>
              <a:rPr lang="de-DE" sz="1200" dirty="0">
                <a:sym typeface="Wingdings" panose="05000000000000000000" pitchFamily="2" charset="2"/>
              </a:rPr>
              <a:t>Axis-</a:t>
            </a:r>
            <a:r>
              <a:rPr lang="de-DE" sz="1200" dirty="0" err="1">
                <a:sym typeface="Wingdings" panose="05000000000000000000" pitchFamily="2" charset="2"/>
              </a:rPr>
              <a:t>align</a:t>
            </a:r>
            <a:r>
              <a:rPr lang="de-DE" sz="1200" dirty="0">
                <a:sym typeface="Wingdings" panose="05000000000000000000" pitchFamily="2" charset="2"/>
              </a:rPr>
              <a:t>  </a:t>
            </a:r>
            <a:r>
              <a:rPr lang="de-DE" sz="1200" dirty="0" err="1">
                <a:sym typeface="Wingdings" panose="05000000000000000000" pitchFamily="2" charset="2"/>
              </a:rPr>
              <a:t>shifted</a:t>
            </a:r>
            <a:r>
              <a:rPr lang="de-DE" sz="1200" dirty="0">
                <a:sym typeface="Wingdings" panose="05000000000000000000" pitchFamily="2" charset="2"/>
              </a:rPr>
              <a:t> x-</a:t>
            </a:r>
            <a:r>
              <a:rPr lang="de-DE" sz="1200" dirty="0" err="1">
                <a:sym typeface="Wingdings" panose="05000000000000000000" pitchFamily="2" charset="2"/>
              </a:rPr>
              <a:t>axis</a:t>
            </a:r>
            <a:r>
              <a:rPr lang="de-DE" sz="1200" dirty="0">
                <a:sym typeface="Wingdings" panose="05000000000000000000" pitchFamily="2" charset="2"/>
              </a:rPr>
              <a:t>, </a:t>
            </a:r>
            <a:r>
              <a:rPr lang="de-DE" sz="1200" dirty="0" err="1">
                <a:sym typeface="Wingdings" panose="05000000000000000000" pitchFamily="2" charset="2"/>
              </a:rPr>
              <a:t>one</a:t>
            </a:r>
            <a:r>
              <a:rPr lang="de-DE" sz="1200" dirty="0">
                <a:sym typeface="Wingdings" panose="05000000000000000000" pitchFamily="2" charset="2"/>
              </a:rPr>
              <a:t> </a:t>
            </a:r>
            <a:r>
              <a:rPr lang="de-DE" sz="1200" dirty="0" err="1">
                <a:sym typeface="Wingdings" panose="05000000000000000000" pitchFamily="2" charset="2"/>
              </a:rPr>
              <a:t>data</a:t>
            </a:r>
            <a:r>
              <a:rPr lang="de-DE" sz="1200" dirty="0">
                <a:sym typeface="Wingdings" panose="05000000000000000000" pitchFamily="2" charset="2"/>
              </a:rPr>
              <a:t> </a:t>
            </a:r>
            <a:r>
              <a:rPr lang="de-DE" sz="1200" dirty="0" err="1">
                <a:sym typeface="Wingdings" panose="05000000000000000000" pitchFamily="2" charset="2"/>
              </a:rPr>
              <a:t>point</a:t>
            </a:r>
            <a:r>
              <a:rPr lang="de-DE" sz="1200" dirty="0">
                <a:sym typeface="Wingdings" panose="05000000000000000000" pitchFamily="2" charset="2"/>
              </a:rPr>
              <a:t> in the </a:t>
            </a:r>
            <a:r>
              <a:rPr lang="de-DE" sz="1200" dirty="0" err="1">
                <a:sym typeface="Wingdings" panose="05000000000000000000" pitchFamily="2" charset="2"/>
              </a:rPr>
              <a:t>center</a:t>
            </a:r>
            <a:endParaRPr lang="de-DE" sz="1200" dirty="0">
              <a:sym typeface="Wingdings" panose="05000000000000000000" pitchFamily="2" charset="2"/>
            </a:endParaRPr>
          </a:p>
          <a:p>
            <a:pPr marL="285750" indent="-285750">
              <a:buFont typeface="Arial" panose="020B0604020202020204" pitchFamily="34" charset="0"/>
              <a:buChar char="•"/>
            </a:pPr>
            <a:r>
              <a:rPr lang="de-DE" sz="1200" dirty="0">
                <a:sym typeface="Wingdings" panose="05000000000000000000" pitchFamily="2" charset="2"/>
              </a:rPr>
              <a:t>Pan-</a:t>
            </a:r>
            <a:r>
              <a:rPr lang="de-DE" sz="1200" dirty="0" err="1">
                <a:sym typeface="Wingdings" panose="05000000000000000000" pitchFamily="2" charset="2"/>
              </a:rPr>
              <a:t>align</a:t>
            </a:r>
            <a:r>
              <a:rPr lang="de-DE" sz="1200" dirty="0">
                <a:sym typeface="Wingdings" panose="05000000000000000000" pitchFamily="2" charset="2"/>
              </a:rPr>
              <a:t>  </a:t>
            </a:r>
            <a:r>
              <a:rPr lang="de-DE" sz="1200" dirty="0" err="1">
                <a:sym typeface="Wingdings" panose="05000000000000000000" pitchFamily="2" charset="2"/>
              </a:rPr>
              <a:t>interactive</a:t>
            </a:r>
            <a:r>
              <a:rPr lang="de-DE" sz="1200" dirty="0">
                <a:sym typeface="Wingdings" panose="05000000000000000000" pitchFamily="2" charset="2"/>
              </a:rPr>
              <a:t> </a:t>
            </a:r>
            <a:r>
              <a:rPr lang="de-DE" sz="1200" dirty="0" err="1">
                <a:sym typeface="Wingdings" panose="05000000000000000000" pitchFamily="2" charset="2"/>
              </a:rPr>
              <a:t>side</a:t>
            </a:r>
            <a:r>
              <a:rPr lang="de-DE" sz="1200" dirty="0">
                <a:sym typeface="Wingdings" panose="05000000000000000000" pitchFamily="2" charset="2"/>
              </a:rPr>
              <a:t> by </a:t>
            </a:r>
            <a:r>
              <a:rPr lang="de-DE" sz="1200" dirty="0" err="1">
                <a:sym typeface="Wingdings" panose="05000000000000000000" pitchFamily="2" charset="2"/>
              </a:rPr>
              <a:t>side</a:t>
            </a:r>
            <a:endParaRPr lang="de-DE"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noProof="0" dirty="0"/>
              <a:t>Different chart types need to be grouped before comparison</a:t>
            </a:r>
            <a:endParaRPr lang="en-US" dirty="0"/>
          </a:p>
          <a:p>
            <a:endParaRPr lang="en-US" dirty="0"/>
          </a:p>
          <a:p>
            <a:r>
              <a:rPr lang="en-US" dirty="0"/>
              <a:t>Direct Comparison</a:t>
            </a:r>
          </a:p>
          <a:p>
            <a:r>
              <a:rPr lang="en-US" dirty="0"/>
              <a:t>Brushing 	</a:t>
            </a:r>
            <a:r>
              <a:rPr lang="en-US" dirty="0">
                <a:sym typeface="Wingdings" panose="05000000000000000000" pitchFamily="2" charset="2"/>
              </a:rPr>
              <a:t> highlighting corresponding values in other charts (mouse move on the chart)</a:t>
            </a:r>
          </a:p>
          <a:p>
            <a:r>
              <a:rPr lang="en-US" dirty="0">
                <a:sym typeface="Wingdings" panose="05000000000000000000" pitchFamily="2" charset="2"/>
              </a:rPr>
              <a:t>Drag 	 Superimpose two visualizations on top of each other</a:t>
            </a:r>
          </a:p>
          <a:p>
            <a:r>
              <a:rPr lang="en-US" dirty="0">
                <a:sym typeface="Wingdings" panose="05000000000000000000" pitchFamily="2" charset="2"/>
              </a:rPr>
              <a:t>     	 Compute a Diff (or other things) between the charts</a:t>
            </a:r>
            <a:endParaRPr lang="en-US" dirty="0"/>
          </a:p>
        </p:txBody>
      </p:sp>
      <p:sp>
        <p:nvSpPr>
          <p:cNvPr id="4" name="Foliennummernplatzhalter 3"/>
          <p:cNvSpPr>
            <a:spLocks noGrp="1"/>
          </p:cNvSpPr>
          <p:nvPr>
            <p:ph type="sldNum" sz="quarter" idx="5"/>
          </p:nvPr>
        </p:nvSpPr>
        <p:spPr/>
        <p:txBody>
          <a:bodyPr/>
          <a:lstStyle/>
          <a:p>
            <a:fld id="{56C40E04-0315-4801-B8FF-749031B79DA1}" type="slidenum">
              <a:rPr lang="de-DE" smtClean="0"/>
              <a:t>7</a:t>
            </a:fld>
            <a:endParaRPr lang="de-DE"/>
          </a:p>
        </p:txBody>
      </p:sp>
    </p:spTree>
    <p:extLst>
      <p:ext uri="{BB962C8B-B14F-4D97-AF65-F5344CB8AC3E}">
        <p14:creationId xmlns:p14="http://schemas.microsoft.com/office/powerpoint/2010/main" val="32644752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Navigating the Document</a:t>
            </a:r>
          </a:p>
          <a:p>
            <a:pPr marL="171450" indent="-171450">
              <a:buFont typeface="Arial" panose="020B0604020202020204" pitchFamily="34" charset="0"/>
              <a:buChar char="•"/>
            </a:pPr>
            <a:r>
              <a:rPr lang="en-US" dirty="0"/>
              <a:t>ad-hoc transitions between reading a document and exploring associated data</a:t>
            </a:r>
          </a:p>
          <a:p>
            <a:pPr marL="171450" indent="-171450">
              <a:buFont typeface="Arial" panose="020B0604020202020204" pitchFamily="34" charset="0"/>
              <a:buChar char="•"/>
            </a:pPr>
            <a:r>
              <a:rPr lang="en-US" dirty="0"/>
              <a:t>jump from a collected word-scale visualization back to its original position in the document supports fluid transitions </a:t>
            </a:r>
          </a:p>
          <a:p>
            <a:endParaRPr lang="en-US" dirty="0"/>
          </a:p>
          <a:p>
            <a:r>
              <a:rPr lang="en-US" dirty="0"/>
              <a:t>Navigation interactions exhibit two core properties </a:t>
            </a:r>
          </a:p>
          <a:p>
            <a:pPr marL="171450" indent="-171450">
              <a:buFont typeface="Wingdings" panose="05000000000000000000" pitchFamily="2" charset="2"/>
              <a:buChar char="à"/>
            </a:pPr>
            <a:r>
              <a:rPr lang="en-US" dirty="0"/>
              <a:t>promoting flow </a:t>
            </a:r>
          </a:p>
          <a:p>
            <a:r>
              <a:rPr lang="en-US" dirty="0">
                <a:sym typeface="Wingdings" panose="05000000000000000000" pitchFamily="2" charset="2"/>
              </a:rPr>
              <a:t> </a:t>
            </a:r>
            <a:r>
              <a:rPr lang="en-US" dirty="0"/>
              <a:t>enabling seamless switching between exploration and reading</a:t>
            </a:r>
          </a:p>
          <a:p>
            <a:endParaRPr lang="en-US" dirty="0"/>
          </a:p>
          <a:p>
            <a:r>
              <a:rPr lang="en-US" dirty="0"/>
              <a:t>word-scale visualizations can serve as an index or entry point</a:t>
            </a:r>
          </a:p>
          <a:p>
            <a:r>
              <a:rPr lang="en-US" dirty="0"/>
              <a:t>into the document</a:t>
            </a:r>
          </a:p>
          <a:p>
            <a:endParaRPr lang="en-US" dirty="0"/>
          </a:p>
          <a:p>
            <a:r>
              <a:rPr lang="en-US" dirty="0"/>
              <a:t>Word-scale visualizations in documents are useful, in part,</a:t>
            </a:r>
          </a:p>
          <a:p>
            <a:r>
              <a:rPr lang="en-US" dirty="0"/>
              <a:t>because they support ad-hoc transitions between reading a</a:t>
            </a:r>
          </a:p>
          <a:p>
            <a:r>
              <a:rPr lang="en-US" dirty="0"/>
              <a:t>document and exploring associated data. Interactions that al-</a:t>
            </a:r>
          </a:p>
          <a:p>
            <a:r>
              <a:rPr lang="en-US" dirty="0"/>
              <a:t>low a reader to jump from a collected word-scale visualization</a:t>
            </a:r>
          </a:p>
          <a:p>
            <a:r>
              <a:rPr lang="en-US" dirty="0"/>
              <a:t>back to its original position in the document supports fluid</a:t>
            </a:r>
          </a:p>
          <a:p>
            <a:r>
              <a:rPr lang="en-US" dirty="0"/>
              <a:t>transitions between these modes. These kinds of navigation</a:t>
            </a:r>
          </a:p>
          <a:p>
            <a:r>
              <a:rPr lang="en-US" dirty="0"/>
              <a:t>interactions exhibit two properties of Elmqvist et al.’s [28]</a:t>
            </a:r>
          </a:p>
          <a:p>
            <a:r>
              <a:rPr lang="en-US" dirty="0"/>
              <a:t>characterization of fluid interfaces, promoting flow and </a:t>
            </a:r>
            <a:r>
              <a:rPr lang="en-US" dirty="0" err="1"/>
              <a:t>en</a:t>
            </a:r>
            <a:r>
              <a:rPr lang="en-US" dirty="0"/>
              <a:t>-</a:t>
            </a:r>
          </a:p>
          <a:p>
            <a:r>
              <a:rPr lang="en-US" dirty="0" err="1"/>
              <a:t>abling</a:t>
            </a:r>
            <a:r>
              <a:rPr lang="en-US" dirty="0"/>
              <a:t> seamless switching between exploration and </a:t>
            </a:r>
            <a:r>
              <a:rPr lang="en-US" dirty="0" err="1"/>
              <a:t>reading.NAVIGATION</a:t>
            </a:r>
            <a:endParaRPr lang="en-US" dirty="0"/>
          </a:p>
          <a:p>
            <a:r>
              <a:rPr lang="en-US" dirty="0"/>
              <a:t>2</a:t>
            </a:r>
          </a:p>
          <a:p>
            <a:r>
              <a:rPr lang="en-US" dirty="0"/>
              <a:t>start ... end</a:t>
            </a:r>
          </a:p>
          <a:p>
            <a:r>
              <a:rPr lang="en-US" dirty="0"/>
              <a:t>With these kinds of navigation interactions, sets of collected</a:t>
            </a:r>
          </a:p>
          <a:p>
            <a:r>
              <a:rPr lang="en-US" dirty="0"/>
              <a:t>word-scale visualizations can serve as an index or entry point</a:t>
            </a:r>
          </a:p>
          <a:p>
            <a:r>
              <a:rPr lang="en-US" dirty="0"/>
              <a:t>into the document, providing graphical overviews reminiscent</a:t>
            </a:r>
          </a:p>
          <a:p>
            <a:r>
              <a:rPr lang="en-US" dirty="0"/>
              <a:t>of interfaces like Koch et al.’s “</a:t>
            </a:r>
            <a:r>
              <a:rPr lang="en-US" dirty="0" err="1"/>
              <a:t>VarifocalReader</a:t>
            </a:r>
            <a:r>
              <a:rPr lang="en-US" dirty="0"/>
              <a:t>” [37].</a:t>
            </a:r>
            <a:endParaRPr lang="de-DE" dirty="0"/>
          </a:p>
        </p:txBody>
      </p:sp>
      <p:sp>
        <p:nvSpPr>
          <p:cNvPr id="4" name="Foliennummernplatzhalter 3"/>
          <p:cNvSpPr>
            <a:spLocks noGrp="1"/>
          </p:cNvSpPr>
          <p:nvPr>
            <p:ph type="sldNum" sz="quarter" idx="5"/>
          </p:nvPr>
        </p:nvSpPr>
        <p:spPr/>
        <p:txBody>
          <a:bodyPr/>
          <a:lstStyle/>
          <a:p>
            <a:fld id="{56C40E04-0315-4801-B8FF-749031B79DA1}" type="slidenum">
              <a:rPr lang="de-DE" smtClean="0"/>
              <a:t>8</a:t>
            </a:fld>
            <a:endParaRPr lang="de-DE"/>
          </a:p>
        </p:txBody>
      </p:sp>
    </p:spTree>
    <p:extLst>
      <p:ext uri="{BB962C8B-B14F-4D97-AF65-F5344CB8AC3E}">
        <p14:creationId xmlns:p14="http://schemas.microsoft.com/office/powerpoint/2010/main" val="32766717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Participants</a:t>
            </a:r>
          </a:p>
          <a:p>
            <a:r>
              <a:rPr lang="en-US" dirty="0"/>
              <a:t>6 female and 6 male</a:t>
            </a:r>
          </a:p>
          <a:p>
            <a:r>
              <a:rPr lang="en-US" dirty="0"/>
              <a:t>ages 20–30 years (9), 31–40 (1), and 41–50 (2)</a:t>
            </a:r>
          </a:p>
          <a:p>
            <a:endParaRPr lang="en-US" dirty="0"/>
          </a:p>
          <a:p>
            <a:r>
              <a:rPr lang="en-US" dirty="0"/>
              <a:t>3 undergraduates, </a:t>
            </a:r>
          </a:p>
          <a:p>
            <a:r>
              <a:rPr lang="en-US" dirty="0"/>
              <a:t>4 PhD researchers, </a:t>
            </a:r>
          </a:p>
          <a:p>
            <a:r>
              <a:rPr lang="en-US" dirty="0"/>
              <a:t>2 postdocs, </a:t>
            </a:r>
          </a:p>
          <a:p>
            <a:r>
              <a:rPr lang="en-US" dirty="0"/>
              <a:t>1 designer, </a:t>
            </a:r>
          </a:p>
          <a:p>
            <a:r>
              <a:rPr lang="en-US" dirty="0"/>
              <a:t>1 engineer, </a:t>
            </a:r>
          </a:p>
          <a:p>
            <a:r>
              <a:rPr lang="en-US" dirty="0"/>
              <a:t>1 researcher. </a:t>
            </a:r>
          </a:p>
          <a:p>
            <a:endParaRPr lang="en-US" dirty="0"/>
          </a:p>
          <a:p>
            <a:r>
              <a:rPr lang="en-US" dirty="0"/>
              <a:t>expertise in</a:t>
            </a:r>
          </a:p>
          <a:p>
            <a:r>
              <a:rPr lang="en-US" dirty="0"/>
              <a:t>visualization HCI (8), </a:t>
            </a:r>
          </a:p>
          <a:p>
            <a:r>
              <a:rPr lang="en-US" dirty="0"/>
              <a:t>Computer science (2), </a:t>
            </a:r>
          </a:p>
          <a:p>
            <a:r>
              <a:rPr lang="en-US" dirty="0"/>
              <a:t>topology (1), and publications/web design (1).</a:t>
            </a:r>
            <a:br>
              <a:rPr lang="en-US" dirty="0"/>
            </a:br>
            <a:br>
              <a:rPr lang="en-US" dirty="0"/>
            </a:br>
            <a:r>
              <a:rPr lang="en-US" b="1" dirty="0"/>
              <a:t>Experiment 1</a:t>
            </a:r>
            <a:r>
              <a:rPr lang="en-US" dirty="0"/>
              <a:t>, </a:t>
            </a:r>
          </a:p>
          <a:p>
            <a:pPr marL="171450" indent="-171450">
              <a:buFontTx/>
              <a:buChar char="-"/>
            </a:pPr>
            <a:r>
              <a:rPr lang="en-US" dirty="0"/>
              <a:t>Only grid layout, brushing and linking</a:t>
            </a:r>
          </a:p>
          <a:p>
            <a:pPr marL="171450" indent="-171450">
              <a:buFontTx/>
              <a:buChar char="-"/>
            </a:pPr>
            <a:r>
              <a:rPr lang="en-US" dirty="0"/>
              <a:t>a short news article (756-1368 words, SD=132) with word-scale charts for 16-27 (SD=3) stocks or indexes</a:t>
            </a:r>
          </a:p>
          <a:p>
            <a:pPr marL="171450" indent="-171450">
              <a:buFontTx/>
              <a:buChar char="-"/>
            </a:pPr>
            <a:r>
              <a:rPr lang="en-US" dirty="0"/>
              <a:t>Two tasks:</a:t>
            </a:r>
          </a:p>
          <a:p>
            <a:pPr marL="628650" lvl="1" indent="-171450">
              <a:buFontTx/>
              <a:buChar char="-"/>
            </a:pPr>
            <a:r>
              <a:rPr lang="en-US" dirty="0"/>
              <a:t>Search </a:t>
            </a:r>
          </a:p>
          <a:p>
            <a:pPr marL="628650" lvl="1" indent="-171450">
              <a:buFontTx/>
              <a:buChar char="-"/>
            </a:pPr>
            <a:r>
              <a:rPr lang="en-US" dirty="0"/>
              <a:t>Compare and identify a single outlier</a:t>
            </a:r>
          </a:p>
          <a:p>
            <a:pPr marL="0" indent="0">
              <a:buFontTx/>
              <a:buNone/>
            </a:pPr>
            <a:endParaRPr lang="en-US" dirty="0"/>
          </a:p>
          <a:p>
            <a:pPr marL="0" indent="0">
              <a:buFontTx/>
              <a:buNone/>
            </a:pPr>
            <a:r>
              <a:rPr lang="en-US" b="1" i="1" dirty="0"/>
              <a:t>Search. </a:t>
            </a:r>
            <a:r>
              <a:rPr lang="en-US" i="1" dirty="0"/>
              <a:t>“Did the stock price for LUV spend the majority of the previous month above or below its starting value?”</a:t>
            </a:r>
          </a:p>
          <a:p>
            <a:r>
              <a:rPr lang="en-US" b="1" i="1" dirty="0"/>
              <a:t>Compare</a:t>
            </a:r>
            <a:r>
              <a:rPr lang="en-US" i="1" dirty="0"/>
              <a:t>. “Over the whole period, which stock had the smallest number of days between its highest and lowest points?”</a:t>
            </a:r>
          </a:p>
          <a:p>
            <a:endParaRPr lang="en-US" b="1" dirty="0"/>
          </a:p>
          <a:p>
            <a:r>
              <a:rPr lang="en-US" b="1" dirty="0"/>
              <a:t>To different measurements:</a:t>
            </a:r>
          </a:p>
          <a:p>
            <a:r>
              <a:rPr lang="en-US" dirty="0"/>
              <a:t>Static. Participants could scroll through the article, but could not gather or sort word-scale visualizations.</a:t>
            </a:r>
          </a:p>
          <a:p>
            <a:r>
              <a:rPr lang="en-US" dirty="0"/>
              <a:t>Interactive. Participants could gather all word-scale visualizations into the grid layout, sort them by position in the</a:t>
            </a:r>
          </a:p>
          <a:p>
            <a:r>
              <a:rPr lang="en-US" dirty="0"/>
              <a:t>document, by last value, or by entity name.</a:t>
            </a:r>
            <a:br>
              <a:rPr lang="en-US" dirty="0"/>
            </a:br>
            <a:br>
              <a:rPr lang="en-US" dirty="0"/>
            </a:br>
            <a:r>
              <a:rPr lang="en-US" b="1" dirty="0"/>
              <a:t>Figure 4</a:t>
            </a:r>
          </a:p>
          <a:p>
            <a:pPr marL="171450" indent="-171450">
              <a:buFont typeface="Arial" panose="020B0604020202020204" pitchFamily="34" charset="0"/>
              <a:buChar char="•"/>
            </a:pPr>
            <a:r>
              <a:rPr lang="en-US" dirty="0"/>
              <a:t>For search no evidence for a difference in speed </a:t>
            </a:r>
            <a:r>
              <a:rPr lang="en-US" i="1" dirty="0"/>
              <a:t>between the static (M=11.6s, CI=[10.5s,12.8s]) and the interactive condition (M=11.6s, CI=[10.2s,13.2s], Figure 4). </a:t>
            </a:r>
          </a:p>
          <a:p>
            <a:pPr marL="171450" indent="-171450">
              <a:buFont typeface="Arial" panose="020B0604020202020204" pitchFamily="34" charset="0"/>
              <a:buChar char="•"/>
            </a:pPr>
            <a:r>
              <a:rPr lang="en-US" dirty="0"/>
              <a:t>In comparison tasks, participants were faster in the interactive condition </a:t>
            </a:r>
            <a:r>
              <a:rPr lang="en-US" i="1" dirty="0"/>
              <a:t>(M=18.2s,CI=[16.0s,21.3s]) than the static (M=22.1s, CI=[19.1s,27.0s]).</a:t>
            </a:r>
          </a:p>
          <a:p>
            <a:endParaRPr lang="en-US" dirty="0"/>
          </a:p>
          <a:p>
            <a:r>
              <a:rPr lang="en-US" b="1" dirty="0"/>
              <a:t>Figure 6</a:t>
            </a:r>
          </a:p>
          <a:p>
            <a:pPr marL="171450" indent="-171450">
              <a:buFont typeface="Arial" panose="020B0604020202020204" pitchFamily="34" charset="0"/>
              <a:buChar char="•"/>
            </a:pPr>
            <a:r>
              <a:rPr lang="en-US" dirty="0"/>
              <a:t>dramatic differences in amount of scrolling </a:t>
            </a:r>
          </a:p>
          <a:p>
            <a:pPr marL="171450" indent="-171450">
              <a:buFont typeface="Arial" panose="020B0604020202020204" pitchFamily="34" charset="0"/>
              <a:buChar char="•"/>
            </a:pPr>
            <a:r>
              <a:rPr lang="en-US" dirty="0"/>
              <a:t>During search tasks, participants scrolled an average of 1956 pixels (CI=[1801,2184]) in the static condition, </a:t>
            </a:r>
          </a:p>
          <a:p>
            <a:pPr marL="171450" indent="-171450">
              <a:buFont typeface="Arial" panose="020B0604020202020204" pitchFamily="34" charset="0"/>
              <a:buChar char="•"/>
            </a:pPr>
            <a:r>
              <a:rPr lang="en-US" b="1" dirty="0"/>
              <a:t>four times</a:t>
            </a:r>
            <a:r>
              <a:rPr lang="en-US" dirty="0"/>
              <a:t> as far as in the interactive condition (M=472 </a:t>
            </a:r>
            <a:r>
              <a:rPr lang="en-US" dirty="0" err="1"/>
              <a:t>pixels,CI</a:t>
            </a:r>
            <a:r>
              <a:rPr lang="en-US" dirty="0"/>
              <a:t>=[75,1060]). </a:t>
            </a:r>
          </a:p>
          <a:p>
            <a:pPr marL="171450" indent="-171450">
              <a:buFont typeface="Arial" panose="020B0604020202020204" pitchFamily="34" charset="0"/>
              <a:buChar char="•"/>
            </a:pPr>
            <a:r>
              <a:rPr lang="en-US" dirty="0"/>
              <a:t>even more pronounced for comparison tasks, with participants scrolling </a:t>
            </a:r>
          </a:p>
          <a:p>
            <a:pPr marL="171450" indent="-171450">
              <a:buFont typeface="Arial" panose="020B0604020202020204" pitchFamily="34" charset="0"/>
              <a:buChar char="•"/>
            </a:pPr>
            <a:r>
              <a:rPr lang="en-US" b="1" dirty="0"/>
              <a:t>roughly 80 times </a:t>
            </a:r>
            <a:r>
              <a:rPr lang="en-US" dirty="0"/>
              <a:t>as far in the static condition (M=3894 pixels, CI=[3271,4732])</a:t>
            </a:r>
          </a:p>
          <a:p>
            <a:endParaRPr lang="en-US" dirty="0"/>
          </a:p>
          <a:p>
            <a:r>
              <a:rPr lang="en-US" b="1" dirty="0"/>
              <a:t>Summary</a:t>
            </a:r>
          </a:p>
          <a:p>
            <a:pPr marL="171450" indent="-171450">
              <a:buFont typeface="Arial" panose="020B0604020202020204" pitchFamily="34" charset="0"/>
              <a:buChar char="•"/>
            </a:pPr>
            <a:r>
              <a:rPr lang="en-US" dirty="0"/>
              <a:t>Participants found both the </a:t>
            </a:r>
            <a:r>
              <a:rPr lang="en-US" b="1" dirty="0"/>
              <a:t>static</a:t>
            </a:r>
            <a:r>
              <a:rPr lang="en-US" dirty="0"/>
              <a:t> and the </a:t>
            </a:r>
            <a:r>
              <a:rPr lang="en-US" b="1" dirty="0"/>
              <a:t>interactive</a:t>
            </a:r>
            <a:r>
              <a:rPr lang="en-US" dirty="0"/>
              <a:t> word-</a:t>
            </a:r>
          </a:p>
          <a:p>
            <a:pPr marL="171450" indent="-171450">
              <a:buFont typeface="Arial" panose="020B0604020202020204" pitchFamily="34" charset="0"/>
              <a:buChar char="•"/>
            </a:pPr>
            <a:r>
              <a:rPr lang="en-US" dirty="0"/>
              <a:t>scale visualization helpful and useful for the given tasks. </a:t>
            </a:r>
          </a:p>
          <a:p>
            <a:pPr marL="0" indent="0">
              <a:buFont typeface="Arial" panose="020B0604020202020204" pitchFamily="34" charset="0"/>
              <a:buNone/>
            </a:pPr>
            <a:endParaRPr lang="en-US" dirty="0"/>
          </a:p>
          <a:p>
            <a:pPr marL="171450" indent="-171450">
              <a:buFont typeface="Arial" panose="020B0604020202020204" pitchFamily="34" charset="0"/>
              <a:buChar char="•"/>
            </a:pPr>
            <a:r>
              <a:rPr lang="en-US" dirty="0"/>
              <a:t>chose the interactive features when available</a:t>
            </a:r>
          </a:p>
          <a:p>
            <a:pPr marL="171450" indent="-171450">
              <a:buFont typeface="Arial" panose="020B0604020202020204" pitchFamily="34" charset="0"/>
              <a:buChar char="•"/>
            </a:pPr>
            <a:r>
              <a:rPr lang="en-US" dirty="0"/>
              <a:t>ease of comparison </a:t>
            </a:r>
          </a:p>
          <a:p>
            <a:pPr marL="171450" indent="-171450">
              <a:buFont typeface="Arial" panose="020B0604020202020204" pitchFamily="34" charset="0"/>
              <a:buChar char="•"/>
            </a:pPr>
            <a:r>
              <a:rPr lang="en-US" dirty="0"/>
              <a:t>reduced need for scrolling. </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perceived reduction in task completion time</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We also collected suggestions from participants which included requests for faster gathering animations, showing arrangements next to the cursor, alternative grid arrangements and sorting options, as well as the ability to annotate word-scale visualizations.</a:t>
            </a:r>
          </a:p>
          <a:p>
            <a:pPr marL="171450" indent="-171450">
              <a:buFont typeface="Arial" panose="020B0604020202020204" pitchFamily="34" charset="0"/>
              <a:buChar char="•"/>
            </a:pPr>
            <a:endParaRPr lang="en-US" dirty="0"/>
          </a:p>
          <a:p>
            <a:endParaRPr lang="en-US" dirty="0"/>
          </a:p>
          <a:p>
            <a:r>
              <a:rPr lang="en-US" b="1" dirty="0"/>
              <a:t>Experiment 2: Open-Ended Exploration Task</a:t>
            </a:r>
          </a:p>
          <a:p>
            <a:r>
              <a:rPr lang="en-US" dirty="0"/>
              <a:t>use a broader set of view manipulation interactions to solve an open-ended analysis task. </a:t>
            </a:r>
          </a:p>
          <a:p>
            <a:r>
              <a:rPr lang="en-US" dirty="0"/>
              <a:t>3 MarketWatch articles from mid-2017. Two articles included 27 stock charts while the third included 20.</a:t>
            </a:r>
          </a:p>
          <a:p>
            <a:endParaRPr lang="en-US" dirty="0"/>
          </a:p>
          <a:p>
            <a:r>
              <a:rPr lang="en-US" dirty="0"/>
              <a:t>open-ended question to </a:t>
            </a:r>
            <a:r>
              <a:rPr lang="en-US" b="1" dirty="0"/>
              <a:t>make a decision </a:t>
            </a:r>
            <a:r>
              <a:rPr lang="en-US" dirty="0"/>
              <a:t>based on both the text and the word-scale visualizations:</a:t>
            </a:r>
          </a:p>
          <a:p>
            <a:endParaRPr lang="en-US" dirty="0"/>
          </a:p>
          <a:p>
            <a:r>
              <a:rPr lang="en-US" i="1" dirty="0"/>
              <a:t>Exploration Task. “Imagine that it is August 4th, 2017 and you are preparing to make some new investments. Using</a:t>
            </a:r>
          </a:p>
          <a:p>
            <a:r>
              <a:rPr lang="en-US" i="1" dirty="0"/>
              <a:t>the information in the 3 provided articles, list the top 3-5 stocks or indexes you would consider investing in and briefly</a:t>
            </a:r>
          </a:p>
          <a:p>
            <a:r>
              <a:rPr lang="en-US" i="1" dirty="0"/>
              <a:t>explain why you would choose each.”</a:t>
            </a:r>
          </a:p>
          <a:p>
            <a:endParaRPr lang="en-US" dirty="0"/>
          </a:p>
          <a:p>
            <a:pPr marL="171450" indent="-171450">
              <a:buFont typeface="Arial" panose="020B0604020202020204" pitchFamily="34" charset="0"/>
              <a:buChar char="•"/>
            </a:pPr>
            <a:r>
              <a:rPr lang="en-US" dirty="0"/>
              <a:t>all of the gathering, sorting, and brushing and linking interactions </a:t>
            </a:r>
            <a:r>
              <a:rPr lang="en-US" dirty="0" err="1"/>
              <a:t>fromExperiment</a:t>
            </a:r>
            <a:r>
              <a:rPr lang="en-US" dirty="0"/>
              <a:t> 1. </a:t>
            </a:r>
          </a:p>
          <a:p>
            <a:pPr marL="171450" indent="-171450">
              <a:buFont typeface="Arial" panose="020B0604020202020204" pitchFamily="34" charset="0"/>
              <a:buChar char="•"/>
            </a:pPr>
            <a:r>
              <a:rPr lang="en-US" dirty="0"/>
              <a:t>Additional layouts (grid, column, and row), </a:t>
            </a:r>
          </a:p>
          <a:p>
            <a:pPr marL="171450" indent="-171450">
              <a:buFont typeface="Arial" panose="020B0604020202020204" pitchFamily="34" charset="0"/>
              <a:buChar char="•"/>
            </a:pPr>
            <a:r>
              <a:rPr lang="en-US" dirty="0"/>
              <a:t>placement options (in-front and no-overlap), </a:t>
            </a:r>
          </a:p>
          <a:p>
            <a:pPr marL="171450" indent="-171450">
              <a:buFont typeface="Arial" panose="020B0604020202020204" pitchFamily="34" charset="0"/>
              <a:buChar char="•"/>
            </a:pPr>
            <a:r>
              <a:rPr lang="en-US" dirty="0"/>
              <a:t>alignments (column-aligned and row pan-aligned). </a:t>
            </a:r>
          </a:p>
          <a:p>
            <a:pPr marL="171450" indent="-171450">
              <a:buFont typeface="Arial" panose="020B0604020202020204" pitchFamily="34" charset="0"/>
              <a:buChar char="•"/>
            </a:pPr>
            <a:r>
              <a:rPr lang="en-US" dirty="0"/>
              <a:t>document navigation interaction, which allowed to navigate from visualizations back to positions in text. </a:t>
            </a:r>
          </a:p>
          <a:p>
            <a:pPr marL="171450" indent="-171450">
              <a:buFont typeface="Arial" panose="020B0604020202020204" pitchFamily="34" charset="0"/>
              <a:buChar char="•"/>
            </a:pPr>
            <a:r>
              <a:rPr lang="en-US" dirty="0"/>
              <a:t>simple hovering interaction, that allowed participants to see where in the document a word-scale visualization came from. </a:t>
            </a:r>
          </a:p>
          <a:p>
            <a:endParaRPr lang="en-US" dirty="0"/>
          </a:p>
          <a:p>
            <a:r>
              <a:rPr lang="en-US" b="1" dirty="0"/>
              <a:t>Experiment 2</a:t>
            </a:r>
          </a:p>
          <a:p>
            <a:pPr marL="171450" indent="-171450">
              <a:buFont typeface="Arial" panose="020B0604020202020204" pitchFamily="34" charset="0"/>
              <a:buChar char="•"/>
            </a:pPr>
            <a:r>
              <a:rPr lang="en-US" dirty="0"/>
              <a:t>all participants except P07 used gathering to perform a visualization-centric analysis of the texts</a:t>
            </a:r>
          </a:p>
          <a:p>
            <a:pPr marL="171450" indent="-171450">
              <a:buFont typeface="Arial" panose="020B0604020202020204" pitchFamily="34" charset="0"/>
              <a:buChar char="•"/>
            </a:pPr>
            <a:r>
              <a:rPr lang="en-US" dirty="0"/>
              <a:t>At the end of the study participants described the approaches they used to answer the question (Figure 7).</a:t>
            </a:r>
          </a:p>
          <a:p>
            <a:endParaRPr lang="en-US" b="1" dirty="0"/>
          </a:p>
          <a:p>
            <a:r>
              <a:rPr lang="en-US" b="1" dirty="0"/>
              <a:t>Summary</a:t>
            </a:r>
          </a:p>
          <a:p>
            <a:pPr marL="171450" indent="-171450">
              <a:buFont typeface="Arial" panose="020B0604020202020204" pitchFamily="34" charset="0"/>
              <a:buChar char="•"/>
            </a:pPr>
            <a:r>
              <a:rPr lang="en-US" dirty="0"/>
              <a:t>participants made good use of the available interactive options (Figure 8), </a:t>
            </a:r>
          </a:p>
          <a:p>
            <a:pPr marL="171450" indent="-171450">
              <a:buFont typeface="Arial" panose="020B0604020202020204" pitchFamily="34" charset="0"/>
              <a:buChar char="•"/>
            </a:pPr>
            <a:r>
              <a:rPr lang="en-US" dirty="0"/>
              <a:t>using a variety of actions. Yet, participants used a somewhat different mix</a:t>
            </a:r>
          </a:p>
          <a:p>
            <a:pPr marL="171450" indent="-171450">
              <a:buFont typeface="Arial" panose="020B0604020202020204" pitchFamily="34" charset="0"/>
              <a:buChar char="•"/>
            </a:pPr>
            <a:r>
              <a:rPr lang="en-US" dirty="0"/>
              <a:t>of interactions than in Experiment 1, which is not surprising</a:t>
            </a:r>
          </a:p>
          <a:p>
            <a:pPr marL="171450" indent="-171450">
              <a:buFont typeface="Arial" panose="020B0604020202020204" pitchFamily="34" charset="0"/>
              <a:buChar char="•"/>
            </a:pPr>
            <a:r>
              <a:rPr lang="en-US" dirty="0"/>
              <a:t>given the more exploratory prompt. </a:t>
            </a:r>
          </a:p>
          <a:p>
            <a:pPr marL="171450" indent="-171450">
              <a:buFont typeface="Arial" panose="020B0604020202020204" pitchFamily="34" charset="0"/>
              <a:buChar char="•"/>
            </a:pPr>
            <a:r>
              <a:rPr lang="en-US" dirty="0"/>
              <a:t>Despite training, participants made little use of sorting and navigation in particular.</a:t>
            </a:r>
          </a:p>
          <a:p>
            <a:pPr marL="171450" indent="-171450">
              <a:buFont typeface="Arial" panose="020B0604020202020204" pitchFamily="34" charset="0"/>
              <a:buChar char="•"/>
            </a:pPr>
            <a:r>
              <a:rPr lang="en-US" dirty="0"/>
              <a:t>The improvements and feedback we received for Experiment 2 were similar to those we collected for Experiment 1 and were mainly concerned with the positioning of the grid as well as the slow animation speed.</a:t>
            </a:r>
          </a:p>
        </p:txBody>
      </p:sp>
      <p:sp>
        <p:nvSpPr>
          <p:cNvPr id="4" name="Foliennummernplatzhalter 3"/>
          <p:cNvSpPr>
            <a:spLocks noGrp="1"/>
          </p:cNvSpPr>
          <p:nvPr>
            <p:ph type="sldNum" sz="quarter" idx="5"/>
          </p:nvPr>
        </p:nvSpPr>
        <p:spPr/>
        <p:txBody>
          <a:bodyPr/>
          <a:lstStyle/>
          <a:p>
            <a:fld id="{56C40E04-0315-4801-B8FF-749031B79DA1}" type="slidenum">
              <a:rPr lang="de-DE" smtClean="0"/>
              <a:t>9</a:t>
            </a:fld>
            <a:endParaRPr lang="de-DE"/>
          </a:p>
        </p:txBody>
      </p:sp>
    </p:spTree>
    <p:extLst>
      <p:ext uri="{BB962C8B-B14F-4D97-AF65-F5344CB8AC3E}">
        <p14:creationId xmlns:p14="http://schemas.microsoft.com/office/powerpoint/2010/main" val="28258301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slide logotype">
    <p:bg>
      <p:bgRef idx="1001">
        <a:schemeClr val="bg2"/>
      </p:bgRef>
    </p:bg>
    <p:spTree>
      <p:nvGrpSpPr>
        <p:cNvPr id="1" name=""/>
        <p:cNvGrpSpPr/>
        <p:nvPr/>
      </p:nvGrpSpPr>
      <p:grpSpPr>
        <a:xfrm>
          <a:off x="0" y="0"/>
          <a:ext cx="0" cy="0"/>
          <a:chOff x="0" y="0"/>
          <a:chExt cx="0" cy="0"/>
        </a:xfrm>
      </p:grpSpPr>
      <p:sp>
        <p:nvSpPr>
          <p:cNvPr id="4" name="Circle 1">
            <a:extLst>
              <a:ext uri="{FF2B5EF4-FFF2-40B4-BE49-F238E27FC236}">
                <a16:creationId xmlns:a16="http://schemas.microsoft.com/office/drawing/2014/main" id="{3741D2D2-BB7D-C2CF-0CBB-B36530A6A902}"/>
              </a:ext>
            </a:extLst>
          </p:cNvPr>
          <p:cNvSpPr/>
          <p:nvPr userDrawn="1"/>
        </p:nvSpPr>
        <p:spPr>
          <a:xfrm>
            <a:off x="7564856" y="4276725"/>
            <a:ext cx="1943100" cy="1943100"/>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GB" noProof="0" dirty="0"/>
          </a:p>
        </p:txBody>
      </p:sp>
      <p:sp>
        <p:nvSpPr>
          <p:cNvPr id="5" name="Circle 2">
            <a:extLst>
              <a:ext uri="{FF2B5EF4-FFF2-40B4-BE49-F238E27FC236}">
                <a16:creationId xmlns:a16="http://schemas.microsoft.com/office/drawing/2014/main" id="{86CD4732-E214-58E3-895A-9BA20E3906E5}"/>
              </a:ext>
            </a:extLst>
          </p:cNvPr>
          <p:cNvSpPr/>
          <p:nvPr userDrawn="1"/>
        </p:nvSpPr>
        <p:spPr>
          <a:xfrm>
            <a:off x="8536406" y="368300"/>
            <a:ext cx="3332748" cy="3332748"/>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GB" noProof="0" dirty="0"/>
          </a:p>
        </p:txBody>
      </p:sp>
      <p:sp>
        <p:nvSpPr>
          <p:cNvPr id="6" name="Circle 3">
            <a:extLst>
              <a:ext uri="{FF2B5EF4-FFF2-40B4-BE49-F238E27FC236}">
                <a16:creationId xmlns:a16="http://schemas.microsoft.com/office/drawing/2014/main" id="{2BD00B07-915D-E84D-B6D8-A2568CE8FBF7}"/>
              </a:ext>
            </a:extLst>
          </p:cNvPr>
          <p:cNvSpPr/>
          <p:nvPr userDrawn="1"/>
        </p:nvSpPr>
        <p:spPr>
          <a:xfrm>
            <a:off x="6247396" y="2234865"/>
            <a:ext cx="1194136" cy="119413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GB" noProof="0" dirty="0"/>
          </a:p>
        </p:txBody>
      </p:sp>
      <p:pic>
        <p:nvPicPr>
          <p:cNvPr id="8" name="Image, Linnaeus University logotype">
            <a:extLst>
              <a:ext uri="{FF2B5EF4-FFF2-40B4-BE49-F238E27FC236}">
                <a16:creationId xmlns:a16="http://schemas.microsoft.com/office/drawing/2014/main" id="{0C06D861-C13C-6779-C6AA-8F8B326EC87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776700" y="2738701"/>
            <a:ext cx="8638600" cy="1380598"/>
          </a:xfrm>
          <a:prstGeom prst="rect">
            <a:avLst/>
          </a:prstGeom>
        </p:spPr>
      </p:pic>
    </p:spTree>
    <p:extLst>
      <p:ext uri="{BB962C8B-B14F-4D97-AF65-F5344CB8AC3E}">
        <p14:creationId xmlns:p14="http://schemas.microsoft.com/office/powerpoint/2010/main" val="232019021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repeatCount="indefinite" accel="50000" decel="50000" autoRev="1" fill="hold" grpId="0" nodeType="withEffect">
                                  <p:stCondLst>
                                    <p:cond delay="0"/>
                                  </p:stCondLst>
                                  <p:childTnLst>
                                    <p:animMotion origin="layout" path="M -0.01901 0.05625 L 0.01302 0.02338 " pathEditMode="relative" rAng="0" ptsTypes="AA">
                                      <p:cBhvr>
                                        <p:cTn id="6" dur="10000" fill="hold"/>
                                        <p:tgtEl>
                                          <p:spTgt spid="5"/>
                                        </p:tgtEl>
                                        <p:attrNameLst>
                                          <p:attrName>ppt_x</p:attrName>
                                          <p:attrName>ppt_y</p:attrName>
                                        </p:attrNameLst>
                                      </p:cBhvr>
                                      <p:rCtr x="1602" y="-1644"/>
                                    </p:animMotion>
                                  </p:childTnLst>
                                </p:cTn>
                              </p:par>
                              <p:par>
                                <p:cTn id="7" presetID="0" presetClass="path" presetSubtype="0" repeatCount="indefinite" accel="50000" decel="50000" autoRev="1" fill="hold" grpId="0" nodeType="withEffect">
                                  <p:stCondLst>
                                    <p:cond delay="0"/>
                                  </p:stCondLst>
                                  <p:childTnLst>
                                    <p:animMotion origin="layout" path="M 0.00612 -0.01158 L -0.01393 0.03241 " pathEditMode="relative" rAng="0" ptsTypes="AA">
                                      <p:cBhvr>
                                        <p:cTn id="8" dur="8000" fill="hold"/>
                                        <p:tgtEl>
                                          <p:spTgt spid="4"/>
                                        </p:tgtEl>
                                        <p:attrNameLst>
                                          <p:attrName>ppt_x</p:attrName>
                                          <p:attrName>ppt_y</p:attrName>
                                        </p:attrNameLst>
                                      </p:cBhvr>
                                      <p:rCtr x="-1003" y="2199"/>
                                    </p:animMotion>
                                  </p:childTnLst>
                                </p:cTn>
                              </p:par>
                              <p:par>
                                <p:cTn id="9" presetID="0" presetClass="path" presetSubtype="0" repeatCount="indefinite" accel="50000" decel="50000" autoRev="1" fill="hold" grpId="0" nodeType="withEffect">
                                  <p:stCondLst>
                                    <p:cond delay="0"/>
                                  </p:stCondLst>
                                  <p:childTnLst>
                                    <p:animMotion origin="layout" path="M -0.00469 -0.00694 L 0.01914 0.02732 " pathEditMode="relative" rAng="0" ptsTypes="AA">
                                      <p:cBhvr>
                                        <p:cTn id="10" dur="15000" fill="hold"/>
                                        <p:tgtEl>
                                          <p:spTgt spid="6"/>
                                        </p:tgtEl>
                                        <p:attrNameLst>
                                          <p:attrName>ppt_x</p:attrName>
                                          <p:attrName>ppt_y</p:attrName>
                                        </p:attrNameLst>
                                      </p:cBhvr>
                                      <p:rCtr x="1185" y="171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82BD1035-853E-0C54-A580-17F240D03382}"/>
              </a:ext>
            </a:extLst>
          </p:cNvPr>
          <p:cNvSpPr>
            <a:spLocks noGrp="1"/>
          </p:cNvSpPr>
          <p:nvPr>
            <p:ph type="sldNum" sz="quarter" idx="10"/>
          </p:nvPr>
        </p:nvSpPr>
        <p:spPr/>
        <p:txBody>
          <a:bodyPr/>
          <a:lstStyle/>
          <a:p>
            <a:fld id="{7409167B-7A9B-460A-AC8D-6F72C9603382}" type="slidenum">
              <a:rPr lang="en-GB" smtClean="0"/>
              <a:pPr/>
              <a:t>‹Nr.›</a:t>
            </a:fld>
            <a:endParaRPr lang="en-GB"/>
          </a:p>
        </p:txBody>
      </p:sp>
      <p:sp>
        <p:nvSpPr>
          <p:cNvPr id="3" name="Subtitle">
            <a:extLst>
              <a:ext uri="{FF2B5EF4-FFF2-40B4-BE49-F238E27FC236}">
                <a16:creationId xmlns:a16="http://schemas.microsoft.com/office/drawing/2014/main" id="{C9A2F8B9-3937-7018-231C-5BE74F0722AB}"/>
              </a:ext>
            </a:extLst>
          </p:cNvPr>
          <p:cNvSpPr>
            <a:spLocks noGrp="1"/>
          </p:cNvSpPr>
          <p:nvPr>
            <p:ph type="subTitle" idx="1"/>
          </p:nvPr>
        </p:nvSpPr>
        <p:spPr>
          <a:xfrm>
            <a:off x="266400" y="3366000"/>
            <a:ext cx="11642400" cy="1655762"/>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GB"/>
          </a:p>
        </p:txBody>
      </p:sp>
      <p:sp>
        <p:nvSpPr>
          <p:cNvPr id="11" name="Title">
            <a:extLst>
              <a:ext uri="{FF2B5EF4-FFF2-40B4-BE49-F238E27FC236}">
                <a16:creationId xmlns:a16="http://schemas.microsoft.com/office/drawing/2014/main" id="{9983D0A9-1ABE-44F2-1F2C-E7B083CCD0A3}"/>
              </a:ext>
            </a:extLst>
          </p:cNvPr>
          <p:cNvSpPr>
            <a:spLocks noGrp="1"/>
          </p:cNvSpPr>
          <p:nvPr>
            <p:ph type="title"/>
          </p:nvPr>
        </p:nvSpPr>
        <p:spPr>
          <a:xfrm>
            <a:off x="267600" y="1476000"/>
            <a:ext cx="11642400" cy="1854000"/>
          </a:xfrm>
        </p:spPr>
        <p:txBody>
          <a:bodyPr anchor="t" anchorCtr="0"/>
          <a:lstStyle>
            <a:lvl1pPr>
              <a:defRPr b="1"/>
            </a:lvl1pPr>
          </a:lstStyle>
          <a:p>
            <a:r>
              <a:rPr lang="de-DE"/>
              <a:t>Mastertitelformat bearbeiten</a:t>
            </a:r>
            <a:endParaRPr lang="en-GB" dirty="0"/>
          </a:p>
        </p:txBody>
      </p:sp>
      <p:sp>
        <p:nvSpPr>
          <p:cNvPr id="8" name="Placeholder, name">
            <a:extLst>
              <a:ext uri="{FF2B5EF4-FFF2-40B4-BE49-F238E27FC236}">
                <a16:creationId xmlns:a16="http://schemas.microsoft.com/office/drawing/2014/main" id="{09CC09BF-4D51-7C44-20D6-E7E29EFCED32}"/>
              </a:ext>
            </a:extLst>
          </p:cNvPr>
          <p:cNvSpPr>
            <a:spLocks noGrp="1"/>
          </p:cNvSpPr>
          <p:nvPr>
            <p:ph type="body" sz="quarter" idx="12" hasCustomPrompt="1"/>
          </p:nvPr>
        </p:nvSpPr>
        <p:spPr>
          <a:xfrm>
            <a:off x="8290800" y="511868"/>
            <a:ext cx="3618000" cy="258532"/>
          </a:xfrm>
        </p:spPr>
        <p:txBody>
          <a:bodyPr anchor="b" anchorCtr="0">
            <a:spAutoFit/>
          </a:bodyPr>
          <a:lstStyle>
            <a:lvl1pPr marL="0" indent="0" algn="r">
              <a:buNone/>
              <a:defRPr sz="120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Speaker’s name</a:t>
            </a:r>
          </a:p>
        </p:txBody>
      </p:sp>
      <p:sp>
        <p:nvSpPr>
          <p:cNvPr id="6" name="Placeholder, topic">
            <a:extLst>
              <a:ext uri="{FF2B5EF4-FFF2-40B4-BE49-F238E27FC236}">
                <a16:creationId xmlns:a16="http://schemas.microsoft.com/office/drawing/2014/main" id="{C5AB760E-4268-AC1D-D39D-C3DD3B59AFBC}"/>
              </a:ext>
            </a:extLst>
          </p:cNvPr>
          <p:cNvSpPr>
            <a:spLocks noGrp="1"/>
          </p:cNvSpPr>
          <p:nvPr>
            <p:ph type="body" sz="quarter" idx="11" hasCustomPrompt="1"/>
          </p:nvPr>
        </p:nvSpPr>
        <p:spPr>
          <a:xfrm>
            <a:off x="4039200" y="511868"/>
            <a:ext cx="4251600" cy="258532"/>
          </a:xfrm>
        </p:spPr>
        <p:txBody>
          <a:bodyPr anchor="b" anchorCtr="0">
            <a:spAutoFit/>
          </a:bodyPr>
          <a:lstStyle>
            <a:lvl1pPr marL="0" indent="0">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n-US"/>
              <a:t>Topic</a:t>
            </a:r>
            <a:endParaRPr lang="en-GB"/>
          </a:p>
        </p:txBody>
      </p:sp>
      <p:pic>
        <p:nvPicPr>
          <p:cNvPr id="12" name="Image, Linnaeus University logotype" descr="Linnaeus University logotype">
            <a:extLst>
              <a:ext uri="{FF2B5EF4-FFF2-40B4-BE49-F238E27FC236}">
                <a16:creationId xmlns:a16="http://schemas.microsoft.com/office/drawing/2014/main" id="{F792C22F-B036-265E-E77F-E0583128D0E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67200" y="363600"/>
            <a:ext cx="2336005" cy="373334"/>
          </a:xfrm>
          <a:prstGeom prst="rect">
            <a:avLst/>
          </a:prstGeom>
        </p:spPr>
      </p:pic>
    </p:spTree>
    <p:extLst>
      <p:ext uri="{BB962C8B-B14F-4D97-AF65-F5344CB8AC3E}">
        <p14:creationId xmlns:p14="http://schemas.microsoft.com/office/powerpoint/2010/main" val="278333023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F084253F-98F5-083B-0947-D6664CCEFC70}"/>
              </a:ext>
            </a:extLst>
          </p:cNvPr>
          <p:cNvSpPr>
            <a:spLocks noGrp="1"/>
          </p:cNvSpPr>
          <p:nvPr>
            <p:ph type="sldNum" sz="quarter" idx="10"/>
          </p:nvPr>
        </p:nvSpPr>
        <p:spPr/>
        <p:txBody>
          <a:bodyPr/>
          <a:lstStyle/>
          <a:p>
            <a:fld id="{7409167B-7A9B-460A-AC8D-6F72C9603382}" type="slidenum">
              <a:rPr lang="en-GB" smtClean="0"/>
              <a:pPr/>
              <a:t>‹Nr.›</a:t>
            </a:fld>
            <a:endParaRPr lang="en-GB"/>
          </a:p>
        </p:txBody>
      </p:sp>
      <p:sp>
        <p:nvSpPr>
          <p:cNvPr id="10" name="Text Placeholder">
            <a:extLst>
              <a:ext uri="{FF2B5EF4-FFF2-40B4-BE49-F238E27FC236}">
                <a16:creationId xmlns:a16="http://schemas.microsoft.com/office/drawing/2014/main" id="{DDE6A0C1-BE16-C2AF-63F6-86FA1F5EE227}"/>
              </a:ext>
            </a:extLst>
          </p:cNvPr>
          <p:cNvSpPr>
            <a:spLocks noGrp="1"/>
          </p:cNvSpPr>
          <p:nvPr>
            <p:ph type="body" sz="quarter" idx="11" hasCustomPrompt="1"/>
          </p:nvPr>
        </p:nvSpPr>
        <p:spPr>
          <a:xfrm>
            <a:off x="266400" y="2664000"/>
            <a:ext cx="11642400" cy="3394800"/>
          </a:xfrm>
        </p:spPr>
        <p:txBody>
          <a:bodyPr>
            <a:noAutofit/>
          </a:bodyPr>
          <a:lstStyle>
            <a:lvl1pPr marL="279400" indent="-279400">
              <a:buFont typeface="Arial" panose="020B0604020202020204" pitchFamily="34" charset="0"/>
              <a:buChar char="•"/>
              <a:defRPr sz="2800"/>
            </a:lvl1pPr>
            <a:lvl2pPr marL="457200" indent="0">
              <a:buNone/>
              <a:defRPr/>
            </a:lvl2pPr>
            <a:lvl3pPr marL="914400" indent="0">
              <a:buNone/>
              <a:defRPr/>
            </a:lvl3pPr>
            <a:lvl4pPr marL="1371600" indent="0">
              <a:buNone/>
              <a:defRPr/>
            </a:lvl4pPr>
            <a:lvl5pPr marL="1828800" indent="0">
              <a:buNone/>
              <a:defRPr/>
            </a:lvl5pPr>
          </a:lstStyle>
          <a:p>
            <a:pPr lvl="0"/>
            <a:r>
              <a:rPr lang="en-US"/>
              <a:t>Content</a:t>
            </a:r>
          </a:p>
          <a:p>
            <a:pPr lvl="0"/>
            <a:r>
              <a:rPr lang="en-US"/>
              <a:t>Content</a:t>
            </a:r>
          </a:p>
          <a:p>
            <a:pPr lvl="0"/>
            <a:r>
              <a:rPr lang="en-US"/>
              <a:t>Content</a:t>
            </a:r>
          </a:p>
          <a:p>
            <a:pPr lvl="0"/>
            <a:r>
              <a:rPr lang="en-US"/>
              <a:t>Content</a:t>
            </a:r>
          </a:p>
        </p:txBody>
      </p:sp>
      <p:sp>
        <p:nvSpPr>
          <p:cNvPr id="2" name="Title">
            <a:extLst>
              <a:ext uri="{FF2B5EF4-FFF2-40B4-BE49-F238E27FC236}">
                <a16:creationId xmlns:a16="http://schemas.microsoft.com/office/drawing/2014/main" id="{FD59553F-2A99-EF79-C8A0-1C98EEA95011}"/>
              </a:ext>
            </a:extLst>
          </p:cNvPr>
          <p:cNvSpPr>
            <a:spLocks noGrp="1"/>
          </p:cNvSpPr>
          <p:nvPr>
            <p:ph type="title" hasCustomPrompt="1"/>
          </p:nvPr>
        </p:nvSpPr>
        <p:spPr>
          <a:xfrm>
            <a:off x="266400" y="1476000"/>
            <a:ext cx="11642400" cy="1123200"/>
          </a:xfrm>
        </p:spPr>
        <p:txBody>
          <a:bodyPr anchor="t" anchorCtr="0"/>
          <a:lstStyle>
            <a:lvl1pPr>
              <a:defRPr b="1"/>
            </a:lvl1pPr>
          </a:lstStyle>
          <a:p>
            <a:r>
              <a:rPr lang="en-US"/>
              <a:t>Table of Contents</a:t>
            </a:r>
            <a:endParaRPr lang="en-GB"/>
          </a:p>
        </p:txBody>
      </p:sp>
      <p:pic>
        <p:nvPicPr>
          <p:cNvPr id="7" name="Image, Linnaeus University logotype" descr="Linnaeus University logotype">
            <a:extLst>
              <a:ext uri="{FF2B5EF4-FFF2-40B4-BE49-F238E27FC236}">
                <a16:creationId xmlns:a16="http://schemas.microsoft.com/office/drawing/2014/main" id="{2EF8F09A-1AFF-C18D-DABA-D9DAEC7C16C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67200" y="363600"/>
            <a:ext cx="2336005" cy="373334"/>
          </a:xfrm>
          <a:prstGeom prst="rect">
            <a:avLst/>
          </a:prstGeom>
        </p:spPr>
      </p:pic>
    </p:spTree>
    <p:extLst>
      <p:ext uri="{BB962C8B-B14F-4D97-AF65-F5344CB8AC3E}">
        <p14:creationId xmlns:p14="http://schemas.microsoft.com/office/powerpoint/2010/main" val="41654141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ing">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F084253F-98F5-083B-0947-D6664CCEFC70}"/>
              </a:ext>
            </a:extLst>
          </p:cNvPr>
          <p:cNvSpPr>
            <a:spLocks noGrp="1"/>
          </p:cNvSpPr>
          <p:nvPr>
            <p:ph type="sldNum" sz="quarter" idx="10"/>
          </p:nvPr>
        </p:nvSpPr>
        <p:spPr/>
        <p:txBody>
          <a:bodyPr/>
          <a:lstStyle/>
          <a:p>
            <a:fld id="{7409167B-7A9B-460A-AC8D-6F72C9603382}" type="slidenum">
              <a:rPr lang="en-GB" smtClean="0"/>
              <a:pPr/>
              <a:t>‹Nr.›</a:t>
            </a:fld>
            <a:endParaRPr lang="en-GB"/>
          </a:p>
        </p:txBody>
      </p:sp>
      <p:sp>
        <p:nvSpPr>
          <p:cNvPr id="2" name="Title">
            <a:extLst>
              <a:ext uri="{FF2B5EF4-FFF2-40B4-BE49-F238E27FC236}">
                <a16:creationId xmlns:a16="http://schemas.microsoft.com/office/drawing/2014/main" id="{FD59553F-2A99-EF79-C8A0-1C98EEA95011}"/>
              </a:ext>
            </a:extLst>
          </p:cNvPr>
          <p:cNvSpPr>
            <a:spLocks noGrp="1"/>
          </p:cNvSpPr>
          <p:nvPr>
            <p:ph type="title" hasCustomPrompt="1"/>
          </p:nvPr>
        </p:nvSpPr>
        <p:spPr>
          <a:xfrm>
            <a:off x="266400" y="1476000"/>
            <a:ext cx="11642400" cy="1854000"/>
          </a:xfrm>
        </p:spPr>
        <p:txBody>
          <a:bodyPr anchor="t" anchorCtr="0"/>
          <a:lstStyle>
            <a:lvl1pPr>
              <a:defRPr b="1"/>
            </a:lvl1pPr>
          </a:lstStyle>
          <a:p>
            <a:r>
              <a:rPr lang="en-US"/>
              <a:t>Section Heading</a:t>
            </a:r>
            <a:endParaRPr lang="en-GB"/>
          </a:p>
        </p:txBody>
      </p:sp>
      <p:pic>
        <p:nvPicPr>
          <p:cNvPr id="7" name="Image, Linnaeus University logotype" descr="Linnaeus University logotype">
            <a:extLst>
              <a:ext uri="{FF2B5EF4-FFF2-40B4-BE49-F238E27FC236}">
                <a16:creationId xmlns:a16="http://schemas.microsoft.com/office/drawing/2014/main" id="{2EF8F09A-1AFF-C18D-DABA-D9DAEC7C16C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67200" y="363600"/>
            <a:ext cx="2336005" cy="373334"/>
          </a:xfrm>
          <a:prstGeom prst="rect">
            <a:avLst/>
          </a:prstGeom>
        </p:spPr>
      </p:pic>
    </p:spTree>
    <p:extLst>
      <p:ext uri="{BB962C8B-B14F-4D97-AF65-F5344CB8AC3E}">
        <p14:creationId xmlns:p14="http://schemas.microsoft.com/office/powerpoint/2010/main" val="17476174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ing+circles, Smörblomma">
    <p:bg>
      <p:bgRef idx="1001">
        <a:schemeClr val="bg2"/>
      </p:bgRef>
    </p:bg>
    <p:spTree>
      <p:nvGrpSpPr>
        <p:cNvPr id="1" name=""/>
        <p:cNvGrpSpPr/>
        <p:nvPr/>
      </p:nvGrpSpPr>
      <p:grpSpPr>
        <a:xfrm>
          <a:off x="0" y="0"/>
          <a:ext cx="0" cy="0"/>
          <a:chOff x="0" y="0"/>
          <a:chExt cx="0" cy="0"/>
        </a:xfrm>
      </p:grpSpPr>
      <p:sp>
        <p:nvSpPr>
          <p:cNvPr id="6" name="Circle 3">
            <a:extLst>
              <a:ext uri="{FF2B5EF4-FFF2-40B4-BE49-F238E27FC236}">
                <a16:creationId xmlns:a16="http://schemas.microsoft.com/office/drawing/2014/main" id="{60AC3C87-8134-BEB9-6F59-036FE83E5D1E}"/>
              </a:ext>
              <a:ext uri="{C183D7F6-B498-43B3-948B-1728B52AA6E4}">
                <adec:decorative xmlns:adec="http://schemas.microsoft.com/office/drawing/2017/decorative" val="1"/>
              </a:ext>
            </a:extLst>
          </p:cNvPr>
          <p:cNvSpPr/>
          <p:nvPr userDrawn="1"/>
        </p:nvSpPr>
        <p:spPr>
          <a:xfrm>
            <a:off x="0" y="3301408"/>
            <a:ext cx="5415643" cy="3556592"/>
          </a:xfrm>
          <a:custGeom>
            <a:avLst/>
            <a:gdLst>
              <a:gd name="connsiteX0" fmla="*/ 2335682 w 5415643"/>
              <a:gd name="connsiteY0" fmla="*/ 0 h 3556592"/>
              <a:gd name="connsiteX1" fmla="*/ 5415643 w 5415643"/>
              <a:gd name="connsiteY1" fmla="*/ 3079961 h 3556592"/>
              <a:gd name="connsiteX2" fmla="*/ 5399742 w 5415643"/>
              <a:gd name="connsiteY2" fmla="*/ 3394869 h 3556592"/>
              <a:gd name="connsiteX3" fmla="*/ 5375060 w 5415643"/>
              <a:gd name="connsiteY3" fmla="*/ 3556592 h 3556592"/>
              <a:gd name="connsiteX4" fmla="*/ 0 w 5415643"/>
              <a:gd name="connsiteY4" fmla="*/ 3556592 h 3556592"/>
              <a:gd name="connsiteX5" fmla="*/ 0 w 5415643"/>
              <a:gd name="connsiteY5" fmla="*/ 1075747 h 3556592"/>
              <a:gd name="connsiteX6" fmla="*/ 157821 w 5415643"/>
              <a:gd name="connsiteY6" fmla="*/ 902100 h 3556592"/>
              <a:gd name="connsiteX7" fmla="*/ 2335682 w 5415643"/>
              <a:gd name="connsiteY7" fmla="*/ 0 h 3556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15643" h="3556592">
                <a:moveTo>
                  <a:pt x="2335682" y="0"/>
                </a:moveTo>
                <a:cubicBezTo>
                  <a:pt x="4036697" y="0"/>
                  <a:pt x="5415643" y="1378946"/>
                  <a:pt x="5415643" y="3079961"/>
                </a:cubicBezTo>
                <a:cubicBezTo>
                  <a:pt x="5415643" y="3186275"/>
                  <a:pt x="5410257" y="3291330"/>
                  <a:pt x="5399742" y="3394869"/>
                </a:cubicBezTo>
                <a:lnTo>
                  <a:pt x="5375060" y="3556592"/>
                </a:lnTo>
                <a:lnTo>
                  <a:pt x="0" y="3556592"/>
                </a:lnTo>
                <a:lnTo>
                  <a:pt x="0" y="1075747"/>
                </a:lnTo>
                <a:lnTo>
                  <a:pt x="157821" y="902100"/>
                </a:lnTo>
                <a:cubicBezTo>
                  <a:pt x="715184" y="344737"/>
                  <a:pt x="1485175" y="0"/>
                  <a:pt x="2335682"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b="0" i="0" noProof="0">
              <a:latin typeface="Arial" panose="020B0604020202020204" pitchFamily="34" charset="0"/>
            </a:endParaRPr>
          </a:p>
        </p:txBody>
      </p:sp>
      <p:sp>
        <p:nvSpPr>
          <p:cNvPr id="7" name="Circle 2">
            <a:extLst>
              <a:ext uri="{FF2B5EF4-FFF2-40B4-BE49-F238E27FC236}">
                <a16:creationId xmlns:a16="http://schemas.microsoft.com/office/drawing/2014/main" id="{278020A3-DE40-1B6E-762A-D6F24BCC50E8}"/>
              </a:ext>
              <a:ext uri="{C183D7F6-B498-43B3-948B-1728B52AA6E4}">
                <adec:decorative xmlns:adec="http://schemas.microsoft.com/office/drawing/2017/decorative" val="1"/>
              </a:ext>
            </a:extLst>
          </p:cNvPr>
          <p:cNvSpPr/>
          <p:nvPr userDrawn="1"/>
        </p:nvSpPr>
        <p:spPr>
          <a:xfrm>
            <a:off x="10475352" y="1650110"/>
            <a:ext cx="1716648" cy="2958196"/>
          </a:xfrm>
          <a:custGeom>
            <a:avLst/>
            <a:gdLst>
              <a:gd name="connsiteX0" fmla="*/ 1479098 w 1716648"/>
              <a:gd name="connsiteY0" fmla="*/ 0 h 2958196"/>
              <a:gd name="connsiteX1" fmla="*/ 1630327 w 1716648"/>
              <a:gd name="connsiteY1" fmla="*/ 7637 h 2958196"/>
              <a:gd name="connsiteX2" fmla="*/ 1716648 w 1716648"/>
              <a:gd name="connsiteY2" fmla="*/ 20811 h 2958196"/>
              <a:gd name="connsiteX3" fmla="*/ 1716648 w 1716648"/>
              <a:gd name="connsiteY3" fmla="*/ 2937386 h 2958196"/>
              <a:gd name="connsiteX4" fmla="*/ 1630327 w 1716648"/>
              <a:gd name="connsiteY4" fmla="*/ 2950560 h 2958196"/>
              <a:gd name="connsiteX5" fmla="*/ 1479098 w 1716648"/>
              <a:gd name="connsiteY5" fmla="*/ 2958196 h 2958196"/>
              <a:gd name="connsiteX6" fmla="*/ 0 w 1716648"/>
              <a:gd name="connsiteY6" fmla="*/ 1479098 h 2958196"/>
              <a:gd name="connsiteX7" fmla="*/ 1479098 w 1716648"/>
              <a:gd name="connsiteY7" fmla="*/ 0 h 295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6648" h="2958196">
                <a:moveTo>
                  <a:pt x="1479098" y="0"/>
                </a:moveTo>
                <a:cubicBezTo>
                  <a:pt x="1530153" y="0"/>
                  <a:pt x="1580604" y="2587"/>
                  <a:pt x="1630327" y="7637"/>
                </a:cubicBezTo>
                <a:lnTo>
                  <a:pt x="1716648" y="20811"/>
                </a:lnTo>
                <a:lnTo>
                  <a:pt x="1716648" y="2937386"/>
                </a:lnTo>
                <a:lnTo>
                  <a:pt x="1630327" y="2950560"/>
                </a:lnTo>
                <a:cubicBezTo>
                  <a:pt x="1580604" y="2955609"/>
                  <a:pt x="1530153" y="2958196"/>
                  <a:pt x="1479098" y="2958196"/>
                </a:cubicBezTo>
                <a:cubicBezTo>
                  <a:pt x="662215" y="2958196"/>
                  <a:pt x="0" y="2295981"/>
                  <a:pt x="0" y="1479098"/>
                </a:cubicBezTo>
                <a:cubicBezTo>
                  <a:pt x="0" y="662215"/>
                  <a:pt x="662215" y="0"/>
                  <a:pt x="1479098"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b="0" i="0" noProof="0">
              <a:latin typeface="Arial" panose="020B0604020202020204" pitchFamily="34" charset="0"/>
            </a:endParaRPr>
          </a:p>
        </p:txBody>
      </p:sp>
      <p:sp>
        <p:nvSpPr>
          <p:cNvPr id="9" name="Circle 1">
            <a:extLst>
              <a:ext uri="{FF2B5EF4-FFF2-40B4-BE49-F238E27FC236}">
                <a16:creationId xmlns:a16="http://schemas.microsoft.com/office/drawing/2014/main" id="{E9D069BC-2DA2-EF37-9F15-EC6953C129BA}"/>
              </a:ext>
              <a:ext uri="{C183D7F6-B498-43B3-948B-1728B52AA6E4}">
                <adec:decorative xmlns:adec="http://schemas.microsoft.com/office/drawing/2017/decorative" val="1"/>
              </a:ext>
            </a:extLst>
          </p:cNvPr>
          <p:cNvSpPr/>
          <p:nvPr userDrawn="1"/>
        </p:nvSpPr>
        <p:spPr>
          <a:xfrm>
            <a:off x="8614654" y="4392593"/>
            <a:ext cx="1616150" cy="161615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noProof="0">
              <a:latin typeface="Arial" panose="020B0604020202020204" pitchFamily="34" charset="0"/>
            </a:endParaRPr>
          </a:p>
        </p:txBody>
      </p:sp>
      <p:sp>
        <p:nvSpPr>
          <p:cNvPr id="8" name="Slide Number Placeholder">
            <a:extLst>
              <a:ext uri="{FF2B5EF4-FFF2-40B4-BE49-F238E27FC236}">
                <a16:creationId xmlns:a16="http://schemas.microsoft.com/office/drawing/2014/main" id="{F084253F-98F5-083B-0947-D6664CCEFC70}"/>
              </a:ext>
            </a:extLst>
          </p:cNvPr>
          <p:cNvSpPr>
            <a:spLocks noGrp="1"/>
          </p:cNvSpPr>
          <p:nvPr>
            <p:ph type="sldNum" sz="quarter" idx="10"/>
          </p:nvPr>
        </p:nvSpPr>
        <p:spPr/>
        <p:txBody>
          <a:bodyPr/>
          <a:lstStyle>
            <a:lvl1pPr>
              <a:defRPr>
                <a:solidFill>
                  <a:schemeClr val="tx1"/>
                </a:solidFill>
              </a:defRPr>
            </a:lvl1pPr>
          </a:lstStyle>
          <a:p>
            <a:fld id="{7409167B-7A9B-460A-AC8D-6F72C9603382}" type="slidenum">
              <a:rPr lang="en-GB" smtClean="0"/>
              <a:pPr/>
              <a:t>‹Nr.›</a:t>
            </a:fld>
            <a:endParaRPr lang="en-GB"/>
          </a:p>
        </p:txBody>
      </p:sp>
      <p:sp>
        <p:nvSpPr>
          <p:cNvPr id="2" name="Title">
            <a:extLst>
              <a:ext uri="{FF2B5EF4-FFF2-40B4-BE49-F238E27FC236}">
                <a16:creationId xmlns:a16="http://schemas.microsoft.com/office/drawing/2014/main" id="{FD59553F-2A99-EF79-C8A0-1C98EEA95011}"/>
              </a:ext>
            </a:extLst>
          </p:cNvPr>
          <p:cNvSpPr>
            <a:spLocks noGrp="1"/>
          </p:cNvSpPr>
          <p:nvPr>
            <p:ph type="title" hasCustomPrompt="1"/>
          </p:nvPr>
        </p:nvSpPr>
        <p:spPr>
          <a:xfrm>
            <a:off x="266400" y="1476000"/>
            <a:ext cx="11642400" cy="1854000"/>
          </a:xfrm>
        </p:spPr>
        <p:txBody>
          <a:bodyPr anchor="t" anchorCtr="0"/>
          <a:lstStyle>
            <a:lvl1pPr>
              <a:defRPr b="1">
                <a:solidFill>
                  <a:schemeClr val="tx1"/>
                </a:solidFill>
              </a:defRPr>
            </a:lvl1pPr>
          </a:lstStyle>
          <a:p>
            <a:r>
              <a:rPr lang="en-US"/>
              <a:t>Section Heading</a:t>
            </a:r>
            <a:endParaRPr lang="en-GB"/>
          </a:p>
        </p:txBody>
      </p:sp>
      <p:pic>
        <p:nvPicPr>
          <p:cNvPr id="10" name="Image, Linnaeus University logotype" descr="Linnaeus University logotype">
            <a:extLst>
              <a:ext uri="{FF2B5EF4-FFF2-40B4-BE49-F238E27FC236}">
                <a16:creationId xmlns:a16="http://schemas.microsoft.com/office/drawing/2014/main" id="{4C447962-5A90-F417-C52D-0862102BEF2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67200" y="363600"/>
            <a:ext cx="2336005" cy="373334"/>
          </a:xfrm>
          <a:prstGeom prst="rect">
            <a:avLst/>
          </a:prstGeom>
        </p:spPr>
      </p:pic>
    </p:spTree>
    <p:extLst>
      <p:ext uri="{BB962C8B-B14F-4D97-AF65-F5344CB8AC3E}">
        <p14:creationId xmlns:p14="http://schemas.microsoft.com/office/powerpoint/2010/main" val="3910577156"/>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ing+circles">
    <p:bg>
      <p:bgRef idx="1001">
        <a:schemeClr val="bg1"/>
      </p:bgRef>
    </p:bg>
    <p:spTree>
      <p:nvGrpSpPr>
        <p:cNvPr id="1" name=""/>
        <p:cNvGrpSpPr/>
        <p:nvPr/>
      </p:nvGrpSpPr>
      <p:grpSpPr>
        <a:xfrm>
          <a:off x="0" y="0"/>
          <a:ext cx="0" cy="0"/>
          <a:chOff x="0" y="0"/>
          <a:chExt cx="0" cy="0"/>
        </a:xfrm>
      </p:grpSpPr>
      <p:sp>
        <p:nvSpPr>
          <p:cNvPr id="6" name="Circle 3">
            <a:extLst>
              <a:ext uri="{FF2B5EF4-FFF2-40B4-BE49-F238E27FC236}">
                <a16:creationId xmlns:a16="http://schemas.microsoft.com/office/drawing/2014/main" id="{B3C77EA6-7528-4D7B-4E2B-1E3704A859FF}"/>
              </a:ext>
              <a:ext uri="{C183D7F6-B498-43B3-948B-1728B52AA6E4}">
                <adec:decorative xmlns:adec="http://schemas.microsoft.com/office/drawing/2017/decorative" val="1"/>
              </a:ext>
            </a:extLst>
          </p:cNvPr>
          <p:cNvSpPr/>
          <p:nvPr userDrawn="1"/>
        </p:nvSpPr>
        <p:spPr>
          <a:xfrm>
            <a:off x="0" y="3301408"/>
            <a:ext cx="5415643" cy="3556592"/>
          </a:xfrm>
          <a:custGeom>
            <a:avLst/>
            <a:gdLst>
              <a:gd name="connsiteX0" fmla="*/ 2335682 w 5415643"/>
              <a:gd name="connsiteY0" fmla="*/ 0 h 3556592"/>
              <a:gd name="connsiteX1" fmla="*/ 5415643 w 5415643"/>
              <a:gd name="connsiteY1" fmla="*/ 3079961 h 3556592"/>
              <a:gd name="connsiteX2" fmla="*/ 5399742 w 5415643"/>
              <a:gd name="connsiteY2" fmla="*/ 3394869 h 3556592"/>
              <a:gd name="connsiteX3" fmla="*/ 5375060 w 5415643"/>
              <a:gd name="connsiteY3" fmla="*/ 3556592 h 3556592"/>
              <a:gd name="connsiteX4" fmla="*/ 0 w 5415643"/>
              <a:gd name="connsiteY4" fmla="*/ 3556592 h 3556592"/>
              <a:gd name="connsiteX5" fmla="*/ 0 w 5415643"/>
              <a:gd name="connsiteY5" fmla="*/ 1075747 h 3556592"/>
              <a:gd name="connsiteX6" fmla="*/ 157821 w 5415643"/>
              <a:gd name="connsiteY6" fmla="*/ 902100 h 3556592"/>
              <a:gd name="connsiteX7" fmla="*/ 2335682 w 5415643"/>
              <a:gd name="connsiteY7" fmla="*/ 0 h 3556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15643" h="3556592">
                <a:moveTo>
                  <a:pt x="2335682" y="0"/>
                </a:moveTo>
                <a:cubicBezTo>
                  <a:pt x="4036697" y="0"/>
                  <a:pt x="5415643" y="1378946"/>
                  <a:pt x="5415643" y="3079961"/>
                </a:cubicBezTo>
                <a:cubicBezTo>
                  <a:pt x="5415643" y="3186275"/>
                  <a:pt x="5410257" y="3291330"/>
                  <a:pt x="5399742" y="3394869"/>
                </a:cubicBezTo>
                <a:lnTo>
                  <a:pt x="5375060" y="3556592"/>
                </a:lnTo>
                <a:lnTo>
                  <a:pt x="0" y="3556592"/>
                </a:lnTo>
                <a:lnTo>
                  <a:pt x="0" y="1075747"/>
                </a:lnTo>
                <a:lnTo>
                  <a:pt x="157821" y="902100"/>
                </a:lnTo>
                <a:cubicBezTo>
                  <a:pt x="715184" y="344737"/>
                  <a:pt x="1485175" y="0"/>
                  <a:pt x="2335682"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b="0" i="0" noProof="0">
              <a:latin typeface="Arial" panose="020B0604020202020204" pitchFamily="34" charset="0"/>
            </a:endParaRPr>
          </a:p>
        </p:txBody>
      </p:sp>
      <p:sp>
        <p:nvSpPr>
          <p:cNvPr id="7" name="Circle 2">
            <a:extLst>
              <a:ext uri="{FF2B5EF4-FFF2-40B4-BE49-F238E27FC236}">
                <a16:creationId xmlns:a16="http://schemas.microsoft.com/office/drawing/2014/main" id="{A3B831EC-578B-6D77-5B26-702C6EAFCD5E}"/>
              </a:ext>
              <a:ext uri="{C183D7F6-B498-43B3-948B-1728B52AA6E4}">
                <adec:decorative xmlns:adec="http://schemas.microsoft.com/office/drawing/2017/decorative" val="1"/>
              </a:ext>
            </a:extLst>
          </p:cNvPr>
          <p:cNvSpPr/>
          <p:nvPr userDrawn="1"/>
        </p:nvSpPr>
        <p:spPr>
          <a:xfrm>
            <a:off x="10475352" y="1650110"/>
            <a:ext cx="1716648" cy="2958196"/>
          </a:xfrm>
          <a:custGeom>
            <a:avLst/>
            <a:gdLst>
              <a:gd name="connsiteX0" fmla="*/ 1479098 w 1716648"/>
              <a:gd name="connsiteY0" fmla="*/ 0 h 2958196"/>
              <a:gd name="connsiteX1" fmla="*/ 1630327 w 1716648"/>
              <a:gd name="connsiteY1" fmla="*/ 7637 h 2958196"/>
              <a:gd name="connsiteX2" fmla="*/ 1716648 w 1716648"/>
              <a:gd name="connsiteY2" fmla="*/ 20811 h 2958196"/>
              <a:gd name="connsiteX3" fmla="*/ 1716648 w 1716648"/>
              <a:gd name="connsiteY3" fmla="*/ 2937386 h 2958196"/>
              <a:gd name="connsiteX4" fmla="*/ 1630327 w 1716648"/>
              <a:gd name="connsiteY4" fmla="*/ 2950560 h 2958196"/>
              <a:gd name="connsiteX5" fmla="*/ 1479098 w 1716648"/>
              <a:gd name="connsiteY5" fmla="*/ 2958196 h 2958196"/>
              <a:gd name="connsiteX6" fmla="*/ 0 w 1716648"/>
              <a:gd name="connsiteY6" fmla="*/ 1479098 h 2958196"/>
              <a:gd name="connsiteX7" fmla="*/ 1479098 w 1716648"/>
              <a:gd name="connsiteY7" fmla="*/ 0 h 295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6648" h="2958196">
                <a:moveTo>
                  <a:pt x="1479098" y="0"/>
                </a:moveTo>
                <a:cubicBezTo>
                  <a:pt x="1530153" y="0"/>
                  <a:pt x="1580604" y="2587"/>
                  <a:pt x="1630327" y="7637"/>
                </a:cubicBezTo>
                <a:lnTo>
                  <a:pt x="1716648" y="20811"/>
                </a:lnTo>
                <a:lnTo>
                  <a:pt x="1716648" y="2937386"/>
                </a:lnTo>
                <a:lnTo>
                  <a:pt x="1630327" y="2950560"/>
                </a:lnTo>
                <a:cubicBezTo>
                  <a:pt x="1580604" y="2955609"/>
                  <a:pt x="1530153" y="2958196"/>
                  <a:pt x="1479098" y="2958196"/>
                </a:cubicBezTo>
                <a:cubicBezTo>
                  <a:pt x="662215" y="2958196"/>
                  <a:pt x="0" y="2295981"/>
                  <a:pt x="0" y="1479098"/>
                </a:cubicBezTo>
                <a:cubicBezTo>
                  <a:pt x="0" y="662215"/>
                  <a:pt x="662215" y="0"/>
                  <a:pt x="1479098"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b="0" i="0" noProof="0">
              <a:latin typeface="Arial" panose="020B0604020202020204" pitchFamily="34" charset="0"/>
            </a:endParaRPr>
          </a:p>
        </p:txBody>
      </p:sp>
      <p:sp>
        <p:nvSpPr>
          <p:cNvPr id="9" name="Circle 1">
            <a:extLst>
              <a:ext uri="{FF2B5EF4-FFF2-40B4-BE49-F238E27FC236}">
                <a16:creationId xmlns:a16="http://schemas.microsoft.com/office/drawing/2014/main" id="{99D45401-ACB1-4975-4A06-C8D0A55F97C5}"/>
              </a:ext>
              <a:ext uri="{C183D7F6-B498-43B3-948B-1728B52AA6E4}">
                <adec:decorative xmlns:adec="http://schemas.microsoft.com/office/drawing/2017/decorative" val="1"/>
              </a:ext>
            </a:extLst>
          </p:cNvPr>
          <p:cNvSpPr/>
          <p:nvPr userDrawn="1"/>
        </p:nvSpPr>
        <p:spPr>
          <a:xfrm>
            <a:off x="8614654" y="4392593"/>
            <a:ext cx="1616150" cy="161615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noProof="0">
              <a:latin typeface="Arial" panose="020B0604020202020204" pitchFamily="34" charset="0"/>
            </a:endParaRPr>
          </a:p>
        </p:txBody>
      </p:sp>
      <p:sp>
        <p:nvSpPr>
          <p:cNvPr id="8" name="Slide Number Placeholder">
            <a:extLst>
              <a:ext uri="{FF2B5EF4-FFF2-40B4-BE49-F238E27FC236}">
                <a16:creationId xmlns:a16="http://schemas.microsoft.com/office/drawing/2014/main" id="{F084253F-98F5-083B-0947-D6664CCEFC70}"/>
              </a:ext>
            </a:extLst>
          </p:cNvPr>
          <p:cNvSpPr>
            <a:spLocks noGrp="1"/>
          </p:cNvSpPr>
          <p:nvPr>
            <p:ph type="sldNum" sz="quarter" idx="10"/>
          </p:nvPr>
        </p:nvSpPr>
        <p:spPr/>
        <p:txBody>
          <a:bodyPr/>
          <a:lstStyle>
            <a:lvl1pPr>
              <a:defRPr>
                <a:solidFill>
                  <a:schemeClr val="tx1"/>
                </a:solidFill>
              </a:defRPr>
            </a:lvl1pPr>
          </a:lstStyle>
          <a:p>
            <a:fld id="{7409167B-7A9B-460A-AC8D-6F72C9603382}" type="slidenum">
              <a:rPr lang="en-GB" smtClean="0"/>
              <a:pPr/>
              <a:t>‹Nr.›</a:t>
            </a:fld>
            <a:endParaRPr lang="en-GB"/>
          </a:p>
        </p:txBody>
      </p:sp>
      <p:sp>
        <p:nvSpPr>
          <p:cNvPr id="2" name="Title">
            <a:extLst>
              <a:ext uri="{FF2B5EF4-FFF2-40B4-BE49-F238E27FC236}">
                <a16:creationId xmlns:a16="http://schemas.microsoft.com/office/drawing/2014/main" id="{FD59553F-2A99-EF79-C8A0-1C98EEA95011}"/>
              </a:ext>
            </a:extLst>
          </p:cNvPr>
          <p:cNvSpPr>
            <a:spLocks noGrp="1"/>
          </p:cNvSpPr>
          <p:nvPr>
            <p:ph type="title" hasCustomPrompt="1"/>
          </p:nvPr>
        </p:nvSpPr>
        <p:spPr>
          <a:xfrm>
            <a:off x="266400" y="1476000"/>
            <a:ext cx="11642400" cy="1854000"/>
          </a:xfrm>
        </p:spPr>
        <p:txBody>
          <a:bodyPr anchor="t" anchorCtr="0"/>
          <a:lstStyle>
            <a:lvl1pPr>
              <a:defRPr b="1">
                <a:solidFill>
                  <a:schemeClr val="tx1"/>
                </a:solidFill>
              </a:defRPr>
            </a:lvl1pPr>
          </a:lstStyle>
          <a:p>
            <a:r>
              <a:rPr lang="en-US"/>
              <a:t>Section Heading</a:t>
            </a:r>
            <a:endParaRPr lang="en-GB"/>
          </a:p>
        </p:txBody>
      </p:sp>
      <p:pic>
        <p:nvPicPr>
          <p:cNvPr id="10" name="Image, Linnaeus University logotype" descr="Linnaeus University logotype">
            <a:extLst>
              <a:ext uri="{FF2B5EF4-FFF2-40B4-BE49-F238E27FC236}">
                <a16:creationId xmlns:a16="http://schemas.microsoft.com/office/drawing/2014/main" id="{4C447962-5A90-F417-C52D-0862102BEF2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67200" y="363600"/>
            <a:ext cx="2336005" cy="373334"/>
          </a:xfrm>
          <a:prstGeom prst="rect">
            <a:avLst/>
          </a:prstGeom>
        </p:spPr>
      </p:pic>
    </p:spTree>
    <p:extLst>
      <p:ext uri="{BB962C8B-B14F-4D97-AF65-F5344CB8AC3E}">
        <p14:creationId xmlns:p14="http://schemas.microsoft.com/office/powerpoint/2010/main" val="864134478"/>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one column">
    <p:bg>
      <p:bgRef idx="1001">
        <a:schemeClr val="bg1"/>
      </p:bgRef>
    </p:bg>
    <p:spTree>
      <p:nvGrpSpPr>
        <p:cNvPr id="1" name=""/>
        <p:cNvGrpSpPr/>
        <p:nvPr/>
      </p:nvGrpSpPr>
      <p:grpSpPr>
        <a:xfrm>
          <a:off x="0" y="0"/>
          <a:ext cx="0" cy="0"/>
          <a:chOff x="0" y="0"/>
          <a:chExt cx="0" cy="0"/>
        </a:xfrm>
      </p:grpSpPr>
      <p:sp>
        <p:nvSpPr>
          <p:cNvPr id="3" name="Slide Number Placeholder">
            <a:extLst>
              <a:ext uri="{FF2B5EF4-FFF2-40B4-BE49-F238E27FC236}">
                <a16:creationId xmlns:a16="http://schemas.microsoft.com/office/drawing/2014/main" id="{F42A2C36-45F1-78E2-7FD0-47A600048867}"/>
              </a:ext>
            </a:extLst>
          </p:cNvPr>
          <p:cNvSpPr>
            <a:spLocks noGrp="1"/>
          </p:cNvSpPr>
          <p:nvPr>
            <p:ph type="sldNum" sz="quarter" idx="10"/>
          </p:nvPr>
        </p:nvSpPr>
        <p:spPr/>
        <p:txBody>
          <a:bodyPr/>
          <a:lstStyle/>
          <a:p>
            <a:fld id="{7409167B-7A9B-460A-AC8D-6F72C9603382}" type="slidenum">
              <a:rPr lang="en-GB" smtClean="0"/>
              <a:pPr/>
              <a:t>‹Nr.›</a:t>
            </a:fld>
            <a:endParaRPr lang="en-GB"/>
          </a:p>
        </p:txBody>
      </p:sp>
      <p:sp>
        <p:nvSpPr>
          <p:cNvPr id="5" name="Text Placeholder">
            <a:extLst>
              <a:ext uri="{FF2B5EF4-FFF2-40B4-BE49-F238E27FC236}">
                <a16:creationId xmlns:a16="http://schemas.microsoft.com/office/drawing/2014/main" id="{7640B8E5-7619-CC90-C118-7BB2D39855E7}"/>
              </a:ext>
            </a:extLst>
          </p:cNvPr>
          <p:cNvSpPr>
            <a:spLocks noGrp="1"/>
          </p:cNvSpPr>
          <p:nvPr>
            <p:ph type="body" sz="quarter" idx="11"/>
          </p:nvPr>
        </p:nvSpPr>
        <p:spPr>
          <a:xfrm>
            <a:off x="266699" y="2664000"/>
            <a:ext cx="11642400" cy="3394800"/>
          </a:xfrm>
        </p:spPr>
        <p:txBody>
          <a:bodyPr>
            <a:normAutofit/>
          </a:bodyPr>
          <a:lstStyle>
            <a:lvl1pPr marL="0" indent="0">
              <a:buNone/>
              <a:defRPr sz="2800"/>
            </a:lvl1pPr>
            <a:lvl2pPr marL="457200" indent="0">
              <a:buNone/>
              <a:defRPr/>
            </a:lvl2pPr>
            <a:lvl3pPr marL="914400" indent="0">
              <a:buNone/>
              <a:defRPr/>
            </a:lvl3pPr>
            <a:lvl4pPr marL="1371600" indent="0">
              <a:buNone/>
              <a:defRPr/>
            </a:lvl4pPr>
            <a:lvl5pPr marL="1828800" indent="0">
              <a:buNone/>
              <a:defRPr/>
            </a:lvl5pPr>
          </a:lstStyle>
          <a:p>
            <a:pPr lvl="0"/>
            <a:r>
              <a:rPr lang="de-DE"/>
              <a:t>Mastertextformat bearbeiten</a:t>
            </a:r>
          </a:p>
        </p:txBody>
      </p:sp>
      <p:sp>
        <p:nvSpPr>
          <p:cNvPr id="2" name="Title">
            <a:extLst>
              <a:ext uri="{FF2B5EF4-FFF2-40B4-BE49-F238E27FC236}">
                <a16:creationId xmlns:a16="http://schemas.microsoft.com/office/drawing/2014/main" id="{036E2817-6F92-1124-D976-898B6006782A}"/>
              </a:ext>
            </a:extLst>
          </p:cNvPr>
          <p:cNvSpPr>
            <a:spLocks noGrp="1"/>
          </p:cNvSpPr>
          <p:nvPr>
            <p:ph type="title"/>
          </p:nvPr>
        </p:nvSpPr>
        <p:spPr>
          <a:xfrm>
            <a:off x="266400" y="1476000"/>
            <a:ext cx="11642400" cy="1123200"/>
          </a:xfrm>
        </p:spPr>
        <p:txBody>
          <a:bodyPr anchor="t" anchorCtr="0"/>
          <a:lstStyle>
            <a:lvl1pPr>
              <a:defRPr b="1"/>
            </a:lvl1pPr>
          </a:lstStyle>
          <a:p>
            <a:r>
              <a:rPr lang="de-DE"/>
              <a:t>Mastertitelformat bearbeiten</a:t>
            </a:r>
            <a:endParaRPr lang="en-GB"/>
          </a:p>
        </p:txBody>
      </p:sp>
      <p:pic>
        <p:nvPicPr>
          <p:cNvPr id="6" name="Image, Linnaeus University logotype" descr="Linnaeus University logotype">
            <a:extLst>
              <a:ext uri="{FF2B5EF4-FFF2-40B4-BE49-F238E27FC236}">
                <a16:creationId xmlns:a16="http://schemas.microsoft.com/office/drawing/2014/main" id="{105B71D3-2B42-A25B-8C0D-F40435EDE5B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67200" y="363600"/>
            <a:ext cx="2336005" cy="373334"/>
          </a:xfrm>
          <a:prstGeom prst="rect">
            <a:avLst/>
          </a:prstGeom>
        </p:spPr>
      </p:pic>
    </p:spTree>
    <p:extLst>
      <p:ext uri="{BB962C8B-B14F-4D97-AF65-F5344CB8AC3E}">
        <p14:creationId xmlns:p14="http://schemas.microsoft.com/office/powerpoint/2010/main" val="3816595321"/>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two columns">
    <p:bg>
      <p:bgRef idx="1001">
        <a:schemeClr val="bg1"/>
      </p:bgRef>
    </p:bg>
    <p:spTree>
      <p:nvGrpSpPr>
        <p:cNvPr id="1" name=""/>
        <p:cNvGrpSpPr/>
        <p:nvPr/>
      </p:nvGrpSpPr>
      <p:grpSpPr>
        <a:xfrm>
          <a:off x="0" y="0"/>
          <a:ext cx="0" cy="0"/>
          <a:chOff x="0" y="0"/>
          <a:chExt cx="0" cy="0"/>
        </a:xfrm>
      </p:grpSpPr>
      <p:sp>
        <p:nvSpPr>
          <p:cNvPr id="3" name="Slide Number Placeholder">
            <a:extLst>
              <a:ext uri="{FF2B5EF4-FFF2-40B4-BE49-F238E27FC236}">
                <a16:creationId xmlns:a16="http://schemas.microsoft.com/office/drawing/2014/main" id="{F42A2C36-45F1-78E2-7FD0-47A600048867}"/>
              </a:ext>
            </a:extLst>
          </p:cNvPr>
          <p:cNvSpPr>
            <a:spLocks noGrp="1"/>
          </p:cNvSpPr>
          <p:nvPr>
            <p:ph type="sldNum" sz="quarter" idx="10"/>
          </p:nvPr>
        </p:nvSpPr>
        <p:spPr/>
        <p:txBody>
          <a:bodyPr/>
          <a:lstStyle/>
          <a:p>
            <a:fld id="{7409167B-7A9B-460A-AC8D-6F72C9603382}" type="slidenum">
              <a:rPr lang="en-GB" smtClean="0"/>
              <a:pPr/>
              <a:t>‹Nr.›</a:t>
            </a:fld>
            <a:endParaRPr lang="en-GB"/>
          </a:p>
        </p:txBody>
      </p:sp>
      <p:sp>
        <p:nvSpPr>
          <p:cNvPr id="7" name="Text Placeholder, column 2">
            <a:extLst>
              <a:ext uri="{FF2B5EF4-FFF2-40B4-BE49-F238E27FC236}">
                <a16:creationId xmlns:a16="http://schemas.microsoft.com/office/drawing/2014/main" id="{491D232F-465C-9A77-7F04-8A2405E4C9BD}"/>
              </a:ext>
            </a:extLst>
          </p:cNvPr>
          <p:cNvSpPr>
            <a:spLocks noGrp="1"/>
          </p:cNvSpPr>
          <p:nvPr>
            <p:ph type="body" sz="quarter" idx="12"/>
          </p:nvPr>
        </p:nvSpPr>
        <p:spPr>
          <a:xfrm>
            <a:off x="5994000" y="2664000"/>
            <a:ext cx="5626800" cy="3395663"/>
          </a:xfrm>
        </p:spPr>
        <p:txBody>
          <a:bodyPr>
            <a:normAutofit/>
          </a:bodyPr>
          <a:lstStyle>
            <a:lvl1pPr marL="0" indent="0">
              <a:buNone/>
              <a:defRPr sz="2800"/>
            </a:lvl1pPr>
            <a:lvl2pPr marL="457200" indent="0">
              <a:buNone/>
              <a:defRPr/>
            </a:lvl2pPr>
            <a:lvl3pPr marL="914400" indent="0">
              <a:buNone/>
              <a:defRPr/>
            </a:lvl3pPr>
            <a:lvl4pPr marL="1371600" indent="0">
              <a:buNone/>
              <a:defRPr/>
            </a:lvl4pPr>
            <a:lvl5pPr marL="1828800" indent="0">
              <a:buNone/>
              <a:defRPr/>
            </a:lvl5pPr>
          </a:lstStyle>
          <a:p>
            <a:pPr lvl="0"/>
            <a:r>
              <a:rPr lang="de-DE"/>
              <a:t>Mastertextformat bearbeiten</a:t>
            </a:r>
          </a:p>
        </p:txBody>
      </p:sp>
      <p:sp>
        <p:nvSpPr>
          <p:cNvPr id="5" name="Text Placeholder, column 1">
            <a:extLst>
              <a:ext uri="{FF2B5EF4-FFF2-40B4-BE49-F238E27FC236}">
                <a16:creationId xmlns:a16="http://schemas.microsoft.com/office/drawing/2014/main" id="{7640B8E5-7619-CC90-C118-7BB2D39855E7}"/>
              </a:ext>
            </a:extLst>
          </p:cNvPr>
          <p:cNvSpPr>
            <a:spLocks noGrp="1"/>
          </p:cNvSpPr>
          <p:nvPr>
            <p:ph type="body" sz="quarter" idx="11"/>
          </p:nvPr>
        </p:nvSpPr>
        <p:spPr>
          <a:xfrm>
            <a:off x="266699" y="2664000"/>
            <a:ext cx="5661588" cy="3394800"/>
          </a:xfrm>
        </p:spPr>
        <p:txBody>
          <a:bodyPr>
            <a:normAutofit/>
          </a:bodyPr>
          <a:lstStyle>
            <a:lvl1pPr marL="0" indent="0">
              <a:buFont typeface="Arial" panose="020B0604020202020204" pitchFamily="34" charset="0"/>
              <a:buNone/>
              <a:defRPr sz="2800"/>
            </a:lvl1pPr>
            <a:lvl2pPr marL="457200" indent="0">
              <a:buNone/>
              <a:defRPr/>
            </a:lvl2pPr>
            <a:lvl3pPr marL="914400" indent="0">
              <a:buNone/>
              <a:defRPr/>
            </a:lvl3pPr>
            <a:lvl4pPr marL="1371600" indent="0">
              <a:buNone/>
              <a:defRPr/>
            </a:lvl4pPr>
            <a:lvl5pPr marL="1828800" indent="0">
              <a:buNone/>
              <a:defRPr/>
            </a:lvl5pPr>
          </a:lstStyle>
          <a:p>
            <a:pPr lvl="0"/>
            <a:r>
              <a:rPr lang="de-DE"/>
              <a:t>Mastertextformat bearbeiten</a:t>
            </a:r>
          </a:p>
        </p:txBody>
      </p:sp>
      <p:sp>
        <p:nvSpPr>
          <p:cNvPr id="2" name="Title">
            <a:extLst>
              <a:ext uri="{FF2B5EF4-FFF2-40B4-BE49-F238E27FC236}">
                <a16:creationId xmlns:a16="http://schemas.microsoft.com/office/drawing/2014/main" id="{036E2817-6F92-1124-D976-898B6006782A}"/>
              </a:ext>
            </a:extLst>
          </p:cNvPr>
          <p:cNvSpPr>
            <a:spLocks noGrp="1"/>
          </p:cNvSpPr>
          <p:nvPr>
            <p:ph type="title"/>
          </p:nvPr>
        </p:nvSpPr>
        <p:spPr>
          <a:xfrm>
            <a:off x="266400" y="1476000"/>
            <a:ext cx="11642400" cy="1123200"/>
          </a:xfrm>
        </p:spPr>
        <p:txBody>
          <a:bodyPr anchor="t" anchorCtr="0"/>
          <a:lstStyle>
            <a:lvl1pPr>
              <a:defRPr b="1"/>
            </a:lvl1pPr>
          </a:lstStyle>
          <a:p>
            <a:r>
              <a:rPr lang="de-DE"/>
              <a:t>Mastertitelformat bearbeiten</a:t>
            </a:r>
            <a:endParaRPr lang="en-GB"/>
          </a:p>
        </p:txBody>
      </p:sp>
      <p:pic>
        <p:nvPicPr>
          <p:cNvPr id="6" name="Image, Linnaeus University logotype" descr="Linnaeus University logotype">
            <a:extLst>
              <a:ext uri="{FF2B5EF4-FFF2-40B4-BE49-F238E27FC236}">
                <a16:creationId xmlns:a16="http://schemas.microsoft.com/office/drawing/2014/main" id="{105B71D3-2B42-A25B-8C0D-F40435EDE5B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67200" y="363600"/>
            <a:ext cx="2336005" cy="373334"/>
          </a:xfrm>
          <a:prstGeom prst="rect">
            <a:avLst/>
          </a:prstGeom>
        </p:spPr>
      </p:pic>
    </p:spTree>
    <p:extLst>
      <p:ext uri="{BB962C8B-B14F-4D97-AF65-F5344CB8AC3E}">
        <p14:creationId xmlns:p14="http://schemas.microsoft.com/office/powerpoint/2010/main" val="213809547"/>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eading and chart comparison">
    <p:bg>
      <p:bgRef idx="1001">
        <a:schemeClr val="bg1"/>
      </p:bgRef>
    </p:bg>
    <p:spTree>
      <p:nvGrpSpPr>
        <p:cNvPr id="1" name=""/>
        <p:cNvGrpSpPr/>
        <p:nvPr/>
      </p:nvGrpSpPr>
      <p:grpSpPr>
        <a:xfrm>
          <a:off x="0" y="0"/>
          <a:ext cx="0" cy="0"/>
          <a:chOff x="0" y="0"/>
          <a:chExt cx="0" cy="0"/>
        </a:xfrm>
      </p:grpSpPr>
      <p:sp>
        <p:nvSpPr>
          <p:cNvPr id="3" name="Slide Number Placeholder">
            <a:extLst>
              <a:ext uri="{FF2B5EF4-FFF2-40B4-BE49-F238E27FC236}">
                <a16:creationId xmlns:a16="http://schemas.microsoft.com/office/drawing/2014/main" id="{F42A2C36-45F1-78E2-7FD0-47A600048867}"/>
              </a:ext>
            </a:extLst>
          </p:cNvPr>
          <p:cNvSpPr>
            <a:spLocks noGrp="1"/>
          </p:cNvSpPr>
          <p:nvPr>
            <p:ph type="sldNum" sz="quarter" idx="10"/>
          </p:nvPr>
        </p:nvSpPr>
        <p:spPr/>
        <p:txBody>
          <a:bodyPr/>
          <a:lstStyle/>
          <a:p>
            <a:fld id="{7409167B-7A9B-460A-AC8D-6F72C9603382}" type="slidenum">
              <a:rPr lang="en-GB" smtClean="0"/>
              <a:pPr/>
              <a:t>‹Nr.›</a:t>
            </a:fld>
            <a:endParaRPr lang="en-GB"/>
          </a:p>
        </p:txBody>
      </p:sp>
      <p:sp>
        <p:nvSpPr>
          <p:cNvPr id="9" name="Chart Placeholder, cloumn 2">
            <a:extLst>
              <a:ext uri="{FF2B5EF4-FFF2-40B4-BE49-F238E27FC236}">
                <a16:creationId xmlns:a16="http://schemas.microsoft.com/office/drawing/2014/main" id="{4DFE95C1-DD63-EFDD-BF2D-436CBBD890A1}"/>
              </a:ext>
            </a:extLst>
          </p:cNvPr>
          <p:cNvSpPr>
            <a:spLocks noGrp="1"/>
          </p:cNvSpPr>
          <p:nvPr>
            <p:ph type="chart" sz="quarter" idx="14"/>
          </p:nvPr>
        </p:nvSpPr>
        <p:spPr>
          <a:xfrm>
            <a:off x="6192000" y="2663823"/>
            <a:ext cx="5626800" cy="3405600"/>
          </a:xfrm>
        </p:spPr>
        <p:txBody>
          <a:bodyPr>
            <a:normAutofit/>
          </a:bodyPr>
          <a:lstStyle>
            <a:lvl1pPr marL="0" indent="0">
              <a:buNone/>
              <a:defRPr sz="2800"/>
            </a:lvl1pPr>
          </a:lstStyle>
          <a:p>
            <a:endParaRPr lang="en-GB"/>
          </a:p>
        </p:txBody>
      </p:sp>
      <p:sp>
        <p:nvSpPr>
          <p:cNvPr id="8" name="Chart Placeholder, column 1">
            <a:extLst>
              <a:ext uri="{FF2B5EF4-FFF2-40B4-BE49-F238E27FC236}">
                <a16:creationId xmlns:a16="http://schemas.microsoft.com/office/drawing/2014/main" id="{E35E8247-A3D0-2D70-825C-E00990483D65}"/>
              </a:ext>
            </a:extLst>
          </p:cNvPr>
          <p:cNvSpPr>
            <a:spLocks noGrp="1"/>
          </p:cNvSpPr>
          <p:nvPr>
            <p:ph type="chart" sz="quarter" idx="13"/>
          </p:nvPr>
        </p:nvSpPr>
        <p:spPr>
          <a:xfrm>
            <a:off x="370800" y="2663824"/>
            <a:ext cx="5626800" cy="3405600"/>
          </a:xfrm>
        </p:spPr>
        <p:txBody>
          <a:bodyPr>
            <a:normAutofit/>
          </a:bodyPr>
          <a:lstStyle>
            <a:lvl1pPr marL="0" indent="0">
              <a:buNone/>
              <a:defRPr sz="2800"/>
            </a:lvl1pPr>
          </a:lstStyle>
          <a:p>
            <a:endParaRPr lang="en-GB"/>
          </a:p>
        </p:txBody>
      </p:sp>
      <p:sp>
        <p:nvSpPr>
          <p:cNvPr id="2" name="Title">
            <a:extLst>
              <a:ext uri="{FF2B5EF4-FFF2-40B4-BE49-F238E27FC236}">
                <a16:creationId xmlns:a16="http://schemas.microsoft.com/office/drawing/2014/main" id="{036E2817-6F92-1124-D976-898B6006782A}"/>
              </a:ext>
            </a:extLst>
          </p:cNvPr>
          <p:cNvSpPr>
            <a:spLocks noGrp="1"/>
          </p:cNvSpPr>
          <p:nvPr>
            <p:ph type="title"/>
          </p:nvPr>
        </p:nvSpPr>
        <p:spPr>
          <a:xfrm>
            <a:off x="266400" y="1476000"/>
            <a:ext cx="11642400" cy="1123200"/>
          </a:xfrm>
        </p:spPr>
        <p:txBody>
          <a:bodyPr anchor="t" anchorCtr="0"/>
          <a:lstStyle>
            <a:lvl1pPr>
              <a:defRPr b="1"/>
            </a:lvl1pPr>
          </a:lstStyle>
          <a:p>
            <a:r>
              <a:rPr lang="de-DE"/>
              <a:t>Mastertitelformat bearbeiten</a:t>
            </a:r>
            <a:endParaRPr lang="en-GB"/>
          </a:p>
        </p:txBody>
      </p:sp>
      <p:pic>
        <p:nvPicPr>
          <p:cNvPr id="6" name="Image, Linnaeus University logotype" descr="Linnaeus University logotype">
            <a:extLst>
              <a:ext uri="{FF2B5EF4-FFF2-40B4-BE49-F238E27FC236}">
                <a16:creationId xmlns:a16="http://schemas.microsoft.com/office/drawing/2014/main" id="{105B71D3-2B42-A25B-8C0D-F40435EDE5B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67200" y="363600"/>
            <a:ext cx="2336005" cy="373334"/>
          </a:xfrm>
          <a:prstGeom prst="rect">
            <a:avLst/>
          </a:prstGeom>
        </p:spPr>
      </p:pic>
    </p:spTree>
    <p:extLst>
      <p:ext uri="{BB962C8B-B14F-4D97-AF65-F5344CB8AC3E}">
        <p14:creationId xmlns:p14="http://schemas.microsoft.com/office/powerpoint/2010/main" val="2454848860"/>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Heading text and circles">
    <p:bg>
      <p:bgRef idx="1001">
        <a:schemeClr val="bg1"/>
      </p:bgRef>
    </p:bg>
    <p:spTree>
      <p:nvGrpSpPr>
        <p:cNvPr id="1" name=""/>
        <p:cNvGrpSpPr/>
        <p:nvPr/>
      </p:nvGrpSpPr>
      <p:grpSpPr>
        <a:xfrm>
          <a:off x="0" y="0"/>
          <a:ext cx="0" cy="0"/>
          <a:chOff x="0" y="0"/>
          <a:chExt cx="0" cy="0"/>
        </a:xfrm>
      </p:grpSpPr>
      <p:sp>
        <p:nvSpPr>
          <p:cNvPr id="12" name="Circle 2">
            <a:extLst>
              <a:ext uri="{FF2B5EF4-FFF2-40B4-BE49-F238E27FC236}">
                <a16:creationId xmlns:a16="http://schemas.microsoft.com/office/drawing/2014/main" id="{4D40E43A-DA36-6587-BD1F-A50FDB8F38E5}"/>
              </a:ext>
              <a:ext uri="{C183D7F6-B498-43B3-948B-1728B52AA6E4}">
                <adec:decorative xmlns:adec="http://schemas.microsoft.com/office/drawing/2017/decorative" val="1"/>
              </a:ext>
            </a:extLst>
          </p:cNvPr>
          <p:cNvSpPr/>
          <p:nvPr userDrawn="1"/>
        </p:nvSpPr>
        <p:spPr>
          <a:xfrm>
            <a:off x="8861716" y="2012547"/>
            <a:ext cx="3330284" cy="4845452"/>
          </a:xfrm>
          <a:custGeom>
            <a:avLst/>
            <a:gdLst>
              <a:gd name="connsiteX0" fmla="*/ 3072412 w 3330284"/>
              <a:gd name="connsiteY0" fmla="*/ 0 h 4845452"/>
              <a:gd name="connsiteX1" fmla="*/ 3230518 w 3330284"/>
              <a:gd name="connsiteY1" fmla="*/ 3998 h 4845452"/>
              <a:gd name="connsiteX2" fmla="*/ 3330284 w 3330284"/>
              <a:gd name="connsiteY2" fmla="*/ 11584 h 4845452"/>
              <a:gd name="connsiteX3" fmla="*/ 3330284 w 3330284"/>
              <a:gd name="connsiteY3" fmla="*/ 4845452 h 4845452"/>
              <a:gd name="connsiteX4" fmla="*/ 566017 w 3330284"/>
              <a:gd name="connsiteY4" fmla="*/ 4845452 h 4845452"/>
              <a:gd name="connsiteX5" fmla="*/ 524720 w 3330284"/>
              <a:gd name="connsiteY5" fmla="*/ 4790227 h 4845452"/>
              <a:gd name="connsiteX6" fmla="*/ 0 w 3330284"/>
              <a:gd name="connsiteY6" fmla="*/ 3072412 h 4845452"/>
              <a:gd name="connsiteX7" fmla="*/ 3072412 w 3330284"/>
              <a:gd name="connsiteY7" fmla="*/ 0 h 4845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30284" h="4845452">
                <a:moveTo>
                  <a:pt x="3072412" y="0"/>
                </a:moveTo>
                <a:cubicBezTo>
                  <a:pt x="3125438" y="0"/>
                  <a:pt x="3178151" y="1344"/>
                  <a:pt x="3230518" y="3998"/>
                </a:cubicBezTo>
                <a:lnTo>
                  <a:pt x="3330284" y="11584"/>
                </a:lnTo>
                <a:lnTo>
                  <a:pt x="3330284" y="4845452"/>
                </a:lnTo>
                <a:lnTo>
                  <a:pt x="566017" y="4845452"/>
                </a:lnTo>
                <a:lnTo>
                  <a:pt x="524720" y="4790227"/>
                </a:lnTo>
                <a:cubicBezTo>
                  <a:pt x="193439" y="4299867"/>
                  <a:pt x="0" y="3708730"/>
                  <a:pt x="0" y="3072412"/>
                </a:cubicBezTo>
                <a:cubicBezTo>
                  <a:pt x="0" y="1375566"/>
                  <a:pt x="1375566" y="0"/>
                  <a:pt x="3072412" y="0"/>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b="0" i="0" noProof="0">
              <a:latin typeface="Arial" panose="020B0604020202020204" pitchFamily="34" charset="0"/>
            </a:endParaRPr>
          </a:p>
        </p:txBody>
      </p:sp>
      <p:sp>
        <p:nvSpPr>
          <p:cNvPr id="13" name="Circle 1">
            <a:extLst>
              <a:ext uri="{FF2B5EF4-FFF2-40B4-BE49-F238E27FC236}">
                <a16:creationId xmlns:a16="http://schemas.microsoft.com/office/drawing/2014/main" id="{F8CD15DE-F852-BC75-A702-AF8D3E0D65CD}"/>
              </a:ext>
              <a:ext uri="{C183D7F6-B498-43B3-948B-1728B52AA6E4}">
                <adec:decorative xmlns:adec="http://schemas.microsoft.com/office/drawing/2017/decorative" val="1"/>
              </a:ext>
            </a:extLst>
          </p:cNvPr>
          <p:cNvSpPr/>
          <p:nvPr userDrawn="1"/>
        </p:nvSpPr>
        <p:spPr>
          <a:xfrm>
            <a:off x="6539594" y="2689499"/>
            <a:ext cx="2158930" cy="2158930"/>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noProof="0">
              <a:latin typeface="Arial" panose="020B0604020202020204" pitchFamily="34" charset="0"/>
            </a:endParaRPr>
          </a:p>
        </p:txBody>
      </p:sp>
      <p:sp>
        <p:nvSpPr>
          <p:cNvPr id="3" name="Slide Number Placeholder">
            <a:extLst>
              <a:ext uri="{FF2B5EF4-FFF2-40B4-BE49-F238E27FC236}">
                <a16:creationId xmlns:a16="http://schemas.microsoft.com/office/drawing/2014/main" id="{F42A2C36-45F1-78E2-7FD0-47A600048867}"/>
              </a:ext>
            </a:extLst>
          </p:cNvPr>
          <p:cNvSpPr>
            <a:spLocks noGrp="1"/>
          </p:cNvSpPr>
          <p:nvPr>
            <p:ph type="sldNum" sz="quarter" idx="10"/>
          </p:nvPr>
        </p:nvSpPr>
        <p:spPr/>
        <p:txBody>
          <a:bodyPr/>
          <a:lstStyle/>
          <a:p>
            <a:fld id="{7409167B-7A9B-460A-AC8D-6F72C9603382}" type="slidenum">
              <a:rPr lang="en-GB" smtClean="0"/>
              <a:pPr/>
              <a:t>‹Nr.›</a:t>
            </a:fld>
            <a:endParaRPr lang="en-GB"/>
          </a:p>
        </p:txBody>
      </p:sp>
      <p:sp>
        <p:nvSpPr>
          <p:cNvPr id="5" name="Text Placeholder">
            <a:extLst>
              <a:ext uri="{FF2B5EF4-FFF2-40B4-BE49-F238E27FC236}">
                <a16:creationId xmlns:a16="http://schemas.microsoft.com/office/drawing/2014/main" id="{7640B8E5-7619-CC90-C118-7BB2D39855E7}"/>
              </a:ext>
            </a:extLst>
          </p:cNvPr>
          <p:cNvSpPr>
            <a:spLocks noGrp="1"/>
          </p:cNvSpPr>
          <p:nvPr>
            <p:ph type="body" sz="quarter" idx="11"/>
          </p:nvPr>
        </p:nvSpPr>
        <p:spPr>
          <a:xfrm>
            <a:off x="266699" y="2664000"/>
            <a:ext cx="6109200" cy="3394800"/>
          </a:xfrm>
        </p:spPr>
        <p:txBody>
          <a:bodyPr>
            <a:normAutofit/>
          </a:bodyPr>
          <a:lstStyle>
            <a:lvl1pPr marL="0" indent="0">
              <a:buNone/>
              <a:defRPr sz="2800"/>
            </a:lvl1pPr>
            <a:lvl2pPr marL="457200" indent="0">
              <a:buNone/>
              <a:defRPr/>
            </a:lvl2pPr>
            <a:lvl3pPr marL="914400" indent="0">
              <a:buNone/>
              <a:defRPr/>
            </a:lvl3pPr>
            <a:lvl4pPr marL="1371600" indent="0">
              <a:buNone/>
              <a:defRPr/>
            </a:lvl4pPr>
            <a:lvl5pPr marL="1828800" indent="0">
              <a:buNone/>
              <a:defRPr/>
            </a:lvl5pPr>
          </a:lstStyle>
          <a:p>
            <a:pPr lvl="0"/>
            <a:r>
              <a:rPr lang="de-DE"/>
              <a:t>Mastertextformat bearbeiten</a:t>
            </a:r>
          </a:p>
        </p:txBody>
      </p:sp>
      <p:sp>
        <p:nvSpPr>
          <p:cNvPr id="2" name="Title">
            <a:extLst>
              <a:ext uri="{FF2B5EF4-FFF2-40B4-BE49-F238E27FC236}">
                <a16:creationId xmlns:a16="http://schemas.microsoft.com/office/drawing/2014/main" id="{036E2817-6F92-1124-D976-898B6006782A}"/>
              </a:ext>
            </a:extLst>
          </p:cNvPr>
          <p:cNvSpPr>
            <a:spLocks noGrp="1"/>
          </p:cNvSpPr>
          <p:nvPr>
            <p:ph type="title"/>
          </p:nvPr>
        </p:nvSpPr>
        <p:spPr>
          <a:xfrm>
            <a:off x="266400" y="1476000"/>
            <a:ext cx="11642400" cy="1123200"/>
          </a:xfrm>
        </p:spPr>
        <p:txBody>
          <a:bodyPr anchor="t" anchorCtr="0"/>
          <a:lstStyle>
            <a:lvl1pPr>
              <a:defRPr b="1"/>
            </a:lvl1pPr>
          </a:lstStyle>
          <a:p>
            <a:r>
              <a:rPr lang="de-DE"/>
              <a:t>Mastertitelformat bearbeiten</a:t>
            </a:r>
            <a:endParaRPr lang="en-GB"/>
          </a:p>
        </p:txBody>
      </p:sp>
      <p:pic>
        <p:nvPicPr>
          <p:cNvPr id="6" name="Image, Linnaeus University logotype" descr="Linnaeus University logotype">
            <a:extLst>
              <a:ext uri="{FF2B5EF4-FFF2-40B4-BE49-F238E27FC236}">
                <a16:creationId xmlns:a16="http://schemas.microsoft.com/office/drawing/2014/main" id="{105B71D3-2B42-A25B-8C0D-F40435EDE5B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67200" y="363600"/>
            <a:ext cx="2336005" cy="373334"/>
          </a:xfrm>
          <a:prstGeom prst="rect">
            <a:avLst/>
          </a:prstGeom>
        </p:spPr>
      </p:pic>
    </p:spTree>
    <p:extLst>
      <p:ext uri="{BB962C8B-B14F-4D97-AF65-F5344CB8AC3E}">
        <p14:creationId xmlns:p14="http://schemas.microsoft.com/office/powerpoint/2010/main" val="3676883268"/>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and image half page">
    <p:bg>
      <p:bgRef idx="1001">
        <a:schemeClr val="bg1"/>
      </p:bgRef>
    </p:bg>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9AD478D0-C2A6-11CF-23A7-CE0E541C9C71}"/>
              </a:ext>
            </a:extLst>
          </p:cNvPr>
          <p:cNvSpPr>
            <a:spLocks noGrp="1"/>
          </p:cNvSpPr>
          <p:nvPr>
            <p:ph type="pic" sz="quarter" idx="12"/>
          </p:nvPr>
        </p:nvSpPr>
        <p:spPr>
          <a:xfrm>
            <a:off x="6300000" y="0"/>
            <a:ext cx="5889600" cy="6858000"/>
          </a:xfrm>
        </p:spPr>
        <p:txBody>
          <a:bodyPr/>
          <a:lstStyle>
            <a:lvl1pPr marL="0" indent="0">
              <a:buNone/>
              <a:defRPr/>
            </a:lvl1pPr>
          </a:lstStyle>
          <a:p>
            <a:endParaRPr lang="en-GB"/>
          </a:p>
        </p:txBody>
      </p:sp>
      <p:sp>
        <p:nvSpPr>
          <p:cNvPr id="5" name="Text Placeholder">
            <a:extLst>
              <a:ext uri="{FF2B5EF4-FFF2-40B4-BE49-F238E27FC236}">
                <a16:creationId xmlns:a16="http://schemas.microsoft.com/office/drawing/2014/main" id="{7640B8E5-7619-CC90-C118-7BB2D39855E7}"/>
              </a:ext>
            </a:extLst>
          </p:cNvPr>
          <p:cNvSpPr>
            <a:spLocks noGrp="1"/>
          </p:cNvSpPr>
          <p:nvPr>
            <p:ph type="body" sz="quarter" idx="11"/>
          </p:nvPr>
        </p:nvSpPr>
        <p:spPr>
          <a:xfrm>
            <a:off x="266699" y="2440800"/>
            <a:ext cx="5828400" cy="3618000"/>
          </a:xfrm>
        </p:spPr>
        <p:txBody>
          <a:bodyPr>
            <a:normAutofit/>
          </a:bodyPr>
          <a:lstStyle>
            <a:lvl1pPr marL="0" indent="0">
              <a:buNone/>
              <a:defRPr sz="2800"/>
            </a:lvl1pPr>
            <a:lvl2pPr marL="457200" indent="0">
              <a:buNone/>
              <a:defRPr/>
            </a:lvl2pPr>
            <a:lvl3pPr marL="914400" indent="0">
              <a:buNone/>
              <a:defRPr/>
            </a:lvl3pPr>
            <a:lvl4pPr marL="1371600" indent="0">
              <a:buNone/>
              <a:defRPr/>
            </a:lvl4pPr>
            <a:lvl5pPr marL="1828800" indent="0">
              <a:buNone/>
              <a:defRPr/>
            </a:lvl5pPr>
          </a:lstStyle>
          <a:p>
            <a:pPr lvl="0"/>
            <a:r>
              <a:rPr lang="de-DE"/>
              <a:t>Mastertextformat bearbeiten</a:t>
            </a:r>
          </a:p>
        </p:txBody>
      </p:sp>
      <p:sp>
        <p:nvSpPr>
          <p:cNvPr id="2" name="Title">
            <a:extLst>
              <a:ext uri="{FF2B5EF4-FFF2-40B4-BE49-F238E27FC236}">
                <a16:creationId xmlns:a16="http://schemas.microsoft.com/office/drawing/2014/main" id="{036E2817-6F92-1124-D976-898B6006782A}"/>
              </a:ext>
            </a:extLst>
          </p:cNvPr>
          <p:cNvSpPr>
            <a:spLocks noGrp="1"/>
          </p:cNvSpPr>
          <p:nvPr>
            <p:ph type="title"/>
          </p:nvPr>
        </p:nvSpPr>
        <p:spPr>
          <a:xfrm>
            <a:off x="266400" y="1512000"/>
            <a:ext cx="5828400" cy="802800"/>
          </a:xfrm>
        </p:spPr>
        <p:txBody>
          <a:bodyPr anchor="t" anchorCtr="0">
            <a:normAutofit/>
          </a:bodyPr>
          <a:lstStyle>
            <a:lvl1pPr>
              <a:defRPr sz="2400" b="1"/>
            </a:lvl1pPr>
          </a:lstStyle>
          <a:p>
            <a:r>
              <a:rPr lang="de-DE"/>
              <a:t>Mastertitelformat bearbeiten</a:t>
            </a:r>
            <a:endParaRPr lang="en-GB"/>
          </a:p>
        </p:txBody>
      </p:sp>
      <p:pic>
        <p:nvPicPr>
          <p:cNvPr id="6" name="Image, Linnaeus University logotype" descr="Linnaeus University logotype">
            <a:extLst>
              <a:ext uri="{FF2B5EF4-FFF2-40B4-BE49-F238E27FC236}">
                <a16:creationId xmlns:a16="http://schemas.microsoft.com/office/drawing/2014/main" id="{105B71D3-2B42-A25B-8C0D-F40435EDE5B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67200" y="363600"/>
            <a:ext cx="2336005" cy="373334"/>
          </a:xfrm>
          <a:prstGeom prst="rect">
            <a:avLst/>
          </a:prstGeom>
        </p:spPr>
      </p:pic>
    </p:spTree>
    <p:extLst>
      <p:ext uri="{BB962C8B-B14F-4D97-AF65-F5344CB8AC3E}">
        <p14:creationId xmlns:p14="http://schemas.microsoft.com/office/powerpoint/2010/main" val="4197471240"/>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rge image and text">
    <p:bg>
      <p:bgRef idx="1001">
        <a:schemeClr val="bg1"/>
      </p:bgRef>
    </p:bg>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9AD478D0-C2A6-11CF-23A7-CE0E541C9C71}"/>
              </a:ext>
            </a:extLst>
          </p:cNvPr>
          <p:cNvSpPr>
            <a:spLocks noGrp="1"/>
          </p:cNvSpPr>
          <p:nvPr>
            <p:ph type="pic" sz="quarter" idx="12"/>
          </p:nvPr>
        </p:nvSpPr>
        <p:spPr>
          <a:xfrm>
            <a:off x="4114800" y="0"/>
            <a:ext cx="8074800" cy="6858000"/>
          </a:xfrm>
        </p:spPr>
        <p:txBody>
          <a:bodyPr/>
          <a:lstStyle>
            <a:lvl1pPr marL="0" indent="0">
              <a:buNone/>
              <a:defRPr/>
            </a:lvl1pPr>
          </a:lstStyle>
          <a:p>
            <a:endParaRPr lang="en-GB"/>
          </a:p>
        </p:txBody>
      </p:sp>
      <p:sp>
        <p:nvSpPr>
          <p:cNvPr id="5" name="Text Placeholder">
            <a:extLst>
              <a:ext uri="{FF2B5EF4-FFF2-40B4-BE49-F238E27FC236}">
                <a16:creationId xmlns:a16="http://schemas.microsoft.com/office/drawing/2014/main" id="{7640B8E5-7619-CC90-C118-7BB2D39855E7}"/>
              </a:ext>
            </a:extLst>
          </p:cNvPr>
          <p:cNvSpPr>
            <a:spLocks noGrp="1"/>
          </p:cNvSpPr>
          <p:nvPr>
            <p:ph type="body" sz="quarter" idx="11"/>
          </p:nvPr>
        </p:nvSpPr>
        <p:spPr>
          <a:xfrm>
            <a:off x="266699" y="2440800"/>
            <a:ext cx="3848400" cy="3618000"/>
          </a:xfrm>
        </p:spPr>
        <p:txBody>
          <a:bodyPr>
            <a:normAutofit/>
          </a:bodyPr>
          <a:lstStyle>
            <a:lvl1pPr marL="0" indent="0">
              <a:buNone/>
              <a:defRPr sz="1800"/>
            </a:lvl1pPr>
            <a:lvl2pPr marL="457200" indent="0">
              <a:buNone/>
              <a:defRPr/>
            </a:lvl2pPr>
            <a:lvl3pPr marL="914400" indent="0">
              <a:buNone/>
              <a:defRPr/>
            </a:lvl3pPr>
            <a:lvl4pPr marL="1371600" indent="0">
              <a:buNone/>
              <a:defRPr/>
            </a:lvl4pPr>
            <a:lvl5pPr marL="1828800" indent="0">
              <a:buNone/>
              <a:defRPr/>
            </a:lvl5pPr>
          </a:lstStyle>
          <a:p>
            <a:pPr lvl="0"/>
            <a:r>
              <a:rPr lang="de-DE"/>
              <a:t>Mastertextformat bearbeiten</a:t>
            </a:r>
          </a:p>
        </p:txBody>
      </p:sp>
      <p:sp>
        <p:nvSpPr>
          <p:cNvPr id="2" name="Title">
            <a:extLst>
              <a:ext uri="{FF2B5EF4-FFF2-40B4-BE49-F238E27FC236}">
                <a16:creationId xmlns:a16="http://schemas.microsoft.com/office/drawing/2014/main" id="{036E2817-6F92-1124-D976-898B6006782A}"/>
              </a:ext>
            </a:extLst>
          </p:cNvPr>
          <p:cNvSpPr>
            <a:spLocks noGrp="1"/>
          </p:cNvSpPr>
          <p:nvPr>
            <p:ph type="title"/>
          </p:nvPr>
        </p:nvSpPr>
        <p:spPr>
          <a:xfrm>
            <a:off x="266400" y="1512000"/>
            <a:ext cx="3848400" cy="802800"/>
          </a:xfrm>
        </p:spPr>
        <p:txBody>
          <a:bodyPr anchor="t" anchorCtr="0">
            <a:normAutofit/>
          </a:bodyPr>
          <a:lstStyle>
            <a:lvl1pPr>
              <a:defRPr sz="2400" b="1"/>
            </a:lvl1pPr>
          </a:lstStyle>
          <a:p>
            <a:r>
              <a:rPr lang="de-DE"/>
              <a:t>Mastertitelformat bearbeiten</a:t>
            </a:r>
            <a:endParaRPr lang="en-GB"/>
          </a:p>
        </p:txBody>
      </p:sp>
      <p:pic>
        <p:nvPicPr>
          <p:cNvPr id="6" name="Image, Linnaeus University logotype" descr="Linnaeus University logotype">
            <a:extLst>
              <a:ext uri="{FF2B5EF4-FFF2-40B4-BE49-F238E27FC236}">
                <a16:creationId xmlns:a16="http://schemas.microsoft.com/office/drawing/2014/main" id="{105B71D3-2B42-A25B-8C0D-F40435EDE5B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67200" y="363600"/>
            <a:ext cx="2336005" cy="373334"/>
          </a:xfrm>
          <a:prstGeom prst="rect">
            <a:avLst/>
          </a:prstGeom>
        </p:spPr>
      </p:pic>
    </p:spTree>
    <p:extLst>
      <p:ext uri="{BB962C8B-B14F-4D97-AF65-F5344CB8AC3E}">
        <p14:creationId xmlns:p14="http://schemas.microsoft.com/office/powerpoint/2010/main" val="693060253"/>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mall image and text">
    <p:bg>
      <p:bgRef idx="1001">
        <a:schemeClr val="bg1"/>
      </p:bgRef>
    </p:bg>
    <p:spTree>
      <p:nvGrpSpPr>
        <p:cNvPr id="1" name=""/>
        <p:cNvGrpSpPr/>
        <p:nvPr/>
      </p:nvGrpSpPr>
      <p:grpSpPr>
        <a:xfrm>
          <a:off x="0" y="0"/>
          <a:ext cx="0" cy="0"/>
          <a:chOff x="0" y="0"/>
          <a:chExt cx="0" cy="0"/>
        </a:xfrm>
      </p:grpSpPr>
      <p:sp>
        <p:nvSpPr>
          <p:cNvPr id="3" name="Slide Number Placeholder">
            <a:extLst>
              <a:ext uri="{FF2B5EF4-FFF2-40B4-BE49-F238E27FC236}">
                <a16:creationId xmlns:a16="http://schemas.microsoft.com/office/drawing/2014/main" id="{E7BB7ABA-A42D-A5B7-62E8-B17137AFEDC6}"/>
              </a:ext>
            </a:extLst>
          </p:cNvPr>
          <p:cNvSpPr>
            <a:spLocks noGrp="1"/>
          </p:cNvSpPr>
          <p:nvPr>
            <p:ph type="sldNum" sz="quarter" idx="13"/>
          </p:nvPr>
        </p:nvSpPr>
        <p:spPr/>
        <p:txBody>
          <a:bodyPr/>
          <a:lstStyle/>
          <a:p>
            <a:fld id="{7409167B-7A9B-460A-AC8D-6F72C9603382}" type="slidenum">
              <a:rPr lang="en-GB" smtClean="0"/>
              <a:pPr/>
              <a:t>‹Nr.›</a:t>
            </a:fld>
            <a:endParaRPr lang="en-GB"/>
          </a:p>
        </p:txBody>
      </p:sp>
      <p:sp>
        <p:nvSpPr>
          <p:cNvPr id="7" name="Picture Placeholder">
            <a:extLst>
              <a:ext uri="{FF2B5EF4-FFF2-40B4-BE49-F238E27FC236}">
                <a16:creationId xmlns:a16="http://schemas.microsoft.com/office/drawing/2014/main" id="{9AD478D0-C2A6-11CF-23A7-CE0E541C9C71}"/>
              </a:ext>
            </a:extLst>
          </p:cNvPr>
          <p:cNvSpPr>
            <a:spLocks noGrp="1"/>
          </p:cNvSpPr>
          <p:nvPr>
            <p:ph type="pic" sz="quarter" idx="12"/>
          </p:nvPr>
        </p:nvSpPr>
        <p:spPr>
          <a:xfrm>
            <a:off x="6094800" y="363600"/>
            <a:ext cx="5724000" cy="5979600"/>
          </a:xfrm>
        </p:spPr>
        <p:txBody>
          <a:bodyPr/>
          <a:lstStyle>
            <a:lvl1pPr marL="0" indent="0">
              <a:buNone/>
              <a:defRPr/>
            </a:lvl1pPr>
          </a:lstStyle>
          <a:p>
            <a:endParaRPr lang="en-GB"/>
          </a:p>
        </p:txBody>
      </p:sp>
      <p:sp>
        <p:nvSpPr>
          <p:cNvPr id="2" name="Title">
            <a:extLst>
              <a:ext uri="{FF2B5EF4-FFF2-40B4-BE49-F238E27FC236}">
                <a16:creationId xmlns:a16="http://schemas.microsoft.com/office/drawing/2014/main" id="{036E2817-6F92-1124-D976-898B6006782A}"/>
              </a:ext>
            </a:extLst>
          </p:cNvPr>
          <p:cNvSpPr>
            <a:spLocks noGrp="1"/>
          </p:cNvSpPr>
          <p:nvPr>
            <p:ph type="title"/>
          </p:nvPr>
        </p:nvSpPr>
        <p:spPr>
          <a:xfrm>
            <a:off x="266400" y="1512000"/>
            <a:ext cx="5594400" cy="4546800"/>
          </a:xfrm>
        </p:spPr>
        <p:txBody>
          <a:bodyPr anchor="t" anchorCtr="0">
            <a:normAutofit/>
          </a:bodyPr>
          <a:lstStyle>
            <a:lvl1pPr>
              <a:defRPr sz="2400" b="1"/>
            </a:lvl1pPr>
          </a:lstStyle>
          <a:p>
            <a:r>
              <a:rPr lang="de-DE"/>
              <a:t>Mastertitelformat bearbeiten</a:t>
            </a:r>
            <a:endParaRPr lang="en-GB"/>
          </a:p>
        </p:txBody>
      </p:sp>
      <p:pic>
        <p:nvPicPr>
          <p:cNvPr id="6" name="Image, Linnaeus University logotype" descr="Linnaeus University logotype">
            <a:extLst>
              <a:ext uri="{FF2B5EF4-FFF2-40B4-BE49-F238E27FC236}">
                <a16:creationId xmlns:a16="http://schemas.microsoft.com/office/drawing/2014/main" id="{105B71D3-2B42-A25B-8C0D-F40435EDE5B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67200" y="363600"/>
            <a:ext cx="2336005" cy="373334"/>
          </a:xfrm>
          <a:prstGeom prst="rect">
            <a:avLst/>
          </a:prstGeom>
        </p:spPr>
      </p:pic>
    </p:spTree>
    <p:extLst>
      <p:ext uri="{BB962C8B-B14F-4D97-AF65-F5344CB8AC3E}">
        <p14:creationId xmlns:p14="http://schemas.microsoft.com/office/powerpoint/2010/main" val="3463176686"/>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mage fullpage">
    <p:bg>
      <p:bgRef idx="1001">
        <a:schemeClr val="bg1"/>
      </p:bgRef>
    </p:bg>
    <p:spTree>
      <p:nvGrpSpPr>
        <p:cNvPr id="1" name=""/>
        <p:cNvGrpSpPr/>
        <p:nvPr/>
      </p:nvGrpSpPr>
      <p:grpSpPr>
        <a:xfrm>
          <a:off x="0" y="0"/>
          <a:ext cx="0" cy="0"/>
          <a:chOff x="0" y="0"/>
          <a:chExt cx="0" cy="0"/>
        </a:xfrm>
      </p:grpSpPr>
      <p:sp>
        <p:nvSpPr>
          <p:cNvPr id="5" name="Picture Placeholder">
            <a:extLst>
              <a:ext uri="{FF2B5EF4-FFF2-40B4-BE49-F238E27FC236}">
                <a16:creationId xmlns:a16="http://schemas.microsoft.com/office/drawing/2014/main" id="{83AC5F6F-E27D-87F0-153B-6D128B27155A}"/>
              </a:ext>
            </a:extLst>
          </p:cNvPr>
          <p:cNvSpPr>
            <a:spLocks noGrp="1"/>
          </p:cNvSpPr>
          <p:nvPr>
            <p:ph type="pic" sz="quarter" idx="10" hasCustomPrompt="1"/>
          </p:nvPr>
        </p:nvSpPr>
        <p:spPr>
          <a:xfrm>
            <a:off x="0" y="0"/>
            <a:ext cx="12192000" cy="6858000"/>
          </a:xfrm>
        </p:spPr>
        <p:txBody>
          <a:bodyPr/>
          <a:lstStyle>
            <a:lvl1pPr marL="0" indent="0">
              <a:buNone/>
              <a:defRPr/>
            </a:lvl1pPr>
          </a:lstStyle>
          <a:p>
            <a:r>
              <a:rPr lang="en-GB"/>
              <a:t>Click on the icon to add an image</a:t>
            </a:r>
          </a:p>
        </p:txBody>
      </p:sp>
    </p:spTree>
    <p:extLst>
      <p:ext uri="{BB962C8B-B14F-4D97-AF65-F5344CB8AC3E}">
        <p14:creationId xmlns:p14="http://schemas.microsoft.com/office/powerpoint/2010/main" val="3756379817"/>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edia fullpage">
    <p:bg>
      <p:bgRef idx="1001">
        <a:schemeClr val="bg1"/>
      </p:bgRef>
    </p:bg>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AA22CF55-A1ED-2687-F76E-C233782737C3}"/>
              </a:ext>
            </a:extLst>
          </p:cNvPr>
          <p:cNvSpPr>
            <a:spLocks noGrp="1"/>
          </p:cNvSpPr>
          <p:nvPr>
            <p:ph type="media" sz="quarter" idx="11" hasCustomPrompt="1"/>
          </p:nvPr>
        </p:nvSpPr>
        <p:spPr>
          <a:xfrm>
            <a:off x="0" y="0"/>
            <a:ext cx="12193200" cy="6858000"/>
          </a:xfrm>
        </p:spPr>
        <p:txBody>
          <a:bodyPr/>
          <a:lstStyle>
            <a:lvl1pPr marL="0" indent="0">
              <a:buNone/>
              <a:defRPr/>
            </a:lvl1pPr>
          </a:lstStyle>
          <a:p>
            <a:r>
              <a:rPr lang="en-GB"/>
              <a:t>Click on the icon to add media</a:t>
            </a:r>
          </a:p>
        </p:txBody>
      </p:sp>
    </p:spTree>
    <p:extLst>
      <p:ext uri="{BB962C8B-B14F-4D97-AF65-F5344CB8AC3E}">
        <p14:creationId xmlns:p14="http://schemas.microsoft.com/office/powerpoint/2010/main" val="1947559235"/>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art, heading and text">
    <p:bg>
      <p:bgRef idx="1001">
        <a:schemeClr val="bg1"/>
      </p:bgRef>
    </p:bg>
    <p:spTree>
      <p:nvGrpSpPr>
        <p:cNvPr id="1" name=""/>
        <p:cNvGrpSpPr/>
        <p:nvPr/>
      </p:nvGrpSpPr>
      <p:grpSpPr>
        <a:xfrm>
          <a:off x="0" y="0"/>
          <a:ext cx="0" cy="0"/>
          <a:chOff x="0" y="0"/>
          <a:chExt cx="0" cy="0"/>
        </a:xfrm>
      </p:grpSpPr>
      <p:sp>
        <p:nvSpPr>
          <p:cNvPr id="3" name="Slide Number Placeholder">
            <a:extLst>
              <a:ext uri="{FF2B5EF4-FFF2-40B4-BE49-F238E27FC236}">
                <a16:creationId xmlns:a16="http://schemas.microsoft.com/office/drawing/2014/main" id="{E7BB7ABA-A42D-A5B7-62E8-B17137AFEDC6}"/>
              </a:ext>
            </a:extLst>
          </p:cNvPr>
          <p:cNvSpPr>
            <a:spLocks noGrp="1"/>
          </p:cNvSpPr>
          <p:nvPr>
            <p:ph type="sldNum" sz="quarter" idx="13"/>
          </p:nvPr>
        </p:nvSpPr>
        <p:spPr/>
        <p:txBody>
          <a:bodyPr/>
          <a:lstStyle/>
          <a:p>
            <a:fld id="{7409167B-7A9B-460A-AC8D-6F72C9603382}" type="slidenum">
              <a:rPr lang="en-GB" smtClean="0"/>
              <a:pPr/>
              <a:t>‹Nr.›</a:t>
            </a:fld>
            <a:endParaRPr lang="en-GB"/>
          </a:p>
        </p:txBody>
      </p:sp>
      <p:sp>
        <p:nvSpPr>
          <p:cNvPr id="5" name="Chart Placeholder">
            <a:extLst>
              <a:ext uri="{FF2B5EF4-FFF2-40B4-BE49-F238E27FC236}">
                <a16:creationId xmlns:a16="http://schemas.microsoft.com/office/drawing/2014/main" id="{EC13ACBB-6128-E2E9-FE76-6897AFF63AEE}"/>
              </a:ext>
            </a:extLst>
          </p:cNvPr>
          <p:cNvSpPr>
            <a:spLocks noGrp="1"/>
          </p:cNvSpPr>
          <p:nvPr>
            <p:ph type="chart" sz="quarter" idx="14"/>
          </p:nvPr>
        </p:nvSpPr>
        <p:spPr>
          <a:xfrm>
            <a:off x="4114800" y="1591200"/>
            <a:ext cx="7704000" cy="4467600"/>
          </a:xfrm>
        </p:spPr>
        <p:txBody>
          <a:bodyPr>
            <a:normAutofit/>
          </a:bodyPr>
          <a:lstStyle>
            <a:lvl1pPr marL="0" indent="0">
              <a:buNone/>
              <a:defRPr sz="1800"/>
            </a:lvl1pPr>
          </a:lstStyle>
          <a:p>
            <a:endParaRPr lang="en-GB"/>
          </a:p>
        </p:txBody>
      </p:sp>
      <p:sp>
        <p:nvSpPr>
          <p:cNvPr id="9" name="Text Placeholder">
            <a:extLst>
              <a:ext uri="{FF2B5EF4-FFF2-40B4-BE49-F238E27FC236}">
                <a16:creationId xmlns:a16="http://schemas.microsoft.com/office/drawing/2014/main" id="{914F8945-5570-1A66-3937-2DABD8F58CC0}"/>
              </a:ext>
            </a:extLst>
          </p:cNvPr>
          <p:cNvSpPr>
            <a:spLocks noGrp="1"/>
          </p:cNvSpPr>
          <p:nvPr>
            <p:ph type="body" sz="quarter" idx="15"/>
          </p:nvPr>
        </p:nvSpPr>
        <p:spPr>
          <a:xfrm>
            <a:off x="266700" y="2440800"/>
            <a:ext cx="3849688" cy="3618000"/>
          </a:xfrm>
        </p:spPr>
        <p:txBody>
          <a:bodyPr>
            <a:normAutofit/>
          </a:bodyPr>
          <a:lstStyle>
            <a:lvl1pPr marL="0" indent="0">
              <a:buNone/>
              <a:defRPr sz="1800"/>
            </a:lvl1pPr>
          </a:lstStyle>
          <a:p>
            <a:pPr lvl="0"/>
            <a:r>
              <a:rPr lang="de-DE"/>
              <a:t>Mastertextformat bearbeiten</a:t>
            </a:r>
          </a:p>
        </p:txBody>
      </p:sp>
      <p:sp>
        <p:nvSpPr>
          <p:cNvPr id="2" name="Title">
            <a:extLst>
              <a:ext uri="{FF2B5EF4-FFF2-40B4-BE49-F238E27FC236}">
                <a16:creationId xmlns:a16="http://schemas.microsoft.com/office/drawing/2014/main" id="{036E2817-6F92-1124-D976-898B6006782A}"/>
              </a:ext>
            </a:extLst>
          </p:cNvPr>
          <p:cNvSpPr>
            <a:spLocks noGrp="1"/>
          </p:cNvSpPr>
          <p:nvPr>
            <p:ph type="title"/>
          </p:nvPr>
        </p:nvSpPr>
        <p:spPr>
          <a:xfrm>
            <a:off x="266400" y="1512000"/>
            <a:ext cx="3848400" cy="802800"/>
          </a:xfrm>
        </p:spPr>
        <p:txBody>
          <a:bodyPr anchor="t" anchorCtr="0">
            <a:normAutofit/>
          </a:bodyPr>
          <a:lstStyle>
            <a:lvl1pPr>
              <a:defRPr sz="2400" b="1"/>
            </a:lvl1pPr>
          </a:lstStyle>
          <a:p>
            <a:r>
              <a:rPr lang="de-DE"/>
              <a:t>Mastertitelformat bearbeiten</a:t>
            </a:r>
            <a:endParaRPr lang="en-GB"/>
          </a:p>
        </p:txBody>
      </p:sp>
      <p:pic>
        <p:nvPicPr>
          <p:cNvPr id="6" name="Image, Linnaeus University logotype" descr="Linnaeus University logotype">
            <a:extLst>
              <a:ext uri="{FF2B5EF4-FFF2-40B4-BE49-F238E27FC236}">
                <a16:creationId xmlns:a16="http://schemas.microsoft.com/office/drawing/2014/main" id="{105B71D3-2B42-A25B-8C0D-F40435EDE5B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67200" y="363600"/>
            <a:ext cx="2336005" cy="373334"/>
          </a:xfrm>
          <a:prstGeom prst="rect">
            <a:avLst/>
          </a:prstGeom>
        </p:spPr>
      </p:pic>
    </p:spTree>
    <p:extLst>
      <p:ext uri="{BB962C8B-B14F-4D97-AF65-F5344CB8AC3E}">
        <p14:creationId xmlns:p14="http://schemas.microsoft.com/office/powerpoint/2010/main" val="4178451703"/>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le, heading and text">
    <p:bg>
      <p:bgRef idx="1001">
        <a:schemeClr val="bg1"/>
      </p:bgRef>
    </p:bg>
    <p:spTree>
      <p:nvGrpSpPr>
        <p:cNvPr id="1" name=""/>
        <p:cNvGrpSpPr/>
        <p:nvPr/>
      </p:nvGrpSpPr>
      <p:grpSpPr>
        <a:xfrm>
          <a:off x="0" y="0"/>
          <a:ext cx="0" cy="0"/>
          <a:chOff x="0" y="0"/>
          <a:chExt cx="0" cy="0"/>
        </a:xfrm>
      </p:grpSpPr>
      <p:sp>
        <p:nvSpPr>
          <p:cNvPr id="3" name="Slide Number Placeholder">
            <a:extLst>
              <a:ext uri="{FF2B5EF4-FFF2-40B4-BE49-F238E27FC236}">
                <a16:creationId xmlns:a16="http://schemas.microsoft.com/office/drawing/2014/main" id="{E7BB7ABA-A42D-A5B7-62E8-B17137AFEDC6}"/>
              </a:ext>
            </a:extLst>
          </p:cNvPr>
          <p:cNvSpPr>
            <a:spLocks noGrp="1"/>
          </p:cNvSpPr>
          <p:nvPr>
            <p:ph type="sldNum" sz="quarter" idx="13"/>
          </p:nvPr>
        </p:nvSpPr>
        <p:spPr/>
        <p:txBody>
          <a:bodyPr/>
          <a:lstStyle/>
          <a:p>
            <a:fld id="{7409167B-7A9B-460A-AC8D-6F72C9603382}" type="slidenum">
              <a:rPr lang="en-GB" smtClean="0"/>
              <a:pPr/>
              <a:t>‹Nr.›</a:t>
            </a:fld>
            <a:endParaRPr lang="en-GB"/>
          </a:p>
        </p:txBody>
      </p:sp>
      <p:sp>
        <p:nvSpPr>
          <p:cNvPr id="7" name="Table Placeholder">
            <a:extLst>
              <a:ext uri="{FF2B5EF4-FFF2-40B4-BE49-F238E27FC236}">
                <a16:creationId xmlns:a16="http://schemas.microsoft.com/office/drawing/2014/main" id="{3F44E5D2-871B-232E-1C8F-745F669AD837}"/>
              </a:ext>
            </a:extLst>
          </p:cNvPr>
          <p:cNvSpPr>
            <a:spLocks noGrp="1"/>
          </p:cNvSpPr>
          <p:nvPr>
            <p:ph type="tbl" sz="quarter" idx="16"/>
          </p:nvPr>
        </p:nvSpPr>
        <p:spPr>
          <a:xfrm>
            <a:off x="4114800" y="1592263"/>
            <a:ext cx="7704000" cy="4467225"/>
          </a:xfrm>
        </p:spPr>
        <p:txBody>
          <a:bodyPr>
            <a:normAutofit/>
          </a:bodyPr>
          <a:lstStyle>
            <a:lvl1pPr marL="0" indent="0">
              <a:buNone/>
              <a:defRPr sz="1800"/>
            </a:lvl1pPr>
          </a:lstStyle>
          <a:p>
            <a:endParaRPr lang="en-GB"/>
          </a:p>
        </p:txBody>
      </p:sp>
      <p:sp>
        <p:nvSpPr>
          <p:cNvPr id="9" name="Text Placeholder">
            <a:extLst>
              <a:ext uri="{FF2B5EF4-FFF2-40B4-BE49-F238E27FC236}">
                <a16:creationId xmlns:a16="http://schemas.microsoft.com/office/drawing/2014/main" id="{914F8945-5570-1A66-3937-2DABD8F58CC0}"/>
              </a:ext>
            </a:extLst>
          </p:cNvPr>
          <p:cNvSpPr>
            <a:spLocks noGrp="1"/>
          </p:cNvSpPr>
          <p:nvPr>
            <p:ph type="body" sz="quarter" idx="15"/>
          </p:nvPr>
        </p:nvSpPr>
        <p:spPr>
          <a:xfrm>
            <a:off x="266700" y="2440800"/>
            <a:ext cx="3849688" cy="3618000"/>
          </a:xfrm>
        </p:spPr>
        <p:txBody>
          <a:bodyPr>
            <a:normAutofit/>
          </a:bodyPr>
          <a:lstStyle>
            <a:lvl1pPr marL="0" indent="0">
              <a:buNone/>
              <a:defRPr sz="1800"/>
            </a:lvl1pPr>
          </a:lstStyle>
          <a:p>
            <a:pPr lvl="0"/>
            <a:r>
              <a:rPr lang="de-DE"/>
              <a:t>Mastertextformat bearbeiten</a:t>
            </a:r>
          </a:p>
        </p:txBody>
      </p:sp>
      <p:sp>
        <p:nvSpPr>
          <p:cNvPr id="2" name="Title">
            <a:extLst>
              <a:ext uri="{FF2B5EF4-FFF2-40B4-BE49-F238E27FC236}">
                <a16:creationId xmlns:a16="http://schemas.microsoft.com/office/drawing/2014/main" id="{036E2817-6F92-1124-D976-898B6006782A}"/>
              </a:ext>
            </a:extLst>
          </p:cNvPr>
          <p:cNvSpPr>
            <a:spLocks noGrp="1"/>
          </p:cNvSpPr>
          <p:nvPr>
            <p:ph type="title"/>
          </p:nvPr>
        </p:nvSpPr>
        <p:spPr>
          <a:xfrm>
            <a:off x="266400" y="1512000"/>
            <a:ext cx="3848400" cy="802800"/>
          </a:xfrm>
        </p:spPr>
        <p:txBody>
          <a:bodyPr anchor="t" anchorCtr="0">
            <a:normAutofit/>
          </a:bodyPr>
          <a:lstStyle>
            <a:lvl1pPr>
              <a:defRPr sz="2400" b="1"/>
            </a:lvl1pPr>
          </a:lstStyle>
          <a:p>
            <a:r>
              <a:rPr lang="de-DE"/>
              <a:t>Mastertitelformat bearbeiten</a:t>
            </a:r>
            <a:endParaRPr lang="en-GB"/>
          </a:p>
        </p:txBody>
      </p:sp>
      <p:pic>
        <p:nvPicPr>
          <p:cNvPr id="6" name="Image, Linnaeus University logotype" descr="Linnaeus University logotype">
            <a:extLst>
              <a:ext uri="{FF2B5EF4-FFF2-40B4-BE49-F238E27FC236}">
                <a16:creationId xmlns:a16="http://schemas.microsoft.com/office/drawing/2014/main" id="{105B71D3-2B42-A25B-8C0D-F40435EDE5B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67200" y="363600"/>
            <a:ext cx="2336005" cy="373334"/>
          </a:xfrm>
          <a:prstGeom prst="rect">
            <a:avLst/>
          </a:prstGeom>
        </p:spPr>
      </p:pic>
    </p:spTree>
    <p:extLst>
      <p:ext uri="{BB962C8B-B14F-4D97-AF65-F5344CB8AC3E}">
        <p14:creationId xmlns:p14="http://schemas.microsoft.com/office/powerpoint/2010/main" val="2688515362"/>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Quote and picture">
    <p:bg>
      <p:bgRef idx="1001">
        <a:schemeClr val="bg1"/>
      </p:bgRef>
    </p:bg>
    <p:spTree>
      <p:nvGrpSpPr>
        <p:cNvPr id="1" name=""/>
        <p:cNvGrpSpPr/>
        <p:nvPr/>
      </p:nvGrpSpPr>
      <p:grpSpPr>
        <a:xfrm>
          <a:off x="0" y="0"/>
          <a:ext cx="0" cy="0"/>
          <a:chOff x="0" y="0"/>
          <a:chExt cx="0" cy="0"/>
        </a:xfrm>
      </p:grpSpPr>
      <p:sp>
        <p:nvSpPr>
          <p:cNvPr id="3" name="Slide Number Placeholder">
            <a:extLst>
              <a:ext uri="{FF2B5EF4-FFF2-40B4-BE49-F238E27FC236}">
                <a16:creationId xmlns:a16="http://schemas.microsoft.com/office/drawing/2014/main" id="{824FFC71-39C1-549C-B175-72DD1F8406E5}"/>
              </a:ext>
            </a:extLst>
          </p:cNvPr>
          <p:cNvSpPr>
            <a:spLocks noGrp="1"/>
          </p:cNvSpPr>
          <p:nvPr>
            <p:ph type="sldNum" sz="quarter" idx="13"/>
          </p:nvPr>
        </p:nvSpPr>
        <p:spPr/>
        <p:txBody>
          <a:bodyPr/>
          <a:lstStyle>
            <a:lvl1pPr>
              <a:defRPr>
                <a:solidFill>
                  <a:schemeClr val="tx1"/>
                </a:solidFill>
              </a:defRPr>
            </a:lvl1pPr>
          </a:lstStyle>
          <a:p>
            <a:fld id="{7409167B-7A9B-460A-AC8D-6F72C9603382}" type="slidenum">
              <a:rPr lang="en-GB" smtClean="0"/>
              <a:pPr/>
              <a:t>‹Nr.›</a:t>
            </a:fld>
            <a:endParaRPr lang="en-GB"/>
          </a:p>
        </p:txBody>
      </p:sp>
      <p:sp>
        <p:nvSpPr>
          <p:cNvPr id="7" name="Picture Placeholder">
            <a:extLst>
              <a:ext uri="{FF2B5EF4-FFF2-40B4-BE49-F238E27FC236}">
                <a16:creationId xmlns:a16="http://schemas.microsoft.com/office/drawing/2014/main" id="{9AD478D0-C2A6-11CF-23A7-CE0E541C9C71}"/>
              </a:ext>
            </a:extLst>
          </p:cNvPr>
          <p:cNvSpPr>
            <a:spLocks noGrp="1"/>
          </p:cNvSpPr>
          <p:nvPr>
            <p:ph type="pic" sz="quarter" idx="12"/>
          </p:nvPr>
        </p:nvSpPr>
        <p:spPr>
          <a:xfrm>
            <a:off x="8074800" y="1591200"/>
            <a:ext cx="3744000" cy="4464000"/>
          </a:xfrm>
        </p:spPr>
        <p:txBody>
          <a:bodyPr/>
          <a:lstStyle>
            <a:lvl1pPr marL="0" indent="0">
              <a:buNone/>
              <a:defRPr>
                <a:solidFill>
                  <a:schemeClr val="tx1"/>
                </a:solidFill>
              </a:defRPr>
            </a:lvl1pPr>
          </a:lstStyle>
          <a:p>
            <a:endParaRPr lang="en-GB"/>
          </a:p>
        </p:txBody>
      </p:sp>
      <p:sp>
        <p:nvSpPr>
          <p:cNvPr id="5" name="Text Placeholder">
            <a:extLst>
              <a:ext uri="{FF2B5EF4-FFF2-40B4-BE49-F238E27FC236}">
                <a16:creationId xmlns:a16="http://schemas.microsoft.com/office/drawing/2014/main" id="{9B68D491-449E-99CA-1750-3D31823D39F2}"/>
              </a:ext>
            </a:extLst>
          </p:cNvPr>
          <p:cNvSpPr>
            <a:spLocks noGrp="1"/>
          </p:cNvSpPr>
          <p:nvPr>
            <p:ph type="body" sz="quarter" idx="14"/>
          </p:nvPr>
        </p:nvSpPr>
        <p:spPr>
          <a:xfrm>
            <a:off x="266700" y="5479200"/>
            <a:ext cx="7138800" cy="579600"/>
          </a:xfrm>
        </p:spPr>
        <p:txBody>
          <a:bodyPr>
            <a:noAutofit/>
          </a:bodyPr>
          <a:lstStyle>
            <a:lvl1pPr marL="0" indent="0">
              <a:buNone/>
              <a:defRPr sz="1400">
                <a:solidFill>
                  <a:schemeClr val="tx1"/>
                </a:solidFill>
              </a:defRPr>
            </a:lvl1pPr>
            <a:lvl2pPr marL="457200" indent="0">
              <a:buNone/>
              <a:defRPr sz="1400">
                <a:solidFill>
                  <a:schemeClr val="accent1"/>
                </a:solidFill>
              </a:defRPr>
            </a:lvl2pPr>
            <a:lvl3pPr marL="914400" indent="0">
              <a:buNone/>
              <a:defRPr sz="1400">
                <a:solidFill>
                  <a:schemeClr val="accent1"/>
                </a:solidFill>
              </a:defRPr>
            </a:lvl3pPr>
            <a:lvl4pPr marL="1371600" indent="0">
              <a:buNone/>
              <a:defRPr sz="1400">
                <a:solidFill>
                  <a:schemeClr val="accent1"/>
                </a:solidFill>
              </a:defRPr>
            </a:lvl4pPr>
            <a:lvl5pPr marL="1828800" indent="0">
              <a:buNone/>
              <a:defRPr sz="1400">
                <a:solidFill>
                  <a:schemeClr val="accent1"/>
                </a:solidFill>
              </a:defRPr>
            </a:lvl5pPr>
          </a:lstStyle>
          <a:p>
            <a:pPr lvl="0"/>
            <a:r>
              <a:rPr lang="de-DE"/>
              <a:t>Mastertextformat bearbeiten</a:t>
            </a:r>
          </a:p>
        </p:txBody>
      </p:sp>
      <p:sp>
        <p:nvSpPr>
          <p:cNvPr id="2" name="Title">
            <a:extLst>
              <a:ext uri="{FF2B5EF4-FFF2-40B4-BE49-F238E27FC236}">
                <a16:creationId xmlns:a16="http://schemas.microsoft.com/office/drawing/2014/main" id="{036E2817-6F92-1124-D976-898B6006782A}"/>
              </a:ext>
            </a:extLst>
          </p:cNvPr>
          <p:cNvSpPr>
            <a:spLocks noGrp="1"/>
          </p:cNvSpPr>
          <p:nvPr>
            <p:ph type="title" hasCustomPrompt="1"/>
          </p:nvPr>
        </p:nvSpPr>
        <p:spPr>
          <a:xfrm>
            <a:off x="266400" y="1512000"/>
            <a:ext cx="7138800" cy="3711600"/>
          </a:xfrm>
        </p:spPr>
        <p:txBody>
          <a:bodyPr anchor="t" anchorCtr="0">
            <a:normAutofit/>
          </a:bodyPr>
          <a:lstStyle>
            <a:lvl1pPr>
              <a:defRPr sz="3200" b="0" i="1">
                <a:solidFill>
                  <a:schemeClr val="tx1"/>
                </a:solidFill>
              </a:defRPr>
            </a:lvl1pPr>
          </a:lstStyle>
          <a:p>
            <a:r>
              <a:rPr lang="en-GB"/>
              <a:t>“Click here to add a quote”</a:t>
            </a:r>
          </a:p>
        </p:txBody>
      </p:sp>
      <p:pic>
        <p:nvPicPr>
          <p:cNvPr id="9" name="Image, Linnaeus University logotype" descr="Linnaeus University logotype">
            <a:extLst>
              <a:ext uri="{FF2B5EF4-FFF2-40B4-BE49-F238E27FC236}">
                <a16:creationId xmlns:a16="http://schemas.microsoft.com/office/drawing/2014/main" id="{314628C2-D0ED-EF77-C342-E4012E205C0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67200" y="363600"/>
            <a:ext cx="2336005" cy="373334"/>
          </a:xfrm>
          <a:prstGeom prst="rect">
            <a:avLst/>
          </a:prstGeom>
        </p:spPr>
      </p:pic>
    </p:spTree>
    <p:extLst>
      <p:ext uri="{BB962C8B-B14F-4D97-AF65-F5344CB8AC3E}">
        <p14:creationId xmlns:p14="http://schemas.microsoft.com/office/powerpoint/2010/main" val="528970648"/>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Q&amp;A">
    <p:bg>
      <p:bgRef idx="1001">
        <a:schemeClr val="bg1"/>
      </p:bgRef>
    </p:bg>
    <p:spTree>
      <p:nvGrpSpPr>
        <p:cNvPr id="1" name=""/>
        <p:cNvGrpSpPr/>
        <p:nvPr/>
      </p:nvGrpSpPr>
      <p:grpSpPr>
        <a:xfrm>
          <a:off x="0" y="0"/>
          <a:ext cx="0" cy="0"/>
          <a:chOff x="0" y="0"/>
          <a:chExt cx="0" cy="0"/>
        </a:xfrm>
      </p:grpSpPr>
      <p:sp>
        <p:nvSpPr>
          <p:cNvPr id="3" name="Slide Number Placeholder">
            <a:extLst>
              <a:ext uri="{FF2B5EF4-FFF2-40B4-BE49-F238E27FC236}">
                <a16:creationId xmlns:a16="http://schemas.microsoft.com/office/drawing/2014/main" id="{F42A2C36-45F1-78E2-7FD0-47A600048867}"/>
              </a:ext>
            </a:extLst>
          </p:cNvPr>
          <p:cNvSpPr>
            <a:spLocks noGrp="1"/>
          </p:cNvSpPr>
          <p:nvPr>
            <p:ph type="sldNum" sz="quarter" idx="10"/>
          </p:nvPr>
        </p:nvSpPr>
        <p:spPr/>
        <p:txBody>
          <a:bodyPr/>
          <a:lstStyle/>
          <a:p>
            <a:fld id="{7409167B-7A9B-460A-AC8D-6F72C9603382}" type="slidenum">
              <a:rPr lang="en-GB" smtClean="0"/>
              <a:pPr/>
              <a:t>‹Nr.›</a:t>
            </a:fld>
            <a:endParaRPr lang="en-GB"/>
          </a:p>
        </p:txBody>
      </p:sp>
      <p:sp>
        <p:nvSpPr>
          <p:cNvPr id="7" name="Text Placeholder, column 2">
            <a:extLst>
              <a:ext uri="{FF2B5EF4-FFF2-40B4-BE49-F238E27FC236}">
                <a16:creationId xmlns:a16="http://schemas.microsoft.com/office/drawing/2014/main" id="{491D232F-465C-9A77-7F04-8A2405E4C9BD}"/>
              </a:ext>
            </a:extLst>
          </p:cNvPr>
          <p:cNvSpPr>
            <a:spLocks noGrp="1"/>
          </p:cNvSpPr>
          <p:nvPr>
            <p:ph type="body" sz="quarter" idx="12"/>
          </p:nvPr>
        </p:nvSpPr>
        <p:spPr>
          <a:xfrm>
            <a:off x="5994000" y="3369600"/>
            <a:ext cx="5626800" cy="2689200"/>
          </a:xfrm>
        </p:spPr>
        <p:txBody>
          <a:bodyPr>
            <a:normAutofit/>
          </a:bodyPr>
          <a:lstStyle>
            <a:lvl1pPr marL="0" indent="0">
              <a:buNone/>
              <a:defRPr sz="1800"/>
            </a:lvl1pPr>
            <a:lvl2pPr marL="457200" indent="0">
              <a:buNone/>
              <a:defRPr/>
            </a:lvl2pPr>
            <a:lvl3pPr marL="914400" indent="0">
              <a:buNone/>
              <a:defRPr/>
            </a:lvl3pPr>
            <a:lvl4pPr marL="1371600" indent="0">
              <a:buNone/>
              <a:defRPr/>
            </a:lvl4pPr>
            <a:lvl5pPr marL="1828800" indent="0">
              <a:buNone/>
              <a:defRPr/>
            </a:lvl5pPr>
          </a:lstStyle>
          <a:p>
            <a:pPr lvl="0"/>
            <a:r>
              <a:rPr lang="de-DE"/>
              <a:t>Mastertextformat bearbeiten</a:t>
            </a:r>
          </a:p>
        </p:txBody>
      </p:sp>
      <p:sp>
        <p:nvSpPr>
          <p:cNvPr id="5" name="Text Placeholder, column 1">
            <a:extLst>
              <a:ext uri="{FF2B5EF4-FFF2-40B4-BE49-F238E27FC236}">
                <a16:creationId xmlns:a16="http://schemas.microsoft.com/office/drawing/2014/main" id="{7640B8E5-7619-CC90-C118-7BB2D39855E7}"/>
              </a:ext>
            </a:extLst>
          </p:cNvPr>
          <p:cNvSpPr>
            <a:spLocks noGrp="1"/>
          </p:cNvSpPr>
          <p:nvPr>
            <p:ph type="body" sz="quarter" idx="11"/>
          </p:nvPr>
        </p:nvSpPr>
        <p:spPr>
          <a:xfrm>
            <a:off x="266699" y="3369600"/>
            <a:ext cx="5661588" cy="2689200"/>
          </a:xfrm>
        </p:spPr>
        <p:txBody>
          <a:bodyPr>
            <a:normAutofit/>
          </a:bodyPr>
          <a:lstStyle>
            <a:lvl1pPr marL="0" indent="0">
              <a:buFont typeface="Arial" panose="020B0604020202020204" pitchFamily="34" charset="0"/>
              <a:buNone/>
              <a:defRPr sz="1800"/>
            </a:lvl1pPr>
            <a:lvl2pPr marL="266700" indent="-266700">
              <a:buFont typeface="Arial" panose="020B0604020202020204" pitchFamily="34" charset="0"/>
              <a:buChar char="•"/>
              <a:defRPr sz="1800"/>
            </a:lvl2pPr>
            <a:lvl3pPr marL="914400" indent="0">
              <a:buNone/>
              <a:defRPr/>
            </a:lvl3pPr>
            <a:lvl4pPr marL="1657350" indent="-285750">
              <a:buFont typeface="Arial" panose="020B0604020202020204" pitchFamily="34" charset="0"/>
              <a:buChar char="•"/>
              <a:defRPr/>
            </a:lvl4pPr>
            <a:lvl5pPr marL="1828800" indent="0">
              <a:buNone/>
              <a:defRPr/>
            </a:lvl5pPr>
          </a:lstStyle>
          <a:p>
            <a:pPr lvl="0"/>
            <a:r>
              <a:rPr lang="de-DE"/>
              <a:t>Mastertextformat bearbeiten</a:t>
            </a:r>
          </a:p>
        </p:txBody>
      </p:sp>
      <p:sp>
        <p:nvSpPr>
          <p:cNvPr id="2" name="Title">
            <a:extLst>
              <a:ext uri="{FF2B5EF4-FFF2-40B4-BE49-F238E27FC236}">
                <a16:creationId xmlns:a16="http://schemas.microsoft.com/office/drawing/2014/main" id="{036E2817-6F92-1124-D976-898B6006782A}"/>
              </a:ext>
            </a:extLst>
          </p:cNvPr>
          <p:cNvSpPr>
            <a:spLocks noGrp="1"/>
          </p:cNvSpPr>
          <p:nvPr>
            <p:ph type="title" hasCustomPrompt="1"/>
          </p:nvPr>
        </p:nvSpPr>
        <p:spPr>
          <a:xfrm>
            <a:off x="266400" y="1476000"/>
            <a:ext cx="11642400" cy="1123200"/>
          </a:xfrm>
        </p:spPr>
        <p:txBody>
          <a:bodyPr anchor="t" anchorCtr="0">
            <a:noAutofit/>
          </a:bodyPr>
          <a:lstStyle>
            <a:lvl1pPr>
              <a:defRPr sz="6600" b="1"/>
            </a:lvl1pPr>
          </a:lstStyle>
          <a:p>
            <a:r>
              <a:rPr lang="en-US"/>
              <a:t>Q&amp;A</a:t>
            </a:r>
            <a:endParaRPr lang="en-GB"/>
          </a:p>
        </p:txBody>
      </p:sp>
      <p:pic>
        <p:nvPicPr>
          <p:cNvPr id="6" name="Image, Linnaeus University logotype" descr="Linnaeus University logotype">
            <a:extLst>
              <a:ext uri="{FF2B5EF4-FFF2-40B4-BE49-F238E27FC236}">
                <a16:creationId xmlns:a16="http://schemas.microsoft.com/office/drawing/2014/main" id="{105B71D3-2B42-A25B-8C0D-F40435EDE5B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67200" y="363600"/>
            <a:ext cx="2336005" cy="373334"/>
          </a:xfrm>
          <a:prstGeom prst="rect">
            <a:avLst/>
          </a:prstGeom>
        </p:spPr>
      </p:pic>
    </p:spTree>
    <p:extLst>
      <p:ext uri="{BB962C8B-B14F-4D97-AF65-F5344CB8AC3E}">
        <p14:creationId xmlns:p14="http://schemas.microsoft.com/office/powerpoint/2010/main" val="3742765558"/>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End slide, Thank you">
    <p:bg>
      <p:bgRef idx="1001">
        <a:schemeClr val="bg1"/>
      </p:bgRef>
    </p:bg>
    <p:spTree>
      <p:nvGrpSpPr>
        <p:cNvPr id="1" name=""/>
        <p:cNvGrpSpPr/>
        <p:nvPr/>
      </p:nvGrpSpPr>
      <p:grpSpPr>
        <a:xfrm>
          <a:off x="0" y="0"/>
          <a:ext cx="0" cy="0"/>
          <a:chOff x="0" y="0"/>
          <a:chExt cx="0" cy="0"/>
        </a:xfrm>
      </p:grpSpPr>
      <p:sp>
        <p:nvSpPr>
          <p:cNvPr id="3" name="Slide Number Placeholder">
            <a:extLst>
              <a:ext uri="{FF2B5EF4-FFF2-40B4-BE49-F238E27FC236}">
                <a16:creationId xmlns:a16="http://schemas.microsoft.com/office/drawing/2014/main" id="{F42A2C36-45F1-78E2-7FD0-47A600048867}"/>
              </a:ext>
            </a:extLst>
          </p:cNvPr>
          <p:cNvSpPr>
            <a:spLocks noGrp="1"/>
          </p:cNvSpPr>
          <p:nvPr>
            <p:ph type="sldNum" sz="quarter" idx="10"/>
          </p:nvPr>
        </p:nvSpPr>
        <p:spPr/>
        <p:txBody>
          <a:bodyPr/>
          <a:lstStyle/>
          <a:p>
            <a:fld id="{7409167B-7A9B-460A-AC8D-6F72C9603382}" type="slidenum">
              <a:rPr lang="en-GB" smtClean="0"/>
              <a:pPr/>
              <a:t>‹Nr.›</a:t>
            </a:fld>
            <a:endParaRPr lang="en-GB"/>
          </a:p>
        </p:txBody>
      </p:sp>
      <p:sp>
        <p:nvSpPr>
          <p:cNvPr id="7" name="Text Placeholder, column 2">
            <a:extLst>
              <a:ext uri="{FF2B5EF4-FFF2-40B4-BE49-F238E27FC236}">
                <a16:creationId xmlns:a16="http://schemas.microsoft.com/office/drawing/2014/main" id="{491D232F-465C-9A77-7F04-8A2405E4C9BD}"/>
              </a:ext>
            </a:extLst>
          </p:cNvPr>
          <p:cNvSpPr>
            <a:spLocks noGrp="1"/>
          </p:cNvSpPr>
          <p:nvPr>
            <p:ph type="body" sz="quarter" idx="12" hasCustomPrompt="1"/>
          </p:nvPr>
        </p:nvSpPr>
        <p:spPr>
          <a:xfrm>
            <a:off x="5994000" y="2664000"/>
            <a:ext cx="5626800" cy="3395663"/>
          </a:xfrm>
        </p:spPr>
        <p:txBody>
          <a:bodyPr>
            <a:normAutofit/>
          </a:bodyPr>
          <a:lstStyle>
            <a:lvl1pPr marL="0" indent="0">
              <a:buNone/>
              <a:defRPr sz="1800"/>
            </a:lvl1pPr>
            <a:lvl2pPr marL="457200" indent="0">
              <a:buNone/>
              <a:defRPr/>
            </a:lvl2pPr>
            <a:lvl3pPr marL="914400" indent="0">
              <a:buNone/>
              <a:defRPr/>
            </a:lvl3pPr>
            <a:lvl4pPr marL="1371600" indent="0">
              <a:buNone/>
              <a:defRPr/>
            </a:lvl4pPr>
            <a:lvl5pPr marL="1828800" indent="0">
              <a:buNone/>
              <a:defRPr/>
            </a:lvl5pPr>
          </a:lstStyle>
          <a:p>
            <a:pPr lvl="0"/>
            <a:r>
              <a:rPr lang="en-US"/>
              <a:t>Contact information</a:t>
            </a:r>
          </a:p>
        </p:txBody>
      </p:sp>
      <p:sp>
        <p:nvSpPr>
          <p:cNvPr id="5" name="Text Placeholder, column 1">
            <a:extLst>
              <a:ext uri="{FF2B5EF4-FFF2-40B4-BE49-F238E27FC236}">
                <a16:creationId xmlns:a16="http://schemas.microsoft.com/office/drawing/2014/main" id="{7640B8E5-7619-CC90-C118-7BB2D39855E7}"/>
              </a:ext>
            </a:extLst>
          </p:cNvPr>
          <p:cNvSpPr>
            <a:spLocks noGrp="1"/>
          </p:cNvSpPr>
          <p:nvPr>
            <p:ph type="body" sz="quarter" idx="11" hasCustomPrompt="1"/>
          </p:nvPr>
        </p:nvSpPr>
        <p:spPr>
          <a:xfrm>
            <a:off x="266699" y="2664000"/>
            <a:ext cx="5661588" cy="3394800"/>
          </a:xfrm>
        </p:spPr>
        <p:txBody>
          <a:bodyPr>
            <a:normAutofit/>
          </a:bodyPr>
          <a:lstStyle>
            <a:lvl1pPr marL="0" indent="0">
              <a:buFont typeface="Arial" panose="020B0604020202020204" pitchFamily="34" charset="0"/>
              <a:buNone/>
              <a:defRPr sz="1800"/>
            </a:lvl1pPr>
            <a:lvl2pPr marL="266700" indent="-266700">
              <a:buFont typeface="Arial" panose="020B0604020202020204" pitchFamily="34" charset="0"/>
              <a:buChar char="•"/>
              <a:defRPr sz="1800"/>
            </a:lvl2pPr>
            <a:lvl3pPr marL="914400" indent="0">
              <a:buNone/>
              <a:defRPr/>
            </a:lvl3pPr>
            <a:lvl4pPr marL="1657350" indent="-285750">
              <a:buFont typeface="Arial" panose="020B0604020202020204" pitchFamily="34" charset="0"/>
              <a:buChar char="•"/>
              <a:defRPr/>
            </a:lvl4pPr>
            <a:lvl5pPr marL="1828800" indent="0">
              <a:buNone/>
              <a:defRPr/>
            </a:lvl5pPr>
          </a:lstStyle>
          <a:p>
            <a:pPr lvl="0"/>
            <a:r>
              <a:rPr lang="en-US"/>
              <a:t>Summary</a:t>
            </a:r>
          </a:p>
          <a:p>
            <a:pPr lvl="1"/>
            <a:r>
              <a:rPr lang="en-US"/>
              <a:t>Lorem ipsum</a:t>
            </a:r>
          </a:p>
          <a:p>
            <a:pPr lvl="1"/>
            <a:r>
              <a:rPr lang="en-US"/>
              <a:t>Lorem ipsum</a:t>
            </a:r>
          </a:p>
          <a:p>
            <a:pPr lvl="1"/>
            <a:r>
              <a:rPr lang="en-US"/>
              <a:t>Lorem ipsum</a:t>
            </a:r>
          </a:p>
        </p:txBody>
      </p:sp>
      <p:sp>
        <p:nvSpPr>
          <p:cNvPr id="2" name="Title">
            <a:extLst>
              <a:ext uri="{FF2B5EF4-FFF2-40B4-BE49-F238E27FC236}">
                <a16:creationId xmlns:a16="http://schemas.microsoft.com/office/drawing/2014/main" id="{036E2817-6F92-1124-D976-898B6006782A}"/>
              </a:ext>
            </a:extLst>
          </p:cNvPr>
          <p:cNvSpPr>
            <a:spLocks noGrp="1"/>
          </p:cNvSpPr>
          <p:nvPr>
            <p:ph type="title" hasCustomPrompt="1"/>
          </p:nvPr>
        </p:nvSpPr>
        <p:spPr>
          <a:xfrm>
            <a:off x="266400" y="1476000"/>
            <a:ext cx="11642400" cy="1123200"/>
          </a:xfrm>
        </p:spPr>
        <p:txBody>
          <a:bodyPr anchor="t" anchorCtr="0">
            <a:noAutofit/>
          </a:bodyPr>
          <a:lstStyle>
            <a:lvl1pPr>
              <a:defRPr sz="6600" b="1"/>
            </a:lvl1pPr>
          </a:lstStyle>
          <a:p>
            <a:r>
              <a:rPr lang="en-US"/>
              <a:t>Thank You!</a:t>
            </a:r>
            <a:endParaRPr lang="en-GB"/>
          </a:p>
        </p:txBody>
      </p:sp>
      <p:pic>
        <p:nvPicPr>
          <p:cNvPr id="6" name="Image, Linnaeus University logotype" descr="Linnaeus University logotype">
            <a:extLst>
              <a:ext uri="{FF2B5EF4-FFF2-40B4-BE49-F238E27FC236}">
                <a16:creationId xmlns:a16="http://schemas.microsoft.com/office/drawing/2014/main" id="{105B71D3-2B42-A25B-8C0D-F40435EDE5B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67200" y="363600"/>
            <a:ext cx="2336005" cy="373334"/>
          </a:xfrm>
          <a:prstGeom prst="rect">
            <a:avLst/>
          </a:prstGeom>
        </p:spPr>
      </p:pic>
    </p:spTree>
    <p:extLst>
      <p:ext uri="{BB962C8B-B14F-4D97-AF65-F5344CB8AC3E}">
        <p14:creationId xmlns:p14="http://schemas.microsoft.com/office/powerpoint/2010/main" val="352931675"/>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Empty, only logotype and page number">
    <p:bg>
      <p:bgRef idx="1001">
        <a:schemeClr val="bg1"/>
      </p:bgRef>
    </p:bg>
    <p:spTree>
      <p:nvGrpSpPr>
        <p:cNvPr id="1" name=""/>
        <p:cNvGrpSpPr/>
        <p:nvPr/>
      </p:nvGrpSpPr>
      <p:grpSpPr>
        <a:xfrm>
          <a:off x="0" y="0"/>
          <a:ext cx="0" cy="0"/>
          <a:chOff x="0" y="0"/>
          <a:chExt cx="0" cy="0"/>
        </a:xfrm>
      </p:grpSpPr>
      <p:sp>
        <p:nvSpPr>
          <p:cNvPr id="3" name="Slide Number Placeholder">
            <a:extLst>
              <a:ext uri="{FF2B5EF4-FFF2-40B4-BE49-F238E27FC236}">
                <a16:creationId xmlns:a16="http://schemas.microsoft.com/office/drawing/2014/main" id="{F42A2C36-45F1-78E2-7FD0-47A600048867}"/>
              </a:ext>
            </a:extLst>
          </p:cNvPr>
          <p:cNvSpPr>
            <a:spLocks noGrp="1"/>
          </p:cNvSpPr>
          <p:nvPr>
            <p:ph type="sldNum" sz="quarter" idx="10"/>
          </p:nvPr>
        </p:nvSpPr>
        <p:spPr/>
        <p:txBody>
          <a:bodyPr/>
          <a:lstStyle/>
          <a:p>
            <a:fld id="{7409167B-7A9B-460A-AC8D-6F72C9603382}" type="slidenum">
              <a:rPr lang="en-GB" smtClean="0"/>
              <a:pPr/>
              <a:t>‹Nr.›</a:t>
            </a:fld>
            <a:endParaRPr lang="en-GB"/>
          </a:p>
        </p:txBody>
      </p:sp>
      <p:pic>
        <p:nvPicPr>
          <p:cNvPr id="6" name="Image, Linnaeus University logotype" descr="Linnaeus University logotype">
            <a:extLst>
              <a:ext uri="{FF2B5EF4-FFF2-40B4-BE49-F238E27FC236}">
                <a16:creationId xmlns:a16="http://schemas.microsoft.com/office/drawing/2014/main" id="{105B71D3-2B42-A25B-8C0D-F40435EDE5B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67200" y="363600"/>
            <a:ext cx="2336005" cy="373334"/>
          </a:xfrm>
          <a:prstGeom prst="rect">
            <a:avLst/>
          </a:prstGeom>
        </p:spPr>
      </p:pic>
    </p:spTree>
    <p:extLst>
      <p:ext uri="{BB962C8B-B14F-4D97-AF65-F5344CB8AC3E}">
        <p14:creationId xmlns:p14="http://schemas.microsoft.com/office/powerpoint/2010/main" val="2773463530"/>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Empty layou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6816468"/>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DCECD1F2-51C1-286C-1EE8-7D655A27CDB7}"/>
              </a:ext>
            </a:extLst>
          </p:cNvPr>
          <p:cNvSpPr>
            <a:spLocks noGrp="1"/>
          </p:cNvSpPr>
          <p:nvPr>
            <p:ph type="sldNum" sz="quarter" idx="4"/>
          </p:nvPr>
        </p:nvSpPr>
        <p:spPr>
          <a:xfrm>
            <a:off x="9172800" y="6356350"/>
            <a:ext cx="2743200" cy="365125"/>
          </a:xfrm>
          <a:prstGeom prst="rect">
            <a:avLst/>
          </a:prstGeom>
        </p:spPr>
        <p:txBody>
          <a:bodyPr vert="horz" lIns="91440" tIns="45720" rIns="91440" bIns="45720" rtlCol="0" anchor="ctr"/>
          <a:lstStyle>
            <a:lvl1pPr algn="r">
              <a:defRPr sz="1200">
                <a:solidFill>
                  <a:schemeClr val="tx1"/>
                </a:solidFill>
              </a:defRPr>
            </a:lvl1pPr>
          </a:lstStyle>
          <a:p>
            <a:fld id="{7409167B-7A9B-460A-AC8D-6F72C9603382}" type="slidenum">
              <a:rPr lang="en-GB" smtClean="0"/>
              <a:pPr/>
              <a:t>‹Nr.›</a:t>
            </a:fld>
            <a:endParaRPr lang="en-GB"/>
          </a:p>
        </p:txBody>
      </p:sp>
      <p:sp>
        <p:nvSpPr>
          <p:cNvPr id="3" name="Text Placeholder">
            <a:extLst>
              <a:ext uri="{FF2B5EF4-FFF2-40B4-BE49-F238E27FC236}">
                <a16:creationId xmlns:a16="http://schemas.microsoft.com/office/drawing/2014/main" id="{9E692257-A5E7-6246-4CE4-7824677284C6}"/>
              </a:ext>
            </a:extLst>
          </p:cNvPr>
          <p:cNvSpPr>
            <a:spLocks noGrp="1"/>
          </p:cNvSpPr>
          <p:nvPr>
            <p:ph type="body" idx="1"/>
          </p:nvPr>
        </p:nvSpPr>
        <p:spPr>
          <a:xfrm>
            <a:off x="266400" y="1825625"/>
            <a:ext cx="11656800" cy="4352400"/>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2" name="Title Placeholder">
            <a:extLst>
              <a:ext uri="{FF2B5EF4-FFF2-40B4-BE49-F238E27FC236}">
                <a16:creationId xmlns:a16="http://schemas.microsoft.com/office/drawing/2014/main" id="{B96885A4-FD27-A8F5-8E68-4D81EB3AE694}"/>
              </a:ext>
            </a:extLst>
          </p:cNvPr>
          <p:cNvSpPr>
            <a:spLocks noGrp="1"/>
          </p:cNvSpPr>
          <p:nvPr>
            <p:ph type="title"/>
          </p:nvPr>
        </p:nvSpPr>
        <p:spPr>
          <a:xfrm>
            <a:off x="266400" y="365125"/>
            <a:ext cx="11656800" cy="1325563"/>
          </a:xfrm>
          <a:prstGeom prst="rect">
            <a:avLst/>
          </a:prstGeom>
        </p:spPr>
        <p:txBody>
          <a:bodyPr vert="horz" lIns="91440" tIns="45720" rIns="91440" bIns="45720" rtlCol="0" anchor="ctr">
            <a:normAutofit/>
          </a:bodyPr>
          <a:lstStyle/>
          <a:p>
            <a:r>
              <a:rPr lang="de-DE"/>
              <a:t>Mastertitelformat bearbeiten</a:t>
            </a:r>
            <a:endParaRPr lang="en-GB"/>
          </a:p>
        </p:txBody>
      </p:sp>
    </p:spTree>
    <p:extLst>
      <p:ext uri="{BB962C8B-B14F-4D97-AF65-F5344CB8AC3E}">
        <p14:creationId xmlns:p14="http://schemas.microsoft.com/office/powerpoint/2010/main" val="3156580311"/>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50" r:id="rId3"/>
    <p:sldLayoutId id="2147483661" r:id="rId4"/>
    <p:sldLayoutId id="2147483666" r:id="rId5"/>
    <p:sldLayoutId id="2147483667" r:id="rId6"/>
    <p:sldLayoutId id="2147483672" r:id="rId7"/>
    <p:sldLayoutId id="2147483673" r:id="rId8"/>
    <p:sldLayoutId id="2147483674" r:id="rId9"/>
    <p:sldLayoutId id="2147483675" r:id="rId10"/>
    <p:sldLayoutId id="2147483680" r:id="rId11"/>
    <p:sldLayoutId id="2147483681" r:id="rId12"/>
    <p:sldLayoutId id="2147483682" r:id="rId13"/>
    <p:sldLayoutId id="2147483686" r:id="rId14"/>
    <p:sldLayoutId id="2147483687" r:id="rId15"/>
    <p:sldLayoutId id="2147483688" r:id="rId16"/>
    <p:sldLayoutId id="2147483689" r:id="rId17"/>
    <p:sldLayoutId id="2147483694" r:id="rId18"/>
    <p:sldLayoutId id="2147483690" r:id="rId19"/>
    <p:sldLayoutId id="2147483693" r:id="rId20"/>
    <p:sldLayoutId id="2147483691" r:id="rId21"/>
    <p:sldLayoutId id="2147483692" r:id="rId2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234" userDrawn="1">
          <p15:clr>
            <a:srgbClr val="F26B43"/>
          </p15:clr>
        </p15:guide>
        <p15:guide id="4" pos="7446" userDrawn="1">
          <p15:clr>
            <a:srgbClr val="F26B43"/>
          </p15:clr>
        </p15:guide>
        <p15:guide id="5" pos="5087" userDrawn="1">
          <p15:clr>
            <a:srgbClr val="F26B43"/>
          </p15:clr>
        </p15:guide>
        <p15:guide id="6" pos="2593" userDrawn="1">
          <p15:clr>
            <a:srgbClr val="F26B43"/>
          </p15:clr>
        </p15:guide>
        <p15:guide id="7" orient="horz" pos="232" userDrawn="1">
          <p15:clr>
            <a:srgbClr val="F26B43"/>
          </p15:clr>
        </p15:guide>
        <p15:guide id="8" orient="horz" pos="3997" userDrawn="1">
          <p15:clr>
            <a:srgbClr val="F26B43"/>
          </p15:clr>
        </p15:guide>
        <p15:guide id="9" orient="horz" pos="3816" userDrawn="1">
          <p15:clr>
            <a:srgbClr val="F26B43"/>
          </p15:clr>
        </p15:guide>
        <p15:guide id="10" orient="horz" pos="436" userDrawn="1">
          <p15:clr>
            <a:srgbClr val="F26B43"/>
          </p15:clr>
        </p15:guide>
        <p15:guide id="11" orient="horz" pos="1003"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sv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svg"/></Relationships>
</file>

<file path=ppt/slides/_rels/slide10.xml.rels><?xml version="1.0" encoding="UTF-8" standalone="yes"?>
<Relationships xmlns="http://schemas.openxmlformats.org/package/2006/relationships"><Relationship Id="rId3" Type="http://schemas.openxmlformats.org/officeDocument/2006/relationships/hyperlink" Target="https://fkrull.de/information_visualization_demo/index_stockChart.html" TargetMode="External"/><Relationship Id="rId2" Type="http://schemas.openxmlformats.org/officeDocument/2006/relationships/hyperlink" Target="https://fkrull.de/information_visualization_demo/index_eye-tracking.html" TargetMode="External"/><Relationship Id="rId1" Type="http://schemas.openxmlformats.org/officeDocument/2006/relationships/slideLayout" Target="../slideLayouts/slideLayout6.xml"/><Relationship Id="rId5" Type="http://schemas.openxmlformats.org/officeDocument/2006/relationships/image" Target="../media/image17.svg"/><Relationship Id="rId4" Type="http://schemas.openxmlformats.org/officeDocument/2006/relationships/hyperlink" Target="https://fkrull.de/information_visualization_demo/index_timeline.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CA6DDE75-48CF-4664-8AE6-D851A72E1AE5}"/>
              </a:ext>
            </a:extLst>
          </p:cNvPr>
          <p:cNvSpPr txBox="1"/>
          <p:nvPr/>
        </p:nvSpPr>
        <p:spPr>
          <a:xfrm>
            <a:off x="1704975" y="4029075"/>
            <a:ext cx="5324475" cy="923330"/>
          </a:xfrm>
          <a:prstGeom prst="rect">
            <a:avLst/>
          </a:prstGeom>
          <a:noFill/>
        </p:spPr>
        <p:txBody>
          <a:bodyPr wrap="square" rtlCol="0">
            <a:spAutoFit/>
          </a:bodyPr>
          <a:lstStyle/>
          <a:p>
            <a:r>
              <a:rPr lang="de-DE" dirty="0"/>
              <a:t>Information </a:t>
            </a:r>
            <a:r>
              <a:rPr lang="de-DE" dirty="0" err="1"/>
              <a:t>Visualization</a:t>
            </a:r>
            <a:endParaRPr lang="de-DE" dirty="0"/>
          </a:p>
          <a:p>
            <a:r>
              <a:rPr lang="de-DE" dirty="0"/>
              <a:t>Felix Krull; Moritz Steinke</a:t>
            </a:r>
          </a:p>
          <a:p>
            <a:r>
              <a:rPr lang="de-DE" dirty="0"/>
              <a:t>02.10.2026</a:t>
            </a:r>
          </a:p>
        </p:txBody>
      </p:sp>
    </p:spTree>
    <p:extLst>
      <p:ext uri="{BB962C8B-B14F-4D97-AF65-F5344CB8AC3E}">
        <p14:creationId xmlns:p14="http://schemas.microsoft.com/office/powerpoint/2010/main" val="34511205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AC4E5985-69DE-6B10-A258-3425D6BF411E}"/>
              </a:ext>
            </a:extLst>
          </p:cNvPr>
          <p:cNvSpPr>
            <a:spLocks noGrp="1"/>
          </p:cNvSpPr>
          <p:nvPr>
            <p:ph type="body" sz="quarter" idx="12"/>
          </p:nvPr>
        </p:nvSpPr>
        <p:spPr>
          <a:xfrm>
            <a:off x="8290800" y="511868"/>
            <a:ext cx="3618000" cy="258532"/>
          </a:xfrm>
        </p:spPr>
        <p:txBody>
          <a:bodyPr/>
          <a:lstStyle/>
          <a:p>
            <a:r>
              <a:rPr lang="en-GB" dirty="0"/>
              <a:t>Felix Krull, Moritz Steinke</a:t>
            </a:r>
          </a:p>
        </p:txBody>
      </p:sp>
      <p:sp>
        <p:nvSpPr>
          <p:cNvPr id="8" name="Textfeld 7">
            <a:extLst>
              <a:ext uri="{FF2B5EF4-FFF2-40B4-BE49-F238E27FC236}">
                <a16:creationId xmlns:a16="http://schemas.microsoft.com/office/drawing/2014/main" id="{2ED9C6EA-648C-77BE-3AF7-C7C4ABDE8ECA}"/>
              </a:ext>
            </a:extLst>
          </p:cNvPr>
          <p:cNvSpPr txBox="1"/>
          <p:nvPr/>
        </p:nvSpPr>
        <p:spPr>
          <a:xfrm>
            <a:off x="9266549" y="1357460"/>
            <a:ext cx="2545238" cy="923330"/>
          </a:xfrm>
          <a:prstGeom prst="rect">
            <a:avLst/>
          </a:prstGeom>
          <a:noFill/>
        </p:spPr>
        <p:txBody>
          <a:bodyPr wrap="square" rtlCol="0">
            <a:spAutoFit/>
          </a:bodyPr>
          <a:lstStyle/>
          <a:p>
            <a:r>
              <a:rPr lang="de-DE" b="1" dirty="0" err="1"/>
              <a:t>Which</a:t>
            </a:r>
            <a:r>
              <a:rPr lang="de-DE" b="1" dirty="0"/>
              <a:t> </a:t>
            </a:r>
            <a:r>
              <a:rPr lang="de-DE" b="1" dirty="0" err="1"/>
              <a:t>company</a:t>
            </a:r>
            <a:r>
              <a:rPr lang="de-DE" b="1" dirty="0"/>
              <a:t> </a:t>
            </a:r>
            <a:r>
              <a:rPr lang="de-DE" b="1" dirty="0" err="1"/>
              <a:t>shows</a:t>
            </a:r>
            <a:r>
              <a:rPr lang="de-DE" b="1" dirty="0"/>
              <a:t> the </a:t>
            </a:r>
            <a:r>
              <a:rPr lang="de-DE" b="1" dirty="0" err="1"/>
              <a:t>strongest</a:t>
            </a:r>
            <a:r>
              <a:rPr lang="de-DE" b="1" dirty="0"/>
              <a:t> </a:t>
            </a:r>
            <a:r>
              <a:rPr lang="de-DE" b="1" dirty="0" err="1"/>
              <a:t>increase</a:t>
            </a:r>
            <a:r>
              <a:rPr lang="de-DE" b="1" dirty="0"/>
              <a:t>?</a:t>
            </a:r>
          </a:p>
        </p:txBody>
      </p:sp>
      <p:pic>
        <p:nvPicPr>
          <p:cNvPr id="10" name="Grafik 9">
            <a:extLst>
              <a:ext uri="{FF2B5EF4-FFF2-40B4-BE49-F238E27FC236}">
                <a16:creationId xmlns:a16="http://schemas.microsoft.com/office/drawing/2014/main" id="{3E8A35B7-DFCD-2591-2C67-FB184F0A9530}"/>
              </a:ext>
            </a:extLst>
          </p:cNvPr>
          <p:cNvPicPr>
            <a:picLocks noChangeAspect="1"/>
          </p:cNvPicPr>
          <p:nvPr/>
        </p:nvPicPr>
        <p:blipFill>
          <a:blip r:embed="rId3"/>
          <a:stretch>
            <a:fillRect/>
          </a:stretch>
        </p:blipFill>
        <p:spPr>
          <a:xfrm>
            <a:off x="380213" y="959882"/>
            <a:ext cx="8110730" cy="5521751"/>
          </a:xfrm>
          <a:prstGeom prst="rect">
            <a:avLst/>
          </a:prstGeom>
        </p:spPr>
      </p:pic>
      <p:sp>
        <p:nvSpPr>
          <p:cNvPr id="11" name="Foliennummernplatzhalter 10">
            <a:extLst>
              <a:ext uri="{FF2B5EF4-FFF2-40B4-BE49-F238E27FC236}">
                <a16:creationId xmlns:a16="http://schemas.microsoft.com/office/drawing/2014/main" id="{45989E6C-B778-F1E2-CCB0-A73DA05FE6F4}"/>
              </a:ext>
            </a:extLst>
          </p:cNvPr>
          <p:cNvSpPr>
            <a:spLocks noGrp="1"/>
          </p:cNvSpPr>
          <p:nvPr>
            <p:ph type="sldNum" sz="quarter" idx="10"/>
          </p:nvPr>
        </p:nvSpPr>
        <p:spPr/>
        <p:txBody>
          <a:bodyPr/>
          <a:lstStyle/>
          <a:p>
            <a:fld id="{7409167B-7A9B-460A-AC8D-6F72C9603382}" type="slidenum">
              <a:rPr lang="en-GB" smtClean="0"/>
              <a:pPr/>
              <a:t>2</a:t>
            </a:fld>
            <a:endParaRPr lang="en-GB"/>
          </a:p>
        </p:txBody>
      </p:sp>
    </p:spTree>
    <p:extLst>
      <p:ext uri="{BB962C8B-B14F-4D97-AF65-F5344CB8AC3E}">
        <p14:creationId xmlns:p14="http://schemas.microsoft.com/office/powerpoint/2010/main" val="3130396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79DB7B6-07CC-FAD2-495A-190A70AEF28D}"/>
              </a:ext>
            </a:extLst>
          </p:cNvPr>
          <p:cNvSpPr>
            <a:spLocks noGrp="1"/>
          </p:cNvSpPr>
          <p:nvPr>
            <p:ph type="body" sz="quarter" idx="12"/>
          </p:nvPr>
        </p:nvSpPr>
        <p:spPr/>
        <p:txBody>
          <a:bodyPr/>
          <a:lstStyle/>
          <a:p>
            <a:r>
              <a:rPr lang="en-GB" dirty="0"/>
              <a:t>Felix Krull, Moritz Steinke</a:t>
            </a:r>
          </a:p>
        </p:txBody>
      </p:sp>
      <p:sp>
        <p:nvSpPr>
          <p:cNvPr id="6" name="Textfeld 5">
            <a:extLst>
              <a:ext uri="{FF2B5EF4-FFF2-40B4-BE49-F238E27FC236}">
                <a16:creationId xmlns:a16="http://schemas.microsoft.com/office/drawing/2014/main" id="{053A63D2-F0FE-5A73-1D83-BC46ECC60B70}"/>
              </a:ext>
            </a:extLst>
          </p:cNvPr>
          <p:cNvSpPr txBox="1"/>
          <p:nvPr/>
        </p:nvSpPr>
        <p:spPr>
          <a:xfrm>
            <a:off x="245096" y="968016"/>
            <a:ext cx="7032397" cy="369332"/>
          </a:xfrm>
          <a:prstGeom prst="rect">
            <a:avLst/>
          </a:prstGeom>
          <a:noFill/>
        </p:spPr>
        <p:txBody>
          <a:bodyPr wrap="square" rtlCol="0">
            <a:spAutoFit/>
          </a:bodyPr>
          <a:lstStyle/>
          <a:p>
            <a:r>
              <a:rPr lang="de-DE" dirty="0"/>
              <a:t>The Problem: From Reading to Data Exploration</a:t>
            </a:r>
          </a:p>
        </p:txBody>
      </p:sp>
      <p:sp>
        <p:nvSpPr>
          <p:cNvPr id="10" name="Textfeld 9">
            <a:extLst>
              <a:ext uri="{FF2B5EF4-FFF2-40B4-BE49-F238E27FC236}">
                <a16:creationId xmlns:a16="http://schemas.microsoft.com/office/drawing/2014/main" id="{C2F8818B-6D8C-1126-AD74-390745E8F1DF}"/>
              </a:ext>
            </a:extLst>
          </p:cNvPr>
          <p:cNvSpPr txBox="1"/>
          <p:nvPr/>
        </p:nvSpPr>
        <p:spPr>
          <a:xfrm>
            <a:off x="2590907" y="5959832"/>
            <a:ext cx="7685818" cy="400110"/>
          </a:xfrm>
          <a:prstGeom prst="rect">
            <a:avLst/>
          </a:prstGeom>
          <a:noFill/>
        </p:spPr>
        <p:txBody>
          <a:bodyPr wrap="square" rtlCol="0">
            <a:spAutoFit/>
          </a:bodyPr>
          <a:lstStyle/>
          <a:p>
            <a:r>
              <a:rPr lang="de-DE" dirty="0">
                <a:sym typeface="Wingdings" panose="05000000000000000000" pitchFamily="2" charset="2"/>
              </a:rPr>
              <a:t> </a:t>
            </a:r>
            <a:r>
              <a:rPr lang="de-DE" sz="2000" dirty="0"/>
              <a:t>How </a:t>
            </a:r>
            <a:r>
              <a:rPr lang="de-DE" sz="2000" dirty="0" err="1"/>
              <a:t>can</a:t>
            </a:r>
            <a:r>
              <a:rPr lang="de-DE" sz="2000" dirty="0"/>
              <a:t> </a:t>
            </a:r>
            <a:r>
              <a:rPr lang="de-DE" sz="2000" dirty="0" err="1"/>
              <a:t>we</a:t>
            </a:r>
            <a:r>
              <a:rPr lang="de-DE" sz="2000" dirty="0"/>
              <a:t> </a:t>
            </a:r>
            <a:r>
              <a:rPr lang="de-DE" sz="2000" dirty="0" err="1"/>
              <a:t>explore</a:t>
            </a:r>
            <a:r>
              <a:rPr lang="de-DE" sz="2000" dirty="0"/>
              <a:t> the </a:t>
            </a:r>
            <a:r>
              <a:rPr lang="de-DE" sz="2000" dirty="0" err="1"/>
              <a:t>data</a:t>
            </a:r>
            <a:r>
              <a:rPr lang="de-DE" sz="2000" dirty="0"/>
              <a:t> </a:t>
            </a:r>
            <a:r>
              <a:rPr lang="de-DE" sz="2000" dirty="0" err="1"/>
              <a:t>without</a:t>
            </a:r>
            <a:r>
              <a:rPr lang="de-DE" sz="2000" dirty="0"/>
              <a:t> </a:t>
            </a:r>
            <a:r>
              <a:rPr lang="de-DE" sz="2000" dirty="0" err="1"/>
              <a:t>losing</a:t>
            </a:r>
            <a:r>
              <a:rPr lang="de-DE" sz="2000" dirty="0"/>
              <a:t> </a:t>
            </a:r>
            <a:r>
              <a:rPr lang="de-DE" sz="2000" dirty="0" err="1"/>
              <a:t>its</a:t>
            </a:r>
            <a:r>
              <a:rPr lang="de-DE" sz="2000" dirty="0"/>
              <a:t> </a:t>
            </a:r>
            <a:r>
              <a:rPr lang="de-DE" sz="2000" dirty="0" err="1"/>
              <a:t>textual</a:t>
            </a:r>
            <a:r>
              <a:rPr lang="de-DE" sz="2000" dirty="0"/>
              <a:t> </a:t>
            </a:r>
            <a:r>
              <a:rPr lang="de-DE" sz="2000" dirty="0" err="1"/>
              <a:t>context</a:t>
            </a:r>
            <a:r>
              <a:rPr lang="de-DE" sz="2000" dirty="0"/>
              <a:t>?</a:t>
            </a:r>
            <a:endParaRPr lang="de-DE" dirty="0"/>
          </a:p>
        </p:txBody>
      </p:sp>
      <p:pic>
        <p:nvPicPr>
          <p:cNvPr id="12" name="Grafik 11">
            <a:extLst>
              <a:ext uri="{FF2B5EF4-FFF2-40B4-BE49-F238E27FC236}">
                <a16:creationId xmlns:a16="http://schemas.microsoft.com/office/drawing/2014/main" id="{34403720-887E-9768-E037-7321A509762A}"/>
              </a:ext>
            </a:extLst>
          </p:cNvPr>
          <p:cNvPicPr>
            <a:picLocks noChangeAspect="1"/>
          </p:cNvPicPr>
          <p:nvPr/>
        </p:nvPicPr>
        <p:blipFill>
          <a:blip r:embed="rId3">
            <a:extLst>
              <a:ext uri="{28A0092B-C50C-407E-A947-70E740481C1C}">
                <a14:useLocalDpi xmlns:a14="http://schemas.microsoft.com/office/drawing/2010/main" val="0"/>
              </a:ext>
            </a:extLst>
          </a:blip>
          <a:srcRect b="10183"/>
          <a:stretch>
            <a:fillRect/>
          </a:stretch>
        </p:blipFill>
        <p:spPr>
          <a:xfrm>
            <a:off x="1607824" y="1352532"/>
            <a:ext cx="8976352" cy="4537452"/>
          </a:xfrm>
          <a:prstGeom prst="rect">
            <a:avLst/>
          </a:prstGeom>
        </p:spPr>
      </p:pic>
      <p:sp>
        <p:nvSpPr>
          <p:cNvPr id="13" name="Pfeil: nach rechts 12">
            <a:extLst>
              <a:ext uri="{FF2B5EF4-FFF2-40B4-BE49-F238E27FC236}">
                <a16:creationId xmlns:a16="http://schemas.microsoft.com/office/drawing/2014/main" id="{A6701F78-4A08-6076-260E-5BCF8E8C641F}"/>
              </a:ext>
            </a:extLst>
          </p:cNvPr>
          <p:cNvSpPr/>
          <p:nvPr/>
        </p:nvSpPr>
        <p:spPr>
          <a:xfrm>
            <a:off x="1818039" y="6046765"/>
            <a:ext cx="772868" cy="22624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Foliennummernplatzhalter 13">
            <a:extLst>
              <a:ext uri="{FF2B5EF4-FFF2-40B4-BE49-F238E27FC236}">
                <a16:creationId xmlns:a16="http://schemas.microsoft.com/office/drawing/2014/main" id="{AE32B23F-0C5D-B957-4692-6307DA1BED09}"/>
              </a:ext>
            </a:extLst>
          </p:cNvPr>
          <p:cNvSpPr>
            <a:spLocks noGrp="1"/>
          </p:cNvSpPr>
          <p:nvPr>
            <p:ph type="sldNum" sz="quarter" idx="10"/>
          </p:nvPr>
        </p:nvSpPr>
        <p:spPr/>
        <p:txBody>
          <a:bodyPr/>
          <a:lstStyle/>
          <a:p>
            <a:fld id="{7409167B-7A9B-460A-AC8D-6F72C9603382}" type="slidenum">
              <a:rPr lang="en-GB" smtClean="0"/>
              <a:pPr/>
              <a:t>3</a:t>
            </a:fld>
            <a:endParaRPr lang="en-GB"/>
          </a:p>
        </p:txBody>
      </p:sp>
    </p:spTree>
    <p:extLst>
      <p:ext uri="{BB962C8B-B14F-4D97-AF65-F5344CB8AC3E}">
        <p14:creationId xmlns:p14="http://schemas.microsoft.com/office/powerpoint/2010/main" val="3052990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13EC3AE9-974B-1740-86F3-E9079678D266}"/>
              </a:ext>
            </a:extLst>
          </p:cNvPr>
          <p:cNvSpPr>
            <a:spLocks noGrp="1"/>
          </p:cNvSpPr>
          <p:nvPr>
            <p:ph type="body" sz="quarter" idx="12"/>
          </p:nvPr>
        </p:nvSpPr>
        <p:spPr>
          <a:xfrm>
            <a:off x="8290800" y="511868"/>
            <a:ext cx="3618000" cy="258532"/>
          </a:xfrm>
        </p:spPr>
        <p:txBody>
          <a:bodyPr/>
          <a:lstStyle/>
          <a:p>
            <a:r>
              <a:rPr lang="en-GB" dirty="0"/>
              <a:t>Felix Krull, Moritz Steinke</a:t>
            </a:r>
          </a:p>
        </p:txBody>
      </p:sp>
      <p:sp>
        <p:nvSpPr>
          <p:cNvPr id="8" name="Textfeld 7">
            <a:extLst>
              <a:ext uri="{FF2B5EF4-FFF2-40B4-BE49-F238E27FC236}">
                <a16:creationId xmlns:a16="http://schemas.microsoft.com/office/drawing/2014/main" id="{BD6ED7CA-4F91-AFEC-333D-CDCA385E0AF2}"/>
              </a:ext>
            </a:extLst>
          </p:cNvPr>
          <p:cNvSpPr txBox="1"/>
          <p:nvPr/>
        </p:nvSpPr>
        <p:spPr>
          <a:xfrm>
            <a:off x="433632" y="937966"/>
            <a:ext cx="4543721" cy="400110"/>
          </a:xfrm>
          <a:prstGeom prst="rect">
            <a:avLst/>
          </a:prstGeom>
          <a:noFill/>
        </p:spPr>
        <p:txBody>
          <a:bodyPr wrap="square" rtlCol="0">
            <a:spAutoFit/>
          </a:bodyPr>
          <a:lstStyle/>
          <a:p>
            <a:r>
              <a:rPr lang="de-DE" sz="2000" b="1" dirty="0"/>
              <a:t>Collect</a:t>
            </a:r>
            <a:r>
              <a:rPr lang="de-DE" dirty="0"/>
              <a:t> – </a:t>
            </a:r>
            <a:r>
              <a:rPr lang="de-DE" dirty="0" err="1"/>
              <a:t>Arrange</a:t>
            </a:r>
            <a:r>
              <a:rPr lang="de-DE" dirty="0"/>
              <a:t> – </a:t>
            </a:r>
            <a:r>
              <a:rPr lang="de-DE" dirty="0" err="1"/>
              <a:t>Compare</a:t>
            </a:r>
            <a:r>
              <a:rPr lang="de-DE" dirty="0"/>
              <a:t> - Navigate</a:t>
            </a:r>
          </a:p>
        </p:txBody>
      </p:sp>
      <p:sp>
        <p:nvSpPr>
          <p:cNvPr id="9" name="Textfeld 8">
            <a:extLst>
              <a:ext uri="{FF2B5EF4-FFF2-40B4-BE49-F238E27FC236}">
                <a16:creationId xmlns:a16="http://schemas.microsoft.com/office/drawing/2014/main" id="{C737AEF6-3096-A343-A87B-2E497D54CDCC}"/>
              </a:ext>
            </a:extLst>
          </p:cNvPr>
          <p:cNvSpPr txBox="1"/>
          <p:nvPr/>
        </p:nvSpPr>
        <p:spPr>
          <a:xfrm>
            <a:off x="6096000" y="953355"/>
            <a:ext cx="4920792" cy="369332"/>
          </a:xfrm>
          <a:prstGeom prst="rect">
            <a:avLst/>
          </a:prstGeom>
          <a:noFill/>
        </p:spPr>
        <p:txBody>
          <a:bodyPr wrap="square" rtlCol="0">
            <a:spAutoFit/>
          </a:bodyPr>
          <a:lstStyle/>
          <a:p>
            <a:r>
              <a:rPr lang="de-DE" b="1" dirty="0" err="1"/>
              <a:t>Bringing</a:t>
            </a:r>
            <a:r>
              <a:rPr lang="de-DE" b="1" dirty="0"/>
              <a:t> </a:t>
            </a:r>
            <a:r>
              <a:rPr lang="de-DE" b="1" dirty="0" err="1"/>
              <a:t>Visualizations</a:t>
            </a:r>
            <a:r>
              <a:rPr lang="de-DE" b="1" dirty="0"/>
              <a:t> </a:t>
            </a:r>
            <a:r>
              <a:rPr lang="de-DE" b="1" dirty="0" err="1"/>
              <a:t>Together</a:t>
            </a:r>
            <a:endParaRPr lang="de-DE" b="1" dirty="0"/>
          </a:p>
        </p:txBody>
      </p:sp>
      <p:pic>
        <p:nvPicPr>
          <p:cNvPr id="15" name="Grafik 14">
            <a:extLst>
              <a:ext uri="{FF2B5EF4-FFF2-40B4-BE49-F238E27FC236}">
                <a16:creationId xmlns:a16="http://schemas.microsoft.com/office/drawing/2014/main" id="{B4BE3328-215D-923D-7B3B-82F9EE182043}"/>
              </a:ext>
            </a:extLst>
          </p:cNvPr>
          <p:cNvPicPr>
            <a:picLocks noChangeAspect="1"/>
          </p:cNvPicPr>
          <p:nvPr/>
        </p:nvPicPr>
        <p:blipFill>
          <a:blip r:embed="rId3">
            <a:extLst>
              <a:ext uri="{28A0092B-C50C-407E-A947-70E740481C1C}">
                <a14:useLocalDpi xmlns:a14="http://schemas.microsoft.com/office/drawing/2010/main" val="0"/>
              </a:ext>
            </a:extLst>
          </a:blip>
          <a:srcRect t="13772" b="6982"/>
          <a:stretch>
            <a:fillRect/>
          </a:stretch>
        </p:blipFill>
        <p:spPr>
          <a:xfrm>
            <a:off x="433632" y="1587186"/>
            <a:ext cx="10670532" cy="4758946"/>
          </a:xfrm>
          <a:prstGeom prst="rect">
            <a:avLst/>
          </a:prstGeom>
        </p:spPr>
      </p:pic>
      <p:sp>
        <p:nvSpPr>
          <p:cNvPr id="16" name="Foliennummernplatzhalter 15">
            <a:extLst>
              <a:ext uri="{FF2B5EF4-FFF2-40B4-BE49-F238E27FC236}">
                <a16:creationId xmlns:a16="http://schemas.microsoft.com/office/drawing/2014/main" id="{F1C52575-CDA9-FEDD-6599-1B5150979AB2}"/>
              </a:ext>
            </a:extLst>
          </p:cNvPr>
          <p:cNvSpPr>
            <a:spLocks noGrp="1"/>
          </p:cNvSpPr>
          <p:nvPr>
            <p:ph type="sldNum" sz="quarter" idx="10"/>
          </p:nvPr>
        </p:nvSpPr>
        <p:spPr/>
        <p:txBody>
          <a:bodyPr/>
          <a:lstStyle/>
          <a:p>
            <a:fld id="{7409167B-7A9B-460A-AC8D-6F72C9603382}" type="slidenum">
              <a:rPr lang="en-GB" smtClean="0"/>
              <a:pPr/>
              <a:t>4</a:t>
            </a:fld>
            <a:endParaRPr lang="en-GB"/>
          </a:p>
        </p:txBody>
      </p:sp>
    </p:spTree>
    <p:extLst>
      <p:ext uri="{BB962C8B-B14F-4D97-AF65-F5344CB8AC3E}">
        <p14:creationId xmlns:p14="http://schemas.microsoft.com/office/powerpoint/2010/main" val="1957037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2FD58-B059-84B8-35F2-7FCB06C757EE}"/>
            </a:ext>
          </a:extLst>
        </p:cNvPr>
        <p:cNvGrpSpPr/>
        <p:nvPr/>
      </p:nvGrpSpPr>
      <p:grpSpPr>
        <a:xfrm>
          <a:off x="0" y="0"/>
          <a:ext cx="0" cy="0"/>
          <a:chOff x="0" y="0"/>
          <a:chExt cx="0" cy="0"/>
        </a:xfrm>
      </p:grpSpPr>
      <p:sp>
        <p:nvSpPr>
          <p:cNvPr id="4" name="Textplatzhalter 3">
            <a:extLst>
              <a:ext uri="{FF2B5EF4-FFF2-40B4-BE49-F238E27FC236}">
                <a16:creationId xmlns:a16="http://schemas.microsoft.com/office/drawing/2014/main" id="{6DD88BFF-AF12-52D8-A4CA-7C070F064B61}"/>
              </a:ext>
            </a:extLst>
          </p:cNvPr>
          <p:cNvSpPr>
            <a:spLocks noGrp="1"/>
          </p:cNvSpPr>
          <p:nvPr>
            <p:ph type="body" sz="quarter" idx="12"/>
          </p:nvPr>
        </p:nvSpPr>
        <p:spPr>
          <a:xfrm>
            <a:off x="8290800" y="511868"/>
            <a:ext cx="3618000" cy="258532"/>
          </a:xfrm>
        </p:spPr>
        <p:txBody>
          <a:bodyPr/>
          <a:lstStyle/>
          <a:p>
            <a:r>
              <a:rPr lang="en-GB" dirty="0"/>
              <a:t>Felix Krull, Moritz Steinke</a:t>
            </a:r>
          </a:p>
        </p:txBody>
      </p:sp>
      <p:sp>
        <p:nvSpPr>
          <p:cNvPr id="8" name="Textfeld 7">
            <a:extLst>
              <a:ext uri="{FF2B5EF4-FFF2-40B4-BE49-F238E27FC236}">
                <a16:creationId xmlns:a16="http://schemas.microsoft.com/office/drawing/2014/main" id="{8EDBB859-CB0D-78E2-1EDE-306824A404CD}"/>
              </a:ext>
            </a:extLst>
          </p:cNvPr>
          <p:cNvSpPr txBox="1"/>
          <p:nvPr/>
        </p:nvSpPr>
        <p:spPr>
          <a:xfrm>
            <a:off x="433632" y="937966"/>
            <a:ext cx="4543721" cy="400110"/>
          </a:xfrm>
          <a:prstGeom prst="rect">
            <a:avLst/>
          </a:prstGeom>
          <a:noFill/>
        </p:spPr>
        <p:txBody>
          <a:bodyPr wrap="square" rtlCol="0">
            <a:spAutoFit/>
          </a:bodyPr>
          <a:lstStyle/>
          <a:p>
            <a:r>
              <a:rPr lang="de-DE" dirty="0"/>
              <a:t>Collect – </a:t>
            </a:r>
            <a:r>
              <a:rPr lang="de-DE" sz="2000" b="1" dirty="0" err="1"/>
              <a:t>Arrange</a:t>
            </a:r>
            <a:r>
              <a:rPr lang="de-DE" dirty="0"/>
              <a:t> – </a:t>
            </a:r>
            <a:r>
              <a:rPr lang="de-DE" dirty="0" err="1"/>
              <a:t>Compare</a:t>
            </a:r>
            <a:r>
              <a:rPr lang="de-DE" dirty="0"/>
              <a:t> - Navigate</a:t>
            </a:r>
          </a:p>
        </p:txBody>
      </p:sp>
      <p:sp>
        <p:nvSpPr>
          <p:cNvPr id="9" name="Textfeld 8">
            <a:extLst>
              <a:ext uri="{FF2B5EF4-FFF2-40B4-BE49-F238E27FC236}">
                <a16:creationId xmlns:a16="http://schemas.microsoft.com/office/drawing/2014/main" id="{683D95DF-BBB5-10E8-3DED-2A700218C044}"/>
              </a:ext>
            </a:extLst>
          </p:cNvPr>
          <p:cNvSpPr txBox="1"/>
          <p:nvPr/>
        </p:nvSpPr>
        <p:spPr>
          <a:xfrm>
            <a:off x="5976594" y="937966"/>
            <a:ext cx="4920792" cy="369332"/>
          </a:xfrm>
          <a:prstGeom prst="rect">
            <a:avLst/>
          </a:prstGeom>
          <a:noFill/>
        </p:spPr>
        <p:txBody>
          <a:bodyPr wrap="square" rtlCol="0">
            <a:spAutoFit/>
          </a:bodyPr>
          <a:lstStyle/>
          <a:p>
            <a:r>
              <a:rPr lang="de-DE" b="1" dirty="0" err="1"/>
              <a:t>Organizing</a:t>
            </a:r>
            <a:r>
              <a:rPr lang="de-DE" b="1" dirty="0"/>
              <a:t> </a:t>
            </a:r>
            <a:r>
              <a:rPr lang="de-DE" b="1" dirty="0" err="1"/>
              <a:t>Visualizations</a:t>
            </a:r>
            <a:r>
              <a:rPr lang="de-DE" b="1" dirty="0"/>
              <a:t> for Analysis</a:t>
            </a:r>
          </a:p>
        </p:txBody>
      </p:sp>
      <p:sp>
        <p:nvSpPr>
          <p:cNvPr id="10" name="Textfeld 9">
            <a:extLst>
              <a:ext uri="{FF2B5EF4-FFF2-40B4-BE49-F238E27FC236}">
                <a16:creationId xmlns:a16="http://schemas.microsoft.com/office/drawing/2014/main" id="{90A92A86-05C3-C9E0-5005-B5FC33E8615E}"/>
              </a:ext>
            </a:extLst>
          </p:cNvPr>
          <p:cNvSpPr txBox="1"/>
          <p:nvPr/>
        </p:nvSpPr>
        <p:spPr>
          <a:xfrm>
            <a:off x="2733773" y="6036719"/>
            <a:ext cx="8519650" cy="400110"/>
          </a:xfrm>
          <a:prstGeom prst="rect">
            <a:avLst/>
          </a:prstGeom>
          <a:noFill/>
        </p:spPr>
        <p:txBody>
          <a:bodyPr wrap="square" rtlCol="0">
            <a:spAutoFit/>
          </a:bodyPr>
          <a:lstStyle/>
          <a:p>
            <a:r>
              <a:rPr lang="de-DE" sz="2000" dirty="0"/>
              <a:t>Arrangement </a:t>
            </a:r>
            <a:r>
              <a:rPr lang="de-DE" sz="2000" dirty="0" err="1"/>
              <a:t>makes</a:t>
            </a:r>
            <a:r>
              <a:rPr lang="de-DE" sz="2000" dirty="0"/>
              <a:t> </a:t>
            </a:r>
            <a:r>
              <a:rPr lang="de-DE" sz="2000" dirty="0" err="1"/>
              <a:t>patterns</a:t>
            </a:r>
            <a:r>
              <a:rPr lang="de-DE" sz="2000" dirty="0"/>
              <a:t> and </a:t>
            </a:r>
            <a:r>
              <a:rPr lang="de-DE" sz="2000" dirty="0" err="1"/>
              <a:t>differences</a:t>
            </a:r>
            <a:r>
              <a:rPr lang="de-DE" sz="2000" dirty="0"/>
              <a:t> </a:t>
            </a:r>
            <a:r>
              <a:rPr lang="de-DE" sz="2000" dirty="0" err="1"/>
              <a:t>easier</a:t>
            </a:r>
            <a:r>
              <a:rPr lang="de-DE" sz="2000" dirty="0"/>
              <a:t> to </a:t>
            </a:r>
            <a:r>
              <a:rPr lang="de-DE" sz="2000" dirty="0" err="1"/>
              <a:t>see</a:t>
            </a:r>
            <a:r>
              <a:rPr lang="de-DE" sz="2000" dirty="0"/>
              <a:t>.</a:t>
            </a:r>
          </a:p>
        </p:txBody>
      </p:sp>
      <p:pic>
        <p:nvPicPr>
          <p:cNvPr id="15" name="Grafik 14">
            <a:extLst>
              <a:ext uri="{FF2B5EF4-FFF2-40B4-BE49-F238E27FC236}">
                <a16:creationId xmlns:a16="http://schemas.microsoft.com/office/drawing/2014/main" id="{68EF4052-EAB0-D1CF-BC0C-106937CB7925}"/>
              </a:ext>
            </a:extLst>
          </p:cNvPr>
          <p:cNvPicPr>
            <a:picLocks noChangeAspect="1"/>
          </p:cNvPicPr>
          <p:nvPr/>
        </p:nvPicPr>
        <p:blipFill>
          <a:blip r:embed="rId3">
            <a:extLst>
              <a:ext uri="{28A0092B-C50C-407E-A947-70E740481C1C}">
                <a14:useLocalDpi xmlns:a14="http://schemas.microsoft.com/office/drawing/2010/main" val="0"/>
              </a:ext>
            </a:extLst>
          </a:blip>
          <a:srcRect t="9212" b="2970"/>
          <a:stretch>
            <a:fillRect/>
          </a:stretch>
        </p:blipFill>
        <p:spPr>
          <a:xfrm>
            <a:off x="1659069" y="1474864"/>
            <a:ext cx="8873861" cy="4385823"/>
          </a:xfrm>
          <a:prstGeom prst="rect">
            <a:avLst/>
          </a:prstGeom>
        </p:spPr>
      </p:pic>
      <p:sp>
        <p:nvSpPr>
          <p:cNvPr id="17" name="Pfeil: nach rechts 16">
            <a:extLst>
              <a:ext uri="{FF2B5EF4-FFF2-40B4-BE49-F238E27FC236}">
                <a16:creationId xmlns:a16="http://schemas.microsoft.com/office/drawing/2014/main" id="{135A7C08-0F68-5FF9-4D14-13A990FC8793}"/>
              </a:ext>
            </a:extLst>
          </p:cNvPr>
          <p:cNvSpPr/>
          <p:nvPr/>
        </p:nvSpPr>
        <p:spPr>
          <a:xfrm>
            <a:off x="1932624" y="6123652"/>
            <a:ext cx="772868" cy="22624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Foliennummernplatzhalter 17">
            <a:extLst>
              <a:ext uri="{FF2B5EF4-FFF2-40B4-BE49-F238E27FC236}">
                <a16:creationId xmlns:a16="http://schemas.microsoft.com/office/drawing/2014/main" id="{D36114CB-728A-8D6B-6849-DAC5566A7018}"/>
              </a:ext>
            </a:extLst>
          </p:cNvPr>
          <p:cNvSpPr>
            <a:spLocks noGrp="1"/>
          </p:cNvSpPr>
          <p:nvPr>
            <p:ph type="sldNum" sz="quarter" idx="10"/>
          </p:nvPr>
        </p:nvSpPr>
        <p:spPr/>
        <p:txBody>
          <a:bodyPr/>
          <a:lstStyle/>
          <a:p>
            <a:fld id="{7409167B-7A9B-460A-AC8D-6F72C9603382}" type="slidenum">
              <a:rPr lang="en-GB" smtClean="0"/>
              <a:pPr/>
              <a:t>5</a:t>
            </a:fld>
            <a:endParaRPr lang="en-GB"/>
          </a:p>
        </p:txBody>
      </p:sp>
    </p:spTree>
    <p:extLst>
      <p:ext uri="{BB962C8B-B14F-4D97-AF65-F5344CB8AC3E}">
        <p14:creationId xmlns:p14="http://schemas.microsoft.com/office/powerpoint/2010/main" val="39656257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4059A-54F2-D9B5-4371-A3D900335F3F}"/>
            </a:ext>
          </a:extLst>
        </p:cNvPr>
        <p:cNvGrpSpPr/>
        <p:nvPr/>
      </p:nvGrpSpPr>
      <p:grpSpPr>
        <a:xfrm>
          <a:off x="0" y="0"/>
          <a:ext cx="0" cy="0"/>
          <a:chOff x="0" y="0"/>
          <a:chExt cx="0" cy="0"/>
        </a:xfrm>
      </p:grpSpPr>
      <p:sp>
        <p:nvSpPr>
          <p:cNvPr id="4" name="Textplatzhalter 3">
            <a:extLst>
              <a:ext uri="{FF2B5EF4-FFF2-40B4-BE49-F238E27FC236}">
                <a16:creationId xmlns:a16="http://schemas.microsoft.com/office/drawing/2014/main" id="{BECA9689-82AE-6F4D-337B-55B6CC46E843}"/>
              </a:ext>
            </a:extLst>
          </p:cNvPr>
          <p:cNvSpPr>
            <a:spLocks noGrp="1"/>
          </p:cNvSpPr>
          <p:nvPr>
            <p:ph type="body" sz="quarter" idx="12"/>
          </p:nvPr>
        </p:nvSpPr>
        <p:spPr>
          <a:xfrm>
            <a:off x="8290800" y="511868"/>
            <a:ext cx="3618000" cy="258532"/>
          </a:xfrm>
        </p:spPr>
        <p:txBody>
          <a:bodyPr/>
          <a:lstStyle/>
          <a:p>
            <a:r>
              <a:rPr lang="en-GB" dirty="0"/>
              <a:t>Felix Krull, Moritz Steinke</a:t>
            </a:r>
          </a:p>
        </p:txBody>
      </p:sp>
      <p:sp>
        <p:nvSpPr>
          <p:cNvPr id="8" name="Textfeld 7">
            <a:extLst>
              <a:ext uri="{FF2B5EF4-FFF2-40B4-BE49-F238E27FC236}">
                <a16:creationId xmlns:a16="http://schemas.microsoft.com/office/drawing/2014/main" id="{DB2BDC67-605E-AE87-A01E-757DACE7B0EE}"/>
              </a:ext>
            </a:extLst>
          </p:cNvPr>
          <p:cNvSpPr txBox="1"/>
          <p:nvPr/>
        </p:nvSpPr>
        <p:spPr>
          <a:xfrm>
            <a:off x="433632" y="937966"/>
            <a:ext cx="4543721" cy="400110"/>
          </a:xfrm>
          <a:prstGeom prst="rect">
            <a:avLst/>
          </a:prstGeom>
          <a:noFill/>
        </p:spPr>
        <p:txBody>
          <a:bodyPr wrap="square" rtlCol="0">
            <a:spAutoFit/>
          </a:bodyPr>
          <a:lstStyle/>
          <a:p>
            <a:r>
              <a:rPr lang="de-DE" dirty="0"/>
              <a:t>Collect – </a:t>
            </a:r>
            <a:r>
              <a:rPr lang="de-DE" sz="2000" b="1" dirty="0" err="1"/>
              <a:t>Arrange</a:t>
            </a:r>
            <a:r>
              <a:rPr lang="de-DE" dirty="0"/>
              <a:t> – </a:t>
            </a:r>
            <a:r>
              <a:rPr lang="de-DE" dirty="0" err="1"/>
              <a:t>Compare</a:t>
            </a:r>
            <a:r>
              <a:rPr lang="de-DE" dirty="0"/>
              <a:t> - Navigate</a:t>
            </a:r>
          </a:p>
        </p:txBody>
      </p:sp>
      <p:sp>
        <p:nvSpPr>
          <p:cNvPr id="9" name="Textfeld 8">
            <a:extLst>
              <a:ext uri="{FF2B5EF4-FFF2-40B4-BE49-F238E27FC236}">
                <a16:creationId xmlns:a16="http://schemas.microsoft.com/office/drawing/2014/main" id="{A8AA27C3-A36D-1549-A3B9-047B25E344DA}"/>
              </a:ext>
            </a:extLst>
          </p:cNvPr>
          <p:cNvSpPr txBox="1"/>
          <p:nvPr/>
        </p:nvSpPr>
        <p:spPr>
          <a:xfrm>
            <a:off x="5976594" y="937966"/>
            <a:ext cx="4920792" cy="369332"/>
          </a:xfrm>
          <a:prstGeom prst="rect">
            <a:avLst/>
          </a:prstGeom>
          <a:noFill/>
        </p:spPr>
        <p:txBody>
          <a:bodyPr wrap="square" rtlCol="0">
            <a:spAutoFit/>
          </a:bodyPr>
          <a:lstStyle/>
          <a:p>
            <a:r>
              <a:rPr lang="de-DE" b="1" dirty="0" err="1"/>
              <a:t>Organizing</a:t>
            </a:r>
            <a:r>
              <a:rPr lang="de-DE" b="1" dirty="0"/>
              <a:t> </a:t>
            </a:r>
            <a:r>
              <a:rPr lang="de-DE" b="1" dirty="0" err="1"/>
              <a:t>Visualizations</a:t>
            </a:r>
            <a:r>
              <a:rPr lang="de-DE" b="1" dirty="0"/>
              <a:t> for Analysis</a:t>
            </a:r>
          </a:p>
        </p:txBody>
      </p:sp>
      <p:sp>
        <p:nvSpPr>
          <p:cNvPr id="10" name="Textfeld 9">
            <a:extLst>
              <a:ext uri="{FF2B5EF4-FFF2-40B4-BE49-F238E27FC236}">
                <a16:creationId xmlns:a16="http://schemas.microsoft.com/office/drawing/2014/main" id="{331BA229-E205-CE71-DADE-628E7E9FBF20}"/>
              </a:ext>
            </a:extLst>
          </p:cNvPr>
          <p:cNvSpPr txBox="1"/>
          <p:nvPr/>
        </p:nvSpPr>
        <p:spPr>
          <a:xfrm>
            <a:off x="2733773" y="6036719"/>
            <a:ext cx="8519650" cy="400110"/>
          </a:xfrm>
          <a:prstGeom prst="rect">
            <a:avLst/>
          </a:prstGeom>
          <a:noFill/>
        </p:spPr>
        <p:txBody>
          <a:bodyPr wrap="square" rtlCol="0">
            <a:spAutoFit/>
          </a:bodyPr>
          <a:lstStyle/>
          <a:p>
            <a:r>
              <a:rPr lang="de-DE" sz="2000" dirty="0"/>
              <a:t>Arrangement </a:t>
            </a:r>
            <a:r>
              <a:rPr lang="de-DE" sz="2000" dirty="0" err="1"/>
              <a:t>makes</a:t>
            </a:r>
            <a:r>
              <a:rPr lang="de-DE" sz="2000" dirty="0"/>
              <a:t> </a:t>
            </a:r>
            <a:r>
              <a:rPr lang="de-DE" sz="2000" dirty="0" err="1"/>
              <a:t>patterns</a:t>
            </a:r>
            <a:r>
              <a:rPr lang="de-DE" sz="2000" dirty="0"/>
              <a:t> and </a:t>
            </a:r>
            <a:r>
              <a:rPr lang="de-DE" sz="2000" dirty="0" err="1"/>
              <a:t>differences</a:t>
            </a:r>
            <a:r>
              <a:rPr lang="de-DE" sz="2000" dirty="0"/>
              <a:t> </a:t>
            </a:r>
            <a:r>
              <a:rPr lang="de-DE" sz="2000" dirty="0" err="1"/>
              <a:t>easier</a:t>
            </a:r>
            <a:r>
              <a:rPr lang="de-DE" sz="2000" dirty="0"/>
              <a:t> to </a:t>
            </a:r>
            <a:r>
              <a:rPr lang="de-DE" sz="2000" dirty="0" err="1"/>
              <a:t>see</a:t>
            </a:r>
            <a:r>
              <a:rPr lang="de-DE" sz="2000" dirty="0"/>
              <a:t>.</a:t>
            </a:r>
          </a:p>
        </p:txBody>
      </p:sp>
      <p:sp>
        <p:nvSpPr>
          <p:cNvPr id="17" name="Pfeil: nach rechts 16">
            <a:extLst>
              <a:ext uri="{FF2B5EF4-FFF2-40B4-BE49-F238E27FC236}">
                <a16:creationId xmlns:a16="http://schemas.microsoft.com/office/drawing/2014/main" id="{DFD692F3-2CD6-E67A-5355-1BF9FFDECF71}"/>
              </a:ext>
            </a:extLst>
          </p:cNvPr>
          <p:cNvSpPr/>
          <p:nvPr/>
        </p:nvSpPr>
        <p:spPr>
          <a:xfrm>
            <a:off x="1932624" y="6123652"/>
            <a:ext cx="772868" cy="22624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Foliennummernplatzhalter 5">
            <a:extLst>
              <a:ext uri="{FF2B5EF4-FFF2-40B4-BE49-F238E27FC236}">
                <a16:creationId xmlns:a16="http://schemas.microsoft.com/office/drawing/2014/main" id="{3529B337-B5BB-0C71-E82A-78E5060E3491}"/>
              </a:ext>
            </a:extLst>
          </p:cNvPr>
          <p:cNvSpPr>
            <a:spLocks noGrp="1"/>
          </p:cNvSpPr>
          <p:nvPr>
            <p:ph type="sldNum" sz="quarter" idx="10"/>
          </p:nvPr>
        </p:nvSpPr>
        <p:spPr/>
        <p:txBody>
          <a:bodyPr/>
          <a:lstStyle/>
          <a:p>
            <a:fld id="{7409167B-7A9B-460A-AC8D-6F72C9603382}" type="slidenum">
              <a:rPr lang="en-GB" smtClean="0"/>
              <a:pPr/>
              <a:t>6</a:t>
            </a:fld>
            <a:endParaRPr lang="en-GB"/>
          </a:p>
        </p:txBody>
      </p:sp>
      <p:pic>
        <p:nvPicPr>
          <p:cNvPr id="11" name="Grafik 10">
            <a:extLst>
              <a:ext uri="{FF2B5EF4-FFF2-40B4-BE49-F238E27FC236}">
                <a16:creationId xmlns:a16="http://schemas.microsoft.com/office/drawing/2014/main" id="{8A41A1D0-1436-2EB6-BC8E-94BB7465FE67}"/>
              </a:ext>
            </a:extLst>
          </p:cNvPr>
          <p:cNvPicPr>
            <a:picLocks noChangeAspect="1"/>
          </p:cNvPicPr>
          <p:nvPr/>
        </p:nvPicPr>
        <p:blipFill>
          <a:blip r:embed="rId3">
            <a:extLst>
              <a:ext uri="{28A0092B-C50C-407E-A947-70E740481C1C}">
                <a14:useLocalDpi xmlns:a14="http://schemas.microsoft.com/office/drawing/2010/main" val="0"/>
              </a:ext>
            </a:extLst>
          </a:blip>
          <a:srcRect t="9630"/>
          <a:stretch>
            <a:fillRect/>
          </a:stretch>
        </p:blipFill>
        <p:spPr>
          <a:xfrm>
            <a:off x="1611476" y="1467295"/>
            <a:ext cx="8730235" cy="4440204"/>
          </a:xfrm>
          <a:prstGeom prst="rect">
            <a:avLst/>
          </a:prstGeom>
        </p:spPr>
      </p:pic>
    </p:spTree>
    <p:extLst>
      <p:ext uri="{BB962C8B-B14F-4D97-AF65-F5344CB8AC3E}">
        <p14:creationId xmlns:p14="http://schemas.microsoft.com/office/powerpoint/2010/main" val="26580050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Grafik 9">
            <a:extLst>
              <a:ext uri="{FF2B5EF4-FFF2-40B4-BE49-F238E27FC236}">
                <a16:creationId xmlns:a16="http://schemas.microsoft.com/office/drawing/2014/main" id="{FBD4D9C6-5BB4-A0F7-3C76-148D896AD5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9146" y="1432875"/>
            <a:ext cx="8658295" cy="2824769"/>
          </a:xfrm>
          <a:prstGeom prst="rect">
            <a:avLst/>
          </a:prstGeom>
        </p:spPr>
      </p:pic>
      <p:pic>
        <p:nvPicPr>
          <p:cNvPr id="12" name="Grafik 11">
            <a:extLst>
              <a:ext uri="{FF2B5EF4-FFF2-40B4-BE49-F238E27FC236}">
                <a16:creationId xmlns:a16="http://schemas.microsoft.com/office/drawing/2014/main" id="{058FCEA5-FE49-D05C-C57E-DD837804ED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14886" y="4257644"/>
            <a:ext cx="8186814" cy="2080004"/>
          </a:xfrm>
          <a:prstGeom prst="rect">
            <a:avLst/>
          </a:prstGeom>
        </p:spPr>
      </p:pic>
      <p:sp>
        <p:nvSpPr>
          <p:cNvPr id="4" name="Textfeld 3">
            <a:extLst>
              <a:ext uri="{FF2B5EF4-FFF2-40B4-BE49-F238E27FC236}">
                <a16:creationId xmlns:a16="http://schemas.microsoft.com/office/drawing/2014/main" id="{B8516DF6-7297-30C5-4F14-813CB73201D4}"/>
              </a:ext>
            </a:extLst>
          </p:cNvPr>
          <p:cNvSpPr txBox="1"/>
          <p:nvPr/>
        </p:nvSpPr>
        <p:spPr>
          <a:xfrm>
            <a:off x="433632" y="937966"/>
            <a:ext cx="4543721" cy="400110"/>
          </a:xfrm>
          <a:prstGeom prst="rect">
            <a:avLst/>
          </a:prstGeom>
          <a:noFill/>
        </p:spPr>
        <p:txBody>
          <a:bodyPr wrap="square" rtlCol="0">
            <a:spAutoFit/>
          </a:bodyPr>
          <a:lstStyle/>
          <a:p>
            <a:r>
              <a:rPr lang="de-DE" dirty="0"/>
              <a:t>Collect – </a:t>
            </a:r>
            <a:r>
              <a:rPr lang="de-DE" dirty="0" err="1"/>
              <a:t>Arrange</a:t>
            </a:r>
            <a:r>
              <a:rPr lang="de-DE" dirty="0"/>
              <a:t> – </a:t>
            </a:r>
            <a:r>
              <a:rPr lang="de-DE" sz="2000" b="1" dirty="0" err="1"/>
              <a:t>Compare</a:t>
            </a:r>
            <a:r>
              <a:rPr lang="de-DE" dirty="0"/>
              <a:t> - Navigate</a:t>
            </a:r>
          </a:p>
        </p:txBody>
      </p:sp>
      <p:sp>
        <p:nvSpPr>
          <p:cNvPr id="6" name="Textfeld 5">
            <a:extLst>
              <a:ext uri="{FF2B5EF4-FFF2-40B4-BE49-F238E27FC236}">
                <a16:creationId xmlns:a16="http://schemas.microsoft.com/office/drawing/2014/main" id="{4B319244-241E-822D-02F1-9BC47C844555}"/>
              </a:ext>
            </a:extLst>
          </p:cNvPr>
          <p:cNvSpPr txBox="1"/>
          <p:nvPr/>
        </p:nvSpPr>
        <p:spPr>
          <a:xfrm>
            <a:off x="5976594" y="937966"/>
            <a:ext cx="4920792" cy="369332"/>
          </a:xfrm>
          <a:prstGeom prst="rect">
            <a:avLst/>
          </a:prstGeom>
          <a:noFill/>
        </p:spPr>
        <p:txBody>
          <a:bodyPr wrap="square" rtlCol="0">
            <a:spAutoFit/>
          </a:bodyPr>
          <a:lstStyle/>
          <a:p>
            <a:r>
              <a:rPr lang="en-US" b="1" dirty="0"/>
              <a:t>Comparing word-scale visualizations</a:t>
            </a:r>
            <a:endParaRPr lang="de-DE" b="1" dirty="0"/>
          </a:p>
        </p:txBody>
      </p:sp>
      <p:sp>
        <p:nvSpPr>
          <p:cNvPr id="13" name="Textplatzhalter 3">
            <a:extLst>
              <a:ext uri="{FF2B5EF4-FFF2-40B4-BE49-F238E27FC236}">
                <a16:creationId xmlns:a16="http://schemas.microsoft.com/office/drawing/2014/main" id="{AE29D483-D5B5-BBD7-44A4-C0F198582BE0}"/>
              </a:ext>
            </a:extLst>
          </p:cNvPr>
          <p:cNvSpPr>
            <a:spLocks noGrp="1"/>
          </p:cNvSpPr>
          <p:nvPr>
            <p:ph type="body" sz="quarter" idx="12"/>
          </p:nvPr>
        </p:nvSpPr>
        <p:spPr>
          <a:xfrm>
            <a:off x="9801700" y="511868"/>
            <a:ext cx="2107100" cy="258532"/>
          </a:xfrm>
        </p:spPr>
        <p:txBody>
          <a:bodyPr>
            <a:normAutofit/>
          </a:bodyPr>
          <a:lstStyle/>
          <a:p>
            <a:pPr algn="r"/>
            <a:r>
              <a:rPr lang="en-GB" sz="1200" dirty="0"/>
              <a:t>Felix Krull, Moritz Steinke</a:t>
            </a:r>
          </a:p>
        </p:txBody>
      </p:sp>
      <p:sp>
        <p:nvSpPr>
          <p:cNvPr id="2" name="Foliennummernplatzhalter 1">
            <a:extLst>
              <a:ext uri="{FF2B5EF4-FFF2-40B4-BE49-F238E27FC236}">
                <a16:creationId xmlns:a16="http://schemas.microsoft.com/office/drawing/2014/main" id="{D6E64C70-4CE7-317E-4731-D6DD65630C7C}"/>
              </a:ext>
            </a:extLst>
          </p:cNvPr>
          <p:cNvSpPr>
            <a:spLocks noGrp="1"/>
          </p:cNvSpPr>
          <p:nvPr>
            <p:ph type="sldNum" sz="quarter" idx="10"/>
          </p:nvPr>
        </p:nvSpPr>
        <p:spPr/>
        <p:txBody>
          <a:bodyPr/>
          <a:lstStyle/>
          <a:p>
            <a:fld id="{7409167B-7A9B-460A-AC8D-6F72C9603382}" type="slidenum">
              <a:rPr lang="en-GB" smtClean="0"/>
              <a:pPr/>
              <a:t>7</a:t>
            </a:fld>
            <a:endParaRPr lang="en-GB"/>
          </a:p>
        </p:txBody>
      </p:sp>
    </p:spTree>
    <p:extLst>
      <p:ext uri="{BB962C8B-B14F-4D97-AF65-F5344CB8AC3E}">
        <p14:creationId xmlns:p14="http://schemas.microsoft.com/office/powerpoint/2010/main" val="6233602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DA36B9E8-CE8B-7842-27E3-AC67EDC5332D}"/>
              </a:ext>
            </a:extLst>
          </p:cNvPr>
          <p:cNvSpPr>
            <a:spLocks noGrp="1"/>
          </p:cNvSpPr>
          <p:nvPr>
            <p:ph type="body" sz="quarter" idx="11"/>
          </p:nvPr>
        </p:nvSpPr>
        <p:spPr>
          <a:xfrm>
            <a:off x="352861" y="1731600"/>
            <a:ext cx="11486277" cy="3394800"/>
          </a:xfrm>
        </p:spPr>
        <p:txBody>
          <a:bodyPr>
            <a:normAutofit fontScale="77500" lnSpcReduction="20000"/>
          </a:bodyPr>
          <a:lstStyle/>
          <a:p>
            <a:pPr marL="457200" indent="-457200">
              <a:buFont typeface="Arial" panose="020B0604020202020204" pitchFamily="34" charset="0"/>
              <a:buChar char="•"/>
            </a:pPr>
            <a:r>
              <a:rPr lang="en-US" b="1" dirty="0"/>
              <a:t>ad-hoc </a:t>
            </a:r>
            <a:r>
              <a:rPr lang="en-US" dirty="0"/>
              <a:t>transitions between </a:t>
            </a:r>
            <a:r>
              <a:rPr lang="en-US" b="1" dirty="0"/>
              <a:t>reading</a:t>
            </a:r>
            <a:r>
              <a:rPr lang="en-US" dirty="0"/>
              <a:t> and </a:t>
            </a:r>
            <a:r>
              <a:rPr lang="en-US" b="1" dirty="0"/>
              <a:t>exploring</a:t>
            </a:r>
            <a:r>
              <a:rPr lang="en-US" dirty="0"/>
              <a:t> associated data</a:t>
            </a:r>
          </a:p>
          <a:p>
            <a:pPr marL="457200" indent="-457200">
              <a:buFont typeface="Arial" panose="020B0604020202020204" pitchFamily="34" charset="0"/>
              <a:buChar char="•"/>
            </a:pPr>
            <a:r>
              <a:rPr lang="en-US" dirty="0"/>
              <a:t>jump from a collected view back to the original position supports </a:t>
            </a:r>
            <a:r>
              <a:rPr lang="en-US" b="1" dirty="0"/>
              <a:t>fluid transitions </a:t>
            </a:r>
          </a:p>
          <a:p>
            <a:br>
              <a:rPr lang="en-US" dirty="0"/>
            </a:br>
            <a:r>
              <a:rPr lang="en-US" dirty="0"/>
              <a:t>Core Navigation interactions properties </a:t>
            </a:r>
          </a:p>
          <a:p>
            <a:pPr marL="457200" indent="-457200">
              <a:buFont typeface="Wingdings" panose="05000000000000000000" pitchFamily="2" charset="2"/>
              <a:buChar char="Ø"/>
            </a:pPr>
            <a:r>
              <a:rPr lang="en-US" dirty="0"/>
              <a:t>promoting flow </a:t>
            </a:r>
          </a:p>
          <a:p>
            <a:pPr marL="457200" indent="-457200">
              <a:buFont typeface="Wingdings" panose="05000000000000000000" pitchFamily="2" charset="2"/>
              <a:buChar char="Ø"/>
            </a:pPr>
            <a:r>
              <a:rPr lang="en-US" dirty="0"/>
              <a:t>enabling seamless switching between </a:t>
            </a:r>
            <a:br>
              <a:rPr lang="en-US" dirty="0"/>
            </a:br>
            <a:r>
              <a:rPr lang="en-US" dirty="0"/>
              <a:t>exploration and reading</a:t>
            </a:r>
          </a:p>
          <a:p>
            <a:endParaRPr lang="en-US" dirty="0"/>
          </a:p>
          <a:p>
            <a:r>
              <a:rPr lang="en-US" dirty="0"/>
              <a:t>Word-scale visualizations can serve as an </a:t>
            </a:r>
            <a:br>
              <a:rPr lang="en-US" dirty="0"/>
            </a:br>
            <a:r>
              <a:rPr lang="en-US" b="1" dirty="0"/>
              <a:t>index</a:t>
            </a:r>
            <a:r>
              <a:rPr lang="en-US" dirty="0"/>
              <a:t> or </a:t>
            </a:r>
            <a:r>
              <a:rPr lang="en-US" b="1" dirty="0"/>
              <a:t>entry point </a:t>
            </a:r>
            <a:r>
              <a:rPr lang="en-US" dirty="0"/>
              <a:t>into the document</a:t>
            </a:r>
          </a:p>
        </p:txBody>
      </p:sp>
      <p:pic>
        <p:nvPicPr>
          <p:cNvPr id="5" name="Grafik 4">
            <a:extLst>
              <a:ext uri="{FF2B5EF4-FFF2-40B4-BE49-F238E27FC236}">
                <a16:creationId xmlns:a16="http://schemas.microsoft.com/office/drawing/2014/main" id="{55938FF8-486A-F9A2-8258-786D80355BB9}"/>
              </a:ext>
            </a:extLst>
          </p:cNvPr>
          <p:cNvPicPr>
            <a:picLocks noChangeAspect="1"/>
          </p:cNvPicPr>
          <p:nvPr/>
        </p:nvPicPr>
        <p:blipFill>
          <a:blip r:embed="rId3">
            <a:extLst>
              <a:ext uri="{28A0092B-C50C-407E-A947-70E740481C1C}">
                <a14:useLocalDpi xmlns:a14="http://schemas.microsoft.com/office/drawing/2010/main" val="0"/>
              </a:ext>
            </a:extLst>
          </a:blip>
          <a:srcRect l="3386" r="2767"/>
          <a:stretch>
            <a:fillRect/>
          </a:stretch>
        </p:blipFill>
        <p:spPr>
          <a:xfrm>
            <a:off x="5779124" y="3107004"/>
            <a:ext cx="6129676" cy="1784301"/>
          </a:xfrm>
          <a:prstGeom prst="rect">
            <a:avLst/>
          </a:prstGeom>
        </p:spPr>
      </p:pic>
      <p:sp>
        <p:nvSpPr>
          <p:cNvPr id="6" name="Textfeld 5">
            <a:extLst>
              <a:ext uri="{FF2B5EF4-FFF2-40B4-BE49-F238E27FC236}">
                <a16:creationId xmlns:a16="http://schemas.microsoft.com/office/drawing/2014/main" id="{B5552522-ACF7-FB71-1954-D7933F84B3D6}"/>
              </a:ext>
            </a:extLst>
          </p:cNvPr>
          <p:cNvSpPr txBox="1"/>
          <p:nvPr/>
        </p:nvSpPr>
        <p:spPr>
          <a:xfrm>
            <a:off x="433632" y="937966"/>
            <a:ext cx="4543721" cy="400110"/>
          </a:xfrm>
          <a:prstGeom prst="rect">
            <a:avLst/>
          </a:prstGeom>
          <a:noFill/>
        </p:spPr>
        <p:txBody>
          <a:bodyPr wrap="square" rtlCol="0">
            <a:spAutoFit/>
          </a:bodyPr>
          <a:lstStyle/>
          <a:p>
            <a:r>
              <a:rPr lang="de-DE" dirty="0"/>
              <a:t>Collect – </a:t>
            </a:r>
            <a:r>
              <a:rPr lang="de-DE" dirty="0" err="1"/>
              <a:t>Arrange</a:t>
            </a:r>
            <a:r>
              <a:rPr lang="de-DE" dirty="0"/>
              <a:t> – </a:t>
            </a:r>
            <a:r>
              <a:rPr lang="de-DE" dirty="0" err="1"/>
              <a:t>Compare</a:t>
            </a:r>
            <a:r>
              <a:rPr lang="de-DE" dirty="0"/>
              <a:t> - </a:t>
            </a:r>
            <a:r>
              <a:rPr lang="de-DE" sz="2000" b="1" dirty="0"/>
              <a:t>Navigate</a:t>
            </a:r>
            <a:endParaRPr lang="de-DE" b="1" dirty="0"/>
          </a:p>
        </p:txBody>
      </p:sp>
      <p:sp>
        <p:nvSpPr>
          <p:cNvPr id="8" name="Textplatzhalter 3">
            <a:extLst>
              <a:ext uri="{FF2B5EF4-FFF2-40B4-BE49-F238E27FC236}">
                <a16:creationId xmlns:a16="http://schemas.microsoft.com/office/drawing/2014/main" id="{209D7A21-A91E-A682-9EBC-C8E8785B449F}"/>
              </a:ext>
            </a:extLst>
          </p:cNvPr>
          <p:cNvSpPr txBox="1">
            <a:spLocks/>
          </p:cNvSpPr>
          <p:nvPr/>
        </p:nvSpPr>
        <p:spPr>
          <a:xfrm>
            <a:off x="8290800" y="511868"/>
            <a:ext cx="3618000" cy="25853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GB" sz="1200" dirty="0"/>
              <a:t>Felix Krull, Moritz Steinke</a:t>
            </a:r>
          </a:p>
        </p:txBody>
      </p:sp>
      <p:sp>
        <p:nvSpPr>
          <p:cNvPr id="10" name="Textfeld 9">
            <a:extLst>
              <a:ext uri="{FF2B5EF4-FFF2-40B4-BE49-F238E27FC236}">
                <a16:creationId xmlns:a16="http://schemas.microsoft.com/office/drawing/2014/main" id="{D209D217-0E49-0F30-ACB4-76EF77186E9E}"/>
              </a:ext>
            </a:extLst>
          </p:cNvPr>
          <p:cNvSpPr txBox="1"/>
          <p:nvPr/>
        </p:nvSpPr>
        <p:spPr>
          <a:xfrm>
            <a:off x="5976594" y="937966"/>
            <a:ext cx="4920792" cy="369332"/>
          </a:xfrm>
          <a:prstGeom prst="rect">
            <a:avLst/>
          </a:prstGeom>
          <a:noFill/>
        </p:spPr>
        <p:txBody>
          <a:bodyPr wrap="square" rtlCol="0">
            <a:spAutoFit/>
          </a:bodyPr>
          <a:lstStyle/>
          <a:p>
            <a:r>
              <a:rPr lang="de-DE" b="1" dirty="0" err="1"/>
              <a:t>Navigating</a:t>
            </a:r>
            <a:r>
              <a:rPr lang="de-DE" b="1" dirty="0"/>
              <a:t> the </a:t>
            </a:r>
            <a:r>
              <a:rPr lang="de-DE" b="1" dirty="0" err="1"/>
              <a:t>Document</a:t>
            </a:r>
            <a:endParaRPr lang="de-DE" b="1" dirty="0"/>
          </a:p>
        </p:txBody>
      </p:sp>
      <p:sp>
        <p:nvSpPr>
          <p:cNvPr id="3" name="Foliennummernplatzhalter 2">
            <a:extLst>
              <a:ext uri="{FF2B5EF4-FFF2-40B4-BE49-F238E27FC236}">
                <a16:creationId xmlns:a16="http://schemas.microsoft.com/office/drawing/2014/main" id="{5F605D6E-2BE9-D930-CDC6-F38B1628D1CE}"/>
              </a:ext>
            </a:extLst>
          </p:cNvPr>
          <p:cNvSpPr>
            <a:spLocks noGrp="1"/>
          </p:cNvSpPr>
          <p:nvPr>
            <p:ph type="sldNum" sz="quarter" idx="10"/>
          </p:nvPr>
        </p:nvSpPr>
        <p:spPr/>
        <p:txBody>
          <a:bodyPr/>
          <a:lstStyle/>
          <a:p>
            <a:fld id="{7409167B-7A9B-460A-AC8D-6F72C9603382}" type="slidenum">
              <a:rPr lang="en-GB" smtClean="0"/>
              <a:pPr/>
              <a:t>8</a:t>
            </a:fld>
            <a:endParaRPr lang="en-GB"/>
          </a:p>
        </p:txBody>
      </p:sp>
    </p:spTree>
    <p:extLst>
      <p:ext uri="{BB962C8B-B14F-4D97-AF65-F5344CB8AC3E}">
        <p14:creationId xmlns:p14="http://schemas.microsoft.com/office/powerpoint/2010/main" val="40283902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hteck: abgerundete Ecken 41">
            <a:extLst>
              <a:ext uri="{FF2B5EF4-FFF2-40B4-BE49-F238E27FC236}">
                <a16:creationId xmlns:a16="http://schemas.microsoft.com/office/drawing/2014/main" id="{410ED6D2-F5F6-7EAB-AC0C-9B09528AF123}"/>
              </a:ext>
            </a:extLst>
          </p:cNvPr>
          <p:cNvSpPr/>
          <p:nvPr/>
        </p:nvSpPr>
        <p:spPr>
          <a:xfrm>
            <a:off x="6181250" y="2643409"/>
            <a:ext cx="5358838" cy="3615807"/>
          </a:xfrm>
          <a:prstGeom prst="roundRect">
            <a:avLst>
              <a:gd name="adj" fmla="val 5748"/>
            </a:avLst>
          </a:prstGeom>
          <a:solidFill>
            <a:schemeClr val="bg1"/>
          </a:solidFill>
          <a:ln w="57150">
            <a:solidFill>
              <a:schemeClr val="accent4"/>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Rechteck: abgerundete Ecken 39">
            <a:extLst>
              <a:ext uri="{FF2B5EF4-FFF2-40B4-BE49-F238E27FC236}">
                <a16:creationId xmlns:a16="http://schemas.microsoft.com/office/drawing/2014/main" id="{F8630BD9-EC50-88AA-9015-EBCE2E3532D0}"/>
              </a:ext>
            </a:extLst>
          </p:cNvPr>
          <p:cNvSpPr/>
          <p:nvPr/>
        </p:nvSpPr>
        <p:spPr>
          <a:xfrm>
            <a:off x="412765" y="2658886"/>
            <a:ext cx="5465251" cy="3615807"/>
          </a:xfrm>
          <a:prstGeom prst="roundRect">
            <a:avLst>
              <a:gd name="adj" fmla="val 5748"/>
            </a:avLst>
          </a:prstGeom>
          <a:solidFill>
            <a:schemeClr val="bg1"/>
          </a:solidFill>
          <a:ln w="57150">
            <a:solidFill>
              <a:schemeClr val="accent5"/>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8" name="Rechteck: abgerundete Ecken 37">
            <a:extLst>
              <a:ext uri="{FF2B5EF4-FFF2-40B4-BE49-F238E27FC236}">
                <a16:creationId xmlns:a16="http://schemas.microsoft.com/office/drawing/2014/main" id="{6A8FBBC2-CE3B-01DB-6B3B-BE6A50B0D262}"/>
              </a:ext>
            </a:extLst>
          </p:cNvPr>
          <p:cNvSpPr/>
          <p:nvPr/>
        </p:nvSpPr>
        <p:spPr>
          <a:xfrm>
            <a:off x="3805586" y="261491"/>
            <a:ext cx="3017520" cy="2169290"/>
          </a:xfrm>
          <a:prstGeom prst="roundRect">
            <a:avLst>
              <a:gd name="adj" fmla="val 5296"/>
            </a:avLst>
          </a:prstGeom>
          <a:solidFill>
            <a:schemeClr val="bg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Textplatzhalter 5">
            <a:extLst>
              <a:ext uri="{FF2B5EF4-FFF2-40B4-BE49-F238E27FC236}">
                <a16:creationId xmlns:a16="http://schemas.microsoft.com/office/drawing/2014/main" id="{9725E7FD-7A2E-B4C6-6B33-80E26DFF92B2}"/>
              </a:ext>
            </a:extLst>
          </p:cNvPr>
          <p:cNvSpPr>
            <a:spLocks noGrp="1"/>
          </p:cNvSpPr>
          <p:nvPr>
            <p:ph type="body" sz="quarter" idx="12"/>
          </p:nvPr>
        </p:nvSpPr>
        <p:spPr>
          <a:xfrm>
            <a:off x="6246963" y="2754329"/>
            <a:ext cx="5626800" cy="3395663"/>
          </a:xfrm>
        </p:spPr>
        <p:txBody>
          <a:bodyPr>
            <a:normAutofit/>
          </a:bodyPr>
          <a:lstStyle/>
          <a:p>
            <a:r>
              <a:rPr lang="en-US" sz="1800" b="1" dirty="0"/>
              <a:t>Experiment 2: Open-Ended Exploration Task</a:t>
            </a:r>
            <a:endParaRPr lang="de-DE" sz="1800" b="1" dirty="0"/>
          </a:p>
        </p:txBody>
      </p:sp>
      <p:sp>
        <p:nvSpPr>
          <p:cNvPr id="5" name="Textplatzhalter 4">
            <a:extLst>
              <a:ext uri="{FF2B5EF4-FFF2-40B4-BE49-F238E27FC236}">
                <a16:creationId xmlns:a16="http://schemas.microsoft.com/office/drawing/2014/main" id="{D3CED8C4-62B8-1F21-86DD-ABC4EBA45E6B}"/>
              </a:ext>
            </a:extLst>
          </p:cNvPr>
          <p:cNvSpPr>
            <a:spLocks noGrp="1"/>
          </p:cNvSpPr>
          <p:nvPr>
            <p:ph type="body" sz="quarter" idx="11"/>
          </p:nvPr>
        </p:nvSpPr>
        <p:spPr>
          <a:xfrm>
            <a:off x="519662" y="2754329"/>
            <a:ext cx="5661588" cy="3394800"/>
          </a:xfrm>
        </p:spPr>
        <p:txBody>
          <a:bodyPr>
            <a:normAutofit/>
          </a:bodyPr>
          <a:lstStyle/>
          <a:p>
            <a:r>
              <a:rPr lang="en-US" sz="2000" b="1" dirty="0"/>
              <a:t>Experiment 1: Interactive versus Static Gathering</a:t>
            </a:r>
            <a:endParaRPr lang="de-DE" sz="2000" b="1" dirty="0"/>
          </a:p>
        </p:txBody>
      </p:sp>
      <p:sp>
        <p:nvSpPr>
          <p:cNvPr id="4" name="Titel 3">
            <a:extLst>
              <a:ext uri="{FF2B5EF4-FFF2-40B4-BE49-F238E27FC236}">
                <a16:creationId xmlns:a16="http://schemas.microsoft.com/office/drawing/2014/main" id="{DC44B9C7-7CFC-46D6-71DC-3DC6319B316A}"/>
              </a:ext>
            </a:extLst>
          </p:cNvPr>
          <p:cNvSpPr>
            <a:spLocks noGrp="1"/>
          </p:cNvSpPr>
          <p:nvPr>
            <p:ph type="title"/>
          </p:nvPr>
        </p:nvSpPr>
        <p:spPr/>
        <p:txBody>
          <a:bodyPr/>
          <a:lstStyle/>
          <a:p>
            <a:r>
              <a:rPr lang="de-DE" dirty="0"/>
              <a:t>Study</a:t>
            </a:r>
          </a:p>
        </p:txBody>
      </p:sp>
      <p:pic>
        <p:nvPicPr>
          <p:cNvPr id="8" name="Grafik 7">
            <a:extLst>
              <a:ext uri="{FF2B5EF4-FFF2-40B4-BE49-F238E27FC236}">
                <a16:creationId xmlns:a16="http://schemas.microsoft.com/office/drawing/2014/main" id="{DDE7AB23-8042-DC1A-8FAC-1283B29F8068}"/>
              </a:ext>
            </a:extLst>
          </p:cNvPr>
          <p:cNvPicPr>
            <a:picLocks noChangeAspect="1"/>
          </p:cNvPicPr>
          <p:nvPr/>
        </p:nvPicPr>
        <p:blipFill>
          <a:blip r:embed="rId3"/>
          <a:stretch>
            <a:fillRect/>
          </a:stretch>
        </p:blipFill>
        <p:spPr>
          <a:xfrm>
            <a:off x="6951354" y="280619"/>
            <a:ext cx="4448141" cy="2137338"/>
          </a:xfrm>
          <a:prstGeom prst="rect">
            <a:avLst/>
          </a:prstGeom>
        </p:spPr>
      </p:pic>
      <p:pic>
        <p:nvPicPr>
          <p:cNvPr id="10" name="Grafik 9">
            <a:extLst>
              <a:ext uri="{FF2B5EF4-FFF2-40B4-BE49-F238E27FC236}">
                <a16:creationId xmlns:a16="http://schemas.microsoft.com/office/drawing/2014/main" id="{814FC04F-05C8-9DE9-64FC-9BEA7EFB3EB4}"/>
              </a:ext>
            </a:extLst>
          </p:cNvPr>
          <p:cNvPicPr>
            <a:picLocks noChangeAspect="1"/>
          </p:cNvPicPr>
          <p:nvPr/>
        </p:nvPicPr>
        <p:blipFill>
          <a:blip r:embed="rId4"/>
          <a:stretch>
            <a:fillRect/>
          </a:stretch>
        </p:blipFill>
        <p:spPr>
          <a:xfrm>
            <a:off x="578637" y="3519329"/>
            <a:ext cx="5133505" cy="2547427"/>
          </a:xfrm>
          <a:prstGeom prst="rect">
            <a:avLst/>
          </a:prstGeom>
        </p:spPr>
      </p:pic>
      <p:pic>
        <p:nvPicPr>
          <p:cNvPr id="12" name="Grafik 11">
            <a:extLst>
              <a:ext uri="{FF2B5EF4-FFF2-40B4-BE49-F238E27FC236}">
                <a16:creationId xmlns:a16="http://schemas.microsoft.com/office/drawing/2014/main" id="{77A72242-141E-AF04-7958-9ED9F71BA95C}"/>
              </a:ext>
            </a:extLst>
          </p:cNvPr>
          <p:cNvPicPr>
            <a:picLocks noChangeAspect="1"/>
          </p:cNvPicPr>
          <p:nvPr/>
        </p:nvPicPr>
        <p:blipFill>
          <a:blip r:embed="rId5"/>
          <a:stretch>
            <a:fillRect/>
          </a:stretch>
        </p:blipFill>
        <p:spPr>
          <a:xfrm>
            <a:off x="6348963" y="3519329"/>
            <a:ext cx="5037076" cy="2547427"/>
          </a:xfrm>
          <a:prstGeom prst="rect">
            <a:avLst/>
          </a:prstGeom>
        </p:spPr>
      </p:pic>
      <p:grpSp>
        <p:nvGrpSpPr>
          <p:cNvPr id="27" name="Gruppieren 26">
            <a:extLst>
              <a:ext uri="{FF2B5EF4-FFF2-40B4-BE49-F238E27FC236}">
                <a16:creationId xmlns:a16="http://schemas.microsoft.com/office/drawing/2014/main" id="{11D6AFC5-92C1-8927-EE29-E8D7A23B9764}"/>
              </a:ext>
            </a:extLst>
          </p:cNvPr>
          <p:cNvGrpSpPr/>
          <p:nvPr/>
        </p:nvGrpSpPr>
        <p:grpSpPr>
          <a:xfrm>
            <a:off x="4050164" y="422201"/>
            <a:ext cx="1052400" cy="1018219"/>
            <a:chOff x="3591878" y="-91273"/>
            <a:chExt cx="1052400" cy="1046674"/>
          </a:xfrm>
        </p:grpSpPr>
        <p:pic>
          <p:nvPicPr>
            <p:cNvPr id="15" name="Grafik 14" descr="Gruppe mit einfarbiger Füllung">
              <a:extLst>
                <a:ext uri="{FF2B5EF4-FFF2-40B4-BE49-F238E27FC236}">
                  <a16:creationId xmlns:a16="http://schemas.microsoft.com/office/drawing/2014/main" id="{C5F20913-B0F6-F64D-1A2D-628248CA97C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591878" y="-91273"/>
              <a:ext cx="775816" cy="775816"/>
            </a:xfrm>
            <a:prstGeom prst="rect">
              <a:avLst/>
            </a:prstGeom>
          </p:spPr>
        </p:pic>
        <p:pic>
          <p:nvPicPr>
            <p:cNvPr id="21" name="Grafik 20" descr="Gruppe mit einfarbiger Füllung">
              <a:extLst>
                <a:ext uri="{FF2B5EF4-FFF2-40B4-BE49-F238E27FC236}">
                  <a16:creationId xmlns:a16="http://schemas.microsoft.com/office/drawing/2014/main" id="{7B504360-8341-7EEB-5DAB-C0B1CCC20A6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730170" y="34445"/>
              <a:ext cx="775816" cy="775816"/>
            </a:xfrm>
            <a:prstGeom prst="rect">
              <a:avLst/>
            </a:prstGeom>
          </p:spPr>
        </p:pic>
        <p:pic>
          <p:nvPicPr>
            <p:cNvPr id="23" name="Grafik 22" descr="Gruppe mit einfarbiger Füllung">
              <a:extLst>
                <a:ext uri="{FF2B5EF4-FFF2-40B4-BE49-F238E27FC236}">
                  <a16:creationId xmlns:a16="http://schemas.microsoft.com/office/drawing/2014/main" id="{C5AD58F8-0EE0-A08B-B16D-44E038947ED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868462" y="179585"/>
              <a:ext cx="775816" cy="775816"/>
            </a:xfrm>
            <a:prstGeom prst="rect">
              <a:avLst/>
            </a:prstGeom>
          </p:spPr>
        </p:pic>
      </p:grpSp>
      <p:grpSp>
        <p:nvGrpSpPr>
          <p:cNvPr id="28" name="Gruppieren 27">
            <a:extLst>
              <a:ext uri="{FF2B5EF4-FFF2-40B4-BE49-F238E27FC236}">
                <a16:creationId xmlns:a16="http://schemas.microsoft.com/office/drawing/2014/main" id="{C9954F60-7B41-EDEA-E55D-78F8E64A1379}"/>
              </a:ext>
            </a:extLst>
          </p:cNvPr>
          <p:cNvGrpSpPr/>
          <p:nvPr/>
        </p:nvGrpSpPr>
        <p:grpSpPr>
          <a:xfrm>
            <a:off x="5102564" y="547919"/>
            <a:ext cx="653140" cy="682789"/>
            <a:chOff x="4644278" y="34445"/>
            <a:chExt cx="653140" cy="701870"/>
          </a:xfrm>
        </p:grpSpPr>
        <p:pic>
          <p:nvPicPr>
            <p:cNvPr id="19" name="Grafik 18" descr="Gruppe von Frauen mit einfarbiger Füllung">
              <a:extLst>
                <a:ext uri="{FF2B5EF4-FFF2-40B4-BE49-F238E27FC236}">
                  <a16:creationId xmlns:a16="http://schemas.microsoft.com/office/drawing/2014/main" id="{E23D3E00-4EE3-BB9A-9B86-95E42584FB1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644278" y="34445"/>
              <a:ext cx="556731" cy="556731"/>
            </a:xfrm>
            <a:prstGeom prst="rect">
              <a:avLst/>
            </a:prstGeom>
          </p:spPr>
        </p:pic>
        <p:pic>
          <p:nvPicPr>
            <p:cNvPr id="25" name="Grafik 24" descr="Gruppe von Frauen mit einfarbiger Füllung">
              <a:extLst>
                <a:ext uri="{FF2B5EF4-FFF2-40B4-BE49-F238E27FC236}">
                  <a16:creationId xmlns:a16="http://schemas.microsoft.com/office/drawing/2014/main" id="{BC93F987-B76E-D7D6-9604-0E4451AF704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40687" y="179584"/>
              <a:ext cx="556731" cy="556731"/>
            </a:xfrm>
            <a:prstGeom prst="rect">
              <a:avLst/>
            </a:prstGeom>
          </p:spPr>
        </p:pic>
      </p:grpSp>
      <p:grpSp>
        <p:nvGrpSpPr>
          <p:cNvPr id="29" name="Gruppieren 28">
            <a:extLst>
              <a:ext uri="{FF2B5EF4-FFF2-40B4-BE49-F238E27FC236}">
                <a16:creationId xmlns:a16="http://schemas.microsoft.com/office/drawing/2014/main" id="{08D64833-0A7C-BA4C-1F3C-9A0E58C702E1}"/>
              </a:ext>
            </a:extLst>
          </p:cNvPr>
          <p:cNvGrpSpPr/>
          <p:nvPr/>
        </p:nvGrpSpPr>
        <p:grpSpPr>
          <a:xfrm>
            <a:off x="5766514" y="559833"/>
            <a:ext cx="687626" cy="671200"/>
            <a:chOff x="5308228" y="46358"/>
            <a:chExt cx="687626" cy="689957"/>
          </a:xfrm>
        </p:grpSpPr>
        <p:pic>
          <p:nvPicPr>
            <p:cNvPr id="17" name="Grafik 16" descr="Gruppe von Männern mit einfarbiger Füllung">
              <a:extLst>
                <a:ext uri="{FF2B5EF4-FFF2-40B4-BE49-F238E27FC236}">
                  <a16:creationId xmlns:a16="http://schemas.microsoft.com/office/drawing/2014/main" id="{01B713B9-6524-F076-219D-6E5F7C6CE33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308228" y="46358"/>
              <a:ext cx="556731" cy="556731"/>
            </a:xfrm>
            <a:prstGeom prst="rect">
              <a:avLst/>
            </a:prstGeom>
          </p:spPr>
        </p:pic>
        <p:pic>
          <p:nvPicPr>
            <p:cNvPr id="26" name="Grafik 25" descr="Gruppe von Männern mit einfarbiger Füllung">
              <a:extLst>
                <a:ext uri="{FF2B5EF4-FFF2-40B4-BE49-F238E27FC236}">
                  <a16:creationId xmlns:a16="http://schemas.microsoft.com/office/drawing/2014/main" id="{F336CD72-A797-21F5-FC18-973F8ABC017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439123" y="179584"/>
              <a:ext cx="556731" cy="556731"/>
            </a:xfrm>
            <a:prstGeom prst="rect">
              <a:avLst/>
            </a:prstGeom>
          </p:spPr>
        </p:pic>
      </p:grpSp>
      <p:sp>
        <p:nvSpPr>
          <p:cNvPr id="30" name="Textfeld 29">
            <a:extLst>
              <a:ext uri="{FF2B5EF4-FFF2-40B4-BE49-F238E27FC236}">
                <a16:creationId xmlns:a16="http://schemas.microsoft.com/office/drawing/2014/main" id="{DDB90D12-C6E8-70AE-4A1E-58C51AC4D615}"/>
              </a:ext>
            </a:extLst>
          </p:cNvPr>
          <p:cNvSpPr txBox="1"/>
          <p:nvPr/>
        </p:nvSpPr>
        <p:spPr>
          <a:xfrm>
            <a:off x="4274505" y="237535"/>
            <a:ext cx="499232" cy="369332"/>
          </a:xfrm>
          <a:prstGeom prst="rect">
            <a:avLst/>
          </a:prstGeom>
          <a:noFill/>
        </p:spPr>
        <p:txBody>
          <a:bodyPr wrap="square" rtlCol="0">
            <a:spAutoFit/>
          </a:bodyPr>
          <a:lstStyle/>
          <a:p>
            <a:pPr algn="ctr"/>
            <a:r>
              <a:rPr lang="de-DE" dirty="0"/>
              <a:t>12</a:t>
            </a:r>
          </a:p>
        </p:txBody>
      </p:sp>
      <p:sp>
        <p:nvSpPr>
          <p:cNvPr id="32" name="Textfeld 31">
            <a:extLst>
              <a:ext uri="{FF2B5EF4-FFF2-40B4-BE49-F238E27FC236}">
                <a16:creationId xmlns:a16="http://schemas.microsoft.com/office/drawing/2014/main" id="{8BCF5913-4305-24F4-0692-45C6BF90E9CF}"/>
              </a:ext>
            </a:extLst>
          </p:cNvPr>
          <p:cNvSpPr txBox="1"/>
          <p:nvPr/>
        </p:nvSpPr>
        <p:spPr>
          <a:xfrm>
            <a:off x="5149570" y="237535"/>
            <a:ext cx="1199393" cy="369332"/>
          </a:xfrm>
          <a:prstGeom prst="rect">
            <a:avLst/>
          </a:prstGeom>
          <a:noFill/>
        </p:spPr>
        <p:txBody>
          <a:bodyPr wrap="square" rtlCol="0">
            <a:spAutoFit/>
          </a:bodyPr>
          <a:lstStyle/>
          <a:p>
            <a:pPr algn="ctr"/>
            <a:r>
              <a:rPr lang="de-DE" dirty="0"/>
              <a:t>6  +  6</a:t>
            </a:r>
          </a:p>
        </p:txBody>
      </p:sp>
      <p:sp>
        <p:nvSpPr>
          <p:cNvPr id="35" name="Textfeld 34">
            <a:extLst>
              <a:ext uri="{FF2B5EF4-FFF2-40B4-BE49-F238E27FC236}">
                <a16:creationId xmlns:a16="http://schemas.microsoft.com/office/drawing/2014/main" id="{6CD8BA5E-42DD-C6DE-D19B-2ECB8890EF20}"/>
              </a:ext>
            </a:extLst>
          </p:cNvPr>
          <p:cNvSpPr txBox="1"/>
          <p:nvPr/>
        </p:nvSpPr>
        <p:spPr>
          <a:xfrm>
            <a:off x="4590984" y="1263871"/>
            <a:ext cx="1713931" cy="338554"/>
          </a:xfrm>
          <a:prstGeom prst="rect">
            <a:avLst/>
          </a:prstGeom>
          <a:noFill/>
        </p:spPr>
        <p:txBody>
          <a:bodyPr wrap="none" rtlCol="0">
            <a:spAutoFit/>
          </a:bodyPr>
          <a:lstStyle/>
          <a:p>
            <a:r>
              <a:rPr lang="en-US" sz="1600" dirty="0"/>
              <a:t>20-50 years old </a:t>
            </a:r>
            <a:endParaRPr lang="de-DE" sz="1600" dirty="0"/>
          </a:p>
        </p:txBody>
      </p:sp>
      <p:sp>
        <p:nvSpPr>
          <p:cNvPr id="37" name="Textfeld 36">
            <a:extLst>
              <a:ext uri="{FF2B5EF4-FFF2-40B4-BE49-F238E27FC236}">
                <a16:creationId xmlns:a16="http://schemas.microsoft.com/office/drawing/2014/main" id="{435D0FAC-8BB3-7C18-D11C-4D7C2D8E6563}"/>
              </a:ext>
            </a:extLst>
          </p:cNvPr>
          <p:cNvSpPr txBox="1"/>
          <p:nvPr/>
        </p:nvSpPr>
        <p:spPr>
          <a:xfrm>
            <a:off x="3977180" y="1537816"/>
            <a:ext cx="2674333" cy="830997"/>
          </a:xfrm>
          <a:prstGeom prst="rect">
            <a:avLst/>
          </a:prstGeom>
          <a:noFill/>
        </p:spPr>
        <p:txBody>
          <a:bodyPr wrap="square">
            <a:spAutoFit/>
          </a:bodyPr>
          <a:lstStyle/>
          <a:p>
            <a:r>
              <a:rPr lang="en-US" sz="1200" dirty="0"/>
              <a:t>3 undergraduates, </a:t>
            </a:r>
            <a:br>
              <a:rPr lang="en-US" sz="1200" dirty="0"/>
            </a:br>
            <a:r>
              <a:rPr lang="en-US" sz="1200" dirty="0"/>
              <a:t>4 PhD researchers, </a:t>
            </a:r>
            <a:br>
              <a:rPr lang="en-US" sz="1200" dirty="0"/>
            </a:br>
            <a:r>
              <a:rPr lang="en-US" sz="1200" dirty="0"/>
              <a:t>2 postdocs, </a:t>
            </a:r>
            <a:br>
              <a:rPr lang="en-US" sz="1200" dirty="0"/>
            </a:br>
            <a:r>
              <a:rPr lang="en-US" sz="1200" dirty="0"/>
              <a:t>1 designer, 1 engineer, 1 researcher</a:t>
            </a:r>
            <a:endParaRPr lang="de-DE" dirty="0"/>
          </a:p>
        </p:txBody>
      </p:sp>
      <p:sp>
        <p:nvSpPr>
          <p:cNvPr id="2" name="Foliennummernplatzhalter 1">
            <a:extLst>
              <a:ext uri="{FF2B5EF4-FFF2-40B4-BE49-F238E27FC236}">
                <a16:creationId xmlns:a16="http://schemas.microsoft.com/office/drawing/2014/main" id="{D7C35C61-7717-5A1F-2CF1-34347DBE5769}"/>
              </a:ext>
            </a:extLst>
          </p:cNvPr>
          <p:cNvSpPr>
            <a:spLocks noGrp="1"/>
          </p:cNvSpPr>
          <p:nvPr>
            <p:ph type="sldNum" sz="quarter" idx="10"/>
          </p:nvPr>
        </p:nvSpPr>
        <p:spPr/>
        <p:txBody>
          <a:bodyPr/>
          <a:lstStyle/>
          <a:p>
            <a:fld id="{7409167B-7A9B-460A-AC8D-6F72C9603382}" type="slidenum">
              <a:rPr lang="en-GB" smtClean="0"/>
              <a:pPr/>
              <a:t>9</a:t>
            </a:fld>
            <a:endParaRPr lang="en-GB"/>
          </a:p>
        </p:txBody>
      </p:sp>
    </p:spTree>
    <p:extLst>
      <p:ext uri="{BB962C8B-B14F-4D97-AF65-F5344CB8AC3E}">
        <p14:creationId xmlns:p14="http://schemas.microsoft.com/office/powerpoint/2010/main" val="12776684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B370E83-DB6D-53A9-CAD2-8904BCB83589}"/>
              </a:ext>
            </a:extLst>
          </p:cNvPr>
          <p:cNvSpPr>
            <a:spLocks noGrp="1"/>
          </p:cNvSpPr>
          <p:nvPr>
            <p:ph type="title"/>
          </p:nvPr>
        </p:nvSpPr>
        <p:spPr/>
        <p:txBody>
          <a:bodyPr/>
          <a:lstStyle/>
          <a:p>
            <a:r>
              <a:rPr lang="de-DE" dirty="0"/>
              <a:t>Demo</a:t>
            </a:r>
            <a:br>
              <a:rPr lang="de-DE" dirty="0"/>
            </a:br>
            <a:endParaRPr lang="de-DE" dirty="0"/>
          </a:p>
        </p:txBody>
      </p:sp>
      <p:sp>
        <p:nvSpPr>
          <p:cNvPr id="4" name="Textfeld 3">
            <a:extLst>
              <a:ext uri="{FF2B5EF4-FFF2-40B4-BE49-F238E27FC236}">
                <a16:creationId xmlns:a16="http://schemas.microsoft.com/office/drawing/2014/main" id="{107593E5-A5C5-F907-66BC-09277E380185}"/>
              </a:ext>
            </a:extLst>
          </p:cNvPr>
          <p:cNvSpPr txBox="1"/>
          <p:nvPr/>
        </p:nvSpPr>
        <p:spPr>
          <a:xfrm>
            <a:off x="385893" y="2143387"/>
            <a:ext cx="8053432" cy="923330"/>
          </a:xfrm>
          <a:prstGeom prst="rect">
            <a:avLst/>
          </a:prstGeom>
          <a:noFill/>
        </p:spPr>
        <p:txBody>
          <a:bodyPr wrap="square" rtlCol="0">
            <a:spAutoFit/>
          </a:bodyPr>
          <a:lstStyle/>
          <a:p>
            <a:pPr lvl="1"/>
            <a:r>
              <a:rPr lang="de-DE" dirty="0">
                <a:hlinkClick r:id="rId2"/>
              </a:rPr>
              <a:t>Eye </a:t>
            </a:r>
            <a:r>
              <a:rPr lang="de-DE" dirty="0" err="1">
                <a:hlinkClick r:id="rId2"/>
              </a:rPr>
              <a:t>tracking</a:t>
            </a:r>
            <a:r>
              <a:rPr lang="de-DE" dirty="0">
                <a:hlinkClick r:id="rId2"/>
              </a:rPr>
              <a:t> </a:t>
            </a:r>
            <a:r>
              <a:rPr lang="de-DE" dirty="0" err="1">
                <a:hlinkClick r:id="rId2"/>
              </a:rPr>
              <a:t>article</a:t>
            </a:r>
            <a:r>
              <a:rPr lang="de-DE" dirty="0"/>
              <a:t>  </a:t>
            </a:r>
          </a:p>
          <a:p>
            <a:pPr lvl="1"/>
            <a:r>
              <a:rPr lang="de-DE" dirty="0">
                <a:hlinkClick r:id="rId3"/>
              </a:rPr>
              <a:t>Stock </a:t>
            </a:r>
            <a:r>
              <a:rPr lang="de-DE" dirty="0" err="1">
                <a:hlinkClick r:id="rId3"/>
              </a:rPr>
              <a:t>chart</a:t>
            </a:r>
            <a:r>
              <a:rPr lang="de-DE" dirty="0">
                <a:hlinkClick r:id="rId3"/>
              </a:rPr>
              <a:t> </a:t>
            </a:r>
            <a:r>
              <a:rPr lang="de-DE" dirty="0" err="1">
                <a:hlinkClick r:id="rId3"/>
              </a:rPr>
              <a:t>article</a:t>
            </a:r>
            <a:endParaRPr lang="de-DE" dirty="0"/>
          </a:p>
          <a:p>
            <a:pPr lvl="1"/>
            <a:r>
              <a:rPr lang="de-DE" dirty="0" err="1">
                <a:hlinkClick r:id="rId4"/>
              </a:rPr>
              <a:t>History</a:t>
            </a:r>
            <a:r>
              <a:rPr lang="de-DE" dirty="0">
                <a:hlinkClick r:id="rId4"/>
              </a:rPr>
              <a:t> </a:t>
            </a:r>
            <a:r>
              <a:rPr lang="de-DE" dirty="0" err="1">
                <a:hlinkClick r:id="rId4"/>
              </a:rPr>
              <a:t>article</a:t>
            </a:r>
            <a:endParaRPr lang="de-DE" dirty="0"/>
          </a:p>
        </p:txBody>
      </p:sp>
      <p:pic>
        <p:nvPicPr>
          <p:cNvPr id="10" name="Grafik 9" descr="Link mit einfarbiger Füllung">
            <a:extLst>
              <a:ext uri="{FF2B5EF4-FFF2-40B4-BE49-F238E27FC236}">
                <a16:creationId xmlns:a16="http://schemas.microsoft.com/office/drawing/2014/main" id="{C5766FF8-5037-AD1D-DFF4-D3B68B0A279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1961" y="2143387"/>
            <a:ext cx="359037" cy="359037"/>
          </a:xfrm>
          <a:prstGeom prst="rect">
            <a:avLst/>
          </a:prstGeom>
        </p:spPr>
      </p:pic>
      <p:pic>
        <p:nvPicPr>
          <p:cNvPr id="12" name="Grafik 11" descr="Link mit einfarbiger Füllung">
            <a:extLst>
              <a:ext uri="{FF2B5EF4-FFF2-40B4-BE49-F238E27FC236}">
                <a16:creationId xmlns:a16="http://schemas.microsoft.com/office/drawing/2014/main" id="{2EC0F669-2C68-9753-BBE9-0AC1066BFD7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1961" y="2425533"/>
            <a:ext cx="359037" cy="359037"/>
          </a:xfrm>
          <a:prstGeom prst="rect">
            <a:avLst/>
          </a:prstGeom>
        </p:spPr>
      </p:pic>
      <p:pic>
        <p:nvPicPr>
          <p:cNvPr id="14" name="Grafik 13" descr="Link mit einfarbiger Füllung">
            <a:extLst>
              <a:ext uri="{FF2B5EF4-FFF2-40B4-BE49-F238E27FC236}">
                <a16:creationId xmlns:a16="http://schemas.microsoft.com/office/drawing/2014/main" id="{C924C7B7-6115-75DD-E416-E33FF5676AC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1960" y="2707679"/>
            <a:ext cx="359037" cy="359037"/>
          </a:xfrm>
          <a:prstGeom prst="rect">
            <a:avLst/>
          </a:prstGeom>
        </p:spPr>
      </p:pic>
      <p:sp>
        <p:nvSpPr>
          <p:cNvPr id="3" name="Foliennummernplatzhalter 2">
            <a:extLst>
              <a:ext uri="{FF2B5EF4-FFF2-40B4-BE49-F238E27FC236}">
                <a16:creationId xmlns:a16="http://schemas.microsoft.com/office/drawing/2014/main" id="{89147525-22EB-9C19-CD88-49B89A0CB7CC}"/>
              </a:ext>
            </a:extLst>
          </p:cNvPr>
          <p:cNvSpPr>
            <a:spLocks noGrp="1"/>
          </p:cNvSpPr>
          <p:nvPr>
            <p:ph type="sldNum" sz="quarter" idx="10"/>
          </p:nvPr>
        </p:nvSpPr>
        <p:spPr/>
        <p:txBody>
          <a:bodyPr/>
          <a:lstStyle/>
          <a:p>
            <a:fld id="{7409167B-7A9B-460A-AC8D-6F72C9603382}" type="slidenum">
              <a:rPr lang="en-GB" smtClean="0"/>
              <a:pPr/>
              <a:t>10</a:t>
            </a:fld>
            <a:endParaRPr lang="en-GB"/>
          </a:p>
        </p:txBody>
      </p:sp>
    </p:spTree>
    <p:extLst>
      <p:ext uri="{BB962C8B-B14F-4D97-AF65-F5344CB8AC3E}">
        <p14:creationId xmlns:p14="http://schemas.microsoft.com/office/powerpoint/2010/main" val="8026366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1E3DE-8BE1-29D3-93B8-23C943260668}"/>
            </a:ext>
          </a:extLst>
        </p:cNvPr>
        <p:cNvGrpSpPr/>
        <p:nvPr/>
      </p:nvGrpSpPr>
      <p:grpSpPr>
        <a:xfrm>
          <a:off x="0" y="0"/>
          <a:ext cx="0" cy="0"/>
          <a:chOff x="0" y="0"/>
          <a:chExt cx="0" cy="0"/>
        </a:xfrm>
      </p:grpSpPr>
      <p:sp>
        <p:nvSpPr>
          <p:cNvPr id="4" name="Textplatzhalter 3">
            <a:extLst>
              <a:ext uri="{FF2B5EF4-FFF2-40B4-BE49-F238E27FC236}">
                <a16:creationId xmlns:a16="http://schemas.microsoft.com/office/drawing/2014/main" id="{18CAC992-E031-9919-858B-705702F9A14F}"/>
              </a:ext>
            </a:extLst>
          </p:cNvPr>
          <p:cNvSpPr>
            <a:spLocks noGrp="1"/>
          </p:cNvSpPr>
          <p:nvPr>
            <p:ph type="body" sz="quarter" idx="12"/>
          </p:nvPr>
        </p:nvSpPr>
        <p:spPr>
          <a:xfrm>
            <a:off x="8290800" y="511868"/>
            <a:ext cx="3618000" cy="258532"/>
          </a:xfrm>
        </p:spPr>
        <p:txBody>
          <a:bodyPr/>
          <a:lstStyle/>
          <a:p>
            <a:r>
              <a:rPr lang="en-GB" dirty="0"/>
              <a:t>Felix Krull, Moritz Steinke</a:t>
            </a:r>
          </a:p>
        </p:txBody>
      </p:sp>
      <p:sp>
        <p:nvSpPr>
          <p:cNvPr id="9" name="Textfeld 8">
            <a:extLst>
              <a:ext uri="{FF2B5EF4-FFF2-40B4-BE49-F238E27FC236}">
                <a16:creationId xmlns:a16="http://schemas.microsoft.com/office/drawing/2014/main" id="{C77B8029-0C9E-694A-9F5D-F7562B723D1A}"/>
              </a:ext>
            </a:extLst>
          </p:cNvPr>
          <p:cNvSpPr txBox="1"/>
          <p:nvPr/>
        </p:nvSpPr>
        <p:spPr>
          <a:xfrm>
            <a:off x="3901201" y="441079"/>
            <a:ext cx="4920792" cy="400110"/>
          </a:xfrm>
          <a:prstGeom prst="rect">
            <a:avLst/>
          </a:prstGeom>
          <a:noFill/>
        </p:spPr>
        <p:txBody>
          <a:bodyPr wrap="square" rtlCol="0">
            <a:spAutoFit/>
          </a:bodyPr>
          <a:lstStyle/>
          <a:p>
            <a:pPr algn="ctr"/>
            <a:r>
              <a:rPr lang="de-DE" sz="2000" b="1" dirty="0"/>
              <a:t>Key Takeaways</a:t>
            </a:r>
          </a:p>
        </p:txBody>
      </p:sp>
      <p:sp>
        <p:nvSpPr>
          <p:cNvPr id="18" name="Foliennummernplatzhalter 17">
            <a:extLst>
              <a:ext uri="{FF2B5EF4-FFF2-40B4-BE49-F238E27FC236}">
                <a16:creationId xmlns:a16="http://schemas.microsoft.com/office/drawing/2014/main" id="{3CCB6BA0-5F18-FCFE-1E90-E2915E4F997D}"/>
              </a:ext>
            </a:extLst>
          </p:cNvPr>
          <p:cNvSpPr>
            <a:spLocks noGrp="1"/>
          </p:cNvSpPr>
          <p:nvPr>
            <p:ph type="sldNum" sz="quarter" idx="10"/>
          </p:nvPr>
        </p:nvSpPr>
        <p:spPr/>
        <p:txBody>
          <a:bodyPr/>
          <a:lstStyle/>
          <a:p>
            <a:fld id="{7409167B-7A9B-460A-AC8D-6F72C9603382}" type="slidenum">
              <a:rPr lang="en-GB" smtClean="0"/>
              <a:pPr/>
              <a:t>11</a:t>
            </a:fld>
            <a:endParaRPr lang="en-GB"/>
          </a:p>
        </p:txBody>
      </p:sp>
      <p:sp>
        <p:nvSpPr>
          <p:cNvPr id="2" name="Textfeld 1">
            <a:extLst>
              <a:ext uri="{FF2B5EF4-FFF2-40B4-BE49-F238E27FC236}">
                <a16:creationId xmlns:a16="http://schemas.microsoft.com/office/drawing/2014/main" id="{8B2D67D8-5DEC-6438-6B62-F25291357625}"/>
              </a:ext>
            </a:extLst>
          </p:cNvPr>
          <p:cNvSpPr txBox="1"/>
          <p:nvPr/>
        </p:nvSpPr>
        <p:spPr>
          <a:xfrm>
            <a:off x="352424" y="1120676"/>
            <a:ext cx="10191751" cy="2646878"/>
          </a:xfrm>
          <a:prstGeom prst="rect">
            <a:avLst/>
          </a:prstGeom>
          <a:noFill/>
        </p:spPr>
        <p:txBody>
          <a:bodyPr wrap="square" rtlCol="0">
            <a:spAutoFit/>
          </a:bodyPr>
          <a:lstStyle/>
          <a:p>
            <a:r>
              <a:rPr lang="de-DE" sz="2000" b="1" dirty="0"/>
              <a:t>From the Paper</a:t>
            </a:r>
          </a:p>
          <a:p>
            <a:endParaRPr lang="de-DE" sz="2000" b="1" dirty="0"/>
          </a:p>
          <a:p>
            <a:pPr marL="285750" lvl="0" indent="-285750">
              <a:lnSpc>
                <a:spcPct val="150000"/>
              </a:lnSpc>
              <a:buFont typeface="Arial" panose="020B0604020202020204" pitchFamily="34" charset="0"/>
              <a:buChar char="•"/>
            </a:pPr>
            <a:r>
              <a:rPr lang="de-DE" dirty="0"/>
              <a:t>Faster </a:t>
            </a:r>
            <a:r>
              <a:rPr lang="de-DE" dirty="0" err="1"/>
              <a:t>comparisons</a:t>
            </a:r>
            <a:r>
              <a:rPr lang="de-DE" dirty="0"/>
              <a:t>: </a:t>
            </a:r>
            <a:r>
              <a:rPr lang="de-DE" b="1" dirty="0"/>
              <a:t>18.2s</a:t>
            </a:r>
            <a:r>
              <a:rPr lang="de-DE" dirty="0"/>
              <a:t> vs. </a:t>
            </a:r>
            <a:r>
              <a:rPr lang="de-DE" b="1" dirty="0"/>
              <a:t>22.1s </a:t>
            </a:r>
          </a:p>
          <a:p>
            <a:pPr marL="285750" lvl="0" indent="-285750">
              <a:lnSpc>
                <a:spcPct val="150000"/>
              </a:lnSpc>
              <a:buFont typeface="Arial" panose="020B0604020202020204" pitchFamily="34" charset="0"/>
              <a:buChar char="•"/>
            </a:pPr>
            <a:r>
              <a:rPr lang="de-DE" dirty="0"/>
              <a:t>Fewer </a:t>
            </a:r>
            <a:r>
              <a:rPr lang="de-DE" dirty="0" err="1"/>
              <a:t>errors</a:t>
            </a:r>
            <a:r>
              <a:rPr lang="de-DE" dirty="0"/>
              <a:t>: </a:t>
            </a:r>
            <a:r>
              <a:rPr lang="de-DE" b="1" dirty="0"/>
              <a:t>3.2% </a:t>
            </a:r>
            <a:r>
              <a:rPr lang="de-DE" dirty="0"/>
              <a:t>vs. </a:t>
            </a:r>
            <a:r>
              <a:rPr lang="de-DE" b="1" dirty="0"/>
              <a:t>10.9% </a:t>
            </a:r>
          </a:p>
          <a:p>
            <a:pPr marL="285750" lvl="0" indent="-285750">
              <a:lnSpc>
                <a:spcPct val="150000"/>
              </a:lnSpc>
              <a:buFont typeface="Arial" panose="020B0604020202020204" pitchFamily="34" charset="0"/>
              <a:buChar char="•"/>
            </a:pPr>
            <a:r>
              <a:rPr lang="de-DE" dirty="0"/>
              <a:t>Gathering </a:t>
            </a:r>
            <a:r>
              <a:rPr lang="de-DE" dirty="0" err="1"/>
              <a:t>strongly</a:t>
            </a:r>
            <a:r>
              <a:rPr lang="de-DE" dirty="0"/>
              <a:t> </a:t>
            </a:r>
            <a:r>
              <a:rPr lang="de-DE" dirty="0" err="1"/>
              <a:t>reduced</a:t>
            </a:r>
            <a:r>
              <a:rPr lang="de-DE" dirty="0"/>
              <a:t> </a:t>
            </a:r>
            <a:r>
              <a:rPr lang="de-DE" dirty="0" err="1"/>
              <a:t>navigation</a:t>
            </a:r>
            <a:r>
              <a:rPr lang="de-DE" dirty="0"/>
              <a:t> </a:t>
            </a:r>
            <a:r>
              <a:rPr lang="de-DE" dirty="0" err="1"/>
              <a:t>through</a:t>
            </a:r>
            <a:r>
              <a:rPr lang="de-DE" dirty="0"/>
              <a:t> the </a:t>
            </a:r>
            <a:r>
              <a:rPr lang="de-DE" dirty="0" err="1"/>
              <a:t>document</a:t>
            </a:r>
            <a:r>
              <a:rPr lang="de-DE" dirty="0"/>
              <a:t> </a:t>
            </a:r>
            <a:r>
              <a:rPr lang="de-DE" dirty="0">
                <a:sym typeface="Wingdings" panose="05000000000000000000" pitchFamily="2" charset="2"/>
              </a:rPr>
              <a:t> Less Scrolling</a:t>
            </a:r>
            <a:endParaRPr lang="de-DE" dirty="0"/>
          </a:p>
          <a:p>
            <a:pPr marL="285750" lvl="0" indent="-285750">
              <a:lnSpc>
                <a:spcPct val="150000"/>
              </a:lnSpc>
              <a:buFont typeface="Arial" panose="020B0604020202020204" pitchFamily="34" charset="0"/>
              <a:buChar char="•"/>
            </a:pPr>
            <a:r>
              <a:rPr lang="de-DE" dirty="0"/>
              <a:t>Effects on </a:t>
            </a:r>
            <a:r>
              <a:rPr lang="de-DE" dirty="0" err="1"/>
              <a:t>readability</a:t>
            </a:r>
            <a:r>
              <a:rPr lang="de-DE" dirty="0"/>
              <a:t> and </a:t>
            </a:r>
            <a:r>
              <a:rPr lang="de-DE" dirty="0" err="1"/>
              <a:t>text</a:t>
            </a:r>
            <a:r>
              <a:rPr lang="de-DE" dirty="0"/>
              <a:t> </a:t>
            </a:r>
            <a:r>
              <a:rPr lang="de-DE" dirty="0" err="1"/>
              <a:t>comprehension</a:t>
            </a:r>
            <a:r>
              <a:rPr lang="de-DE" dirty="0"/>
              <a:t> </a:t>
            </a:r>
            <a:r>
              <a:rPr lang="de-DE" dirty="0" err="1"/>
              <a:t>require</a:t>
            </a:r>
            <a:r>
              <a:rPr lang="de-DE" dirty="0"/>
              <a:t> </a:t>
            </a:r>
            <a:r>
              <a:rPr lang="de-DE" dirty="0" err="1"/>
              <a:t>further</a:t>
            </a:r>
            <a:r>
              <a:rPr lang="de-DE" dirty="0"/>
              <a:t> </a:t>
            </a:r>
            <a:r>
              <a:rPr lang="de-DE" dirty="0" err="1"/>
              <a:t>research</a:t>
            </a:r>
            <a:endParaRPr lang="de-DE" dirty="0"/>
          </a:p>
          <a:p>
            <a:endParaRPr lang="de-DE" dirty="0"/>
          </a:p>
        </p:txBody>
      </p:sp>
      <p:sp>
        <p:nvSpPr>
          <p:cNvPr id="3" name="Textfeld 2">
            <a:extLst>
              <a:ext uri="{FF2B5EF4-FFF2-40B4-BE49-F238E27FC236}">
                <a16:creationId xmlns:a16="http://schemas.microsoft.com/office/drawing/2014/main" id="{35030142-2389-F5A2-2554-C0ECA694FA6E}"/>
              </a:ext>
            </a:extLst>
          </p:cNvPr>
          <p:cNvSpPr txBox="1"/>
          <p:nvPr/>
        </p:nvSpPr>
        <p:spPr>
          <a:xfrm>
            <a:off x="352424" y="3975615"/>
            <a:ext cx="10772776" cy="2200602"/>
          </a:xfrm>
          <a:prstGeom prst="rect">
            <a:avLst/>
          </a:prstGeom>
          <a:noFill/>
        </p:spPr>
        <p:txBody>
          <a:bodyPr wrap="square" rtlCol="0">
            <a:spAutoFit/>
          </a:bodyPr>
          <a:lstStyle/>
          <a:p>
            <a:r>
              <a:rPr lang="de-DE" sz="2000" b="1" dirty="0" err="1"/>
              <a:t>Our</a:t>
            </a:r>
            <a:r>
              <a:rPr lang="de-DE" sz="2000" b="1" dirty="0"/>
              <a:t> Takeaways</a:t>
            </a:r>
          </a:p>
          <a:p>
            <a:endParaRPr lang="de-DE" b="1" dirty="0"/>
          </a:p>
          <a:p>
            <a:pPr marL="285750" lvl="0" indent="-285750">
              <a:lnSpc>
                <a:spcPct val="150000"/>
              </a:lnSpc>
              <a:buFont typeface="Arial" panose="020B0604020202020204" pitchFamily="34" charset="0"/>
              <a:buChar char="•"/>
            </a:pPr>
            <a:r>
              <a:rPr lang="de-DE" dirty="0"/>
              <a:t>Embedded </a:t>
            </a:r>
            <a:r>
              <a:rPr lang="de-DE" dirty="0" err="1"/>
              <a:t>visuals</a:t>
            </a:r>
            <a:r>
              <a:rPr lang="de-DE" dirty="0"/>
              <a:t> </a:t>
            </a:r>
            <a:r>
              <a:rPr lang="de-DE" dirty="0" err="1"/>
              <a:t>can</a:t>
            </a:r>
            <a:r>
              <a:rPr lang="de-DE" dirty="0"/>
              <a:t> </a:t>
            </a:r>
            <a:r>
              <a:rPr lang="de-DE" dirty="0" err="1"/>
              <a:t>interrupt</a:t>
            </a:r>
            <a:r>
              <a:rPr lang="de-DE" dirty="0"/>
              <a:t> the </a:t>
            </a:r>
            <a:r>
              <a:rPr lang="de-DE" dirty="0" err="1"/>
              <a:t>reading</a:t>
            </a:r>
            <a:r>
              <a:rPr lang="de-DE" dirty="0"/>
              <a:t> </a:t>
            </a:r>
            <a:r>
              <a:rPr lang="de-DE" dirty="0" err="1"/>
              <a:t>flow</a:t>
            </a:r>
            <a:endParaRPr lang="de-DE" dirty="0"/>
          </a:p>
          <a:p>
            <a:pPr marL="285750" lvl="0" indent="-285750">
              <a:lnSpc>
                <a:spcPct val="150000"/>
              </a:lnSpc>
              <a:buFont typeface="Arial" panose="020B0604020202020204" pitchFamily="34" charset="0"/>
              <a:buChar char="•"/>
            </a:pPr>
            <a:r>
              <a:rPr lang="de-DE" dirty="0" err="1"/>
              <a:t>Prefer</a:t>
            </a:r>
            <a:r>
              <a:rPr lang="de-DE" dirty="0"/>
              <a:t> </a:t>
            </a:r>
            <a:r>
              <a:rPr lang="de-DE" dirty="0" err="1"/>
              <a:t>focused</a:t>
            </a:r>
            <a:r>
              <a:rPr lang="de-DE" dirty="0"/>
              <a:t> </a:t>
            </a:r>
            <a:r>
              <a:rPr lang="de-DE" dirty="0" err="1"/>
              <a:t>interactions</a:t>
            </a:r>
            <a:r>
              <a:rPr lang="de-DE" dirty="0"/>
              <a:t> </a:t>
            </a:r>
            <a:r>
              <a:rPr lang="de-DE" dirty="0" err="1"/>
              <a:t>over</a:t>
            </a:r>
            <a:r>
              <a:rPr lang="de-DE" dirty="0"/>
              <a:t> </a:t>
            </a:r>
            <a:r>
              <a:rPr lang="de-DE" dirty="0" err="1"/>
              <a:t>too</a:t>
            </a:r>
            <a:r>
              <a:rPr lang="de-DE" dirty="0"/>
              <a:t> </a:t>
            </a:r>
            <a:r>
              <a:rPr lang="de-DE" dirty="0" err="1"/>
              <a:t>many</a:t>
            </a:r>
            <a:r>
              <a:rPr lang="de-DE" dirty="0"/>
              <a:t> </a:t>
            </a:r>
            <a:r>
              <a:rPr lang="de-DE" dirty="0" err="1"/>
              <a:t>features</a:t>
            </a:r>
            <a:endParaRPr lang="de-DE" dirty="0"/>
          </a:p>
          <a:p>
            <a:pPr marL="285750" lvl="0" indent="-285750">
              <a:lnSpc>
                <a:spcPct val="150000"/>
              </a:lnSpc>
              <a:buFont typeface="Arial" panose="020B0604020202020204" pitchFamily="34" charset="0"/>
              <a:buChar char="•"/>
            </a:pPr>
            <a:r>
              <a:rPr lang="de-DE" dirty="0"/>
              <a:t>Users </a:t>
            </a:r>
            <a:r>
              <a:rPr lang="de-DE" dirty="0" err="1"/>
              <a:t>can</a:t>
            </a:r>
            <a:r>
              <a:rPr lang="de-DE" dirty="0"/>
              <a:t> switch </a:t>
            </a:r>
            <a:r>
              <a:rPr lang="de-DE" dirty="0" err="1"/>
              <a:t>between</a:t>
            </a:r>
            <a:r>
              <a:rPr lang="de-DE" dirty="0"/>
              <a:t> </a:t>
            </a:r>
            <a:r>
              <a:rPr lang="de-DE" dirty="0" err="1"/>
              <a:t>reading</a:t>
            </a:r>
            <a:r>
              <a:rPr lang="de-DE" dirty="0"/>
              <a:t> the </a:t>
            </a:r>
            <a:r>
              <a:rPr lang="de-DE" dirty="0" err="1"/>
              <a:t>text</a:t>
            </a:r>
            <a:r>
              <a:rPr lang="de-DE" dirty="0"/>
              <a:t> and </a:t>
            </a:r>
            <a:r>
              <a:rPr lang="de-DE" dirty="0" err="1"/>
              <a:t>exploring</a:t>
            </a:r>
            <a:r>
              <a:rPr lang="de-DE" dirty="0"/>
              <a:t> the </a:t>
            </a:r>
            <a:r>
              <a:rPr lang="de-DE" dirty="0" err="1"/>
              <a:t>data</a:t>
            </a:r>
            <a:endParaRPr lang="de-DE" dirty="0"/>
          </a:p>
          <a:p>
            <a:endParaRPr lang="de-DE" dirty="0"/>
          </a:p>
        </p:txBody>
      </p:sp>
    </p:spTree>
    <p:extLst>
      <p:ext uri="{BB962C8B-B14F-4D97-AF65-F5344CB8AC3E}">
        <p14:creationId xmlns:p14="http://schemas.microsoft.com/office/powerpoint/2010/main" val="3048072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160A0-47AE-D5B4-E4F7-0F6345BE7DC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FC39531-4040-DDA7-A890-7DE601F4309D}"/>
              </a:ext>
            </a:extLst>
          </p:cNvPr>
          <p:cNvSpPr>
            <a:spLocks noGrp="1"/>
          </p:cNvSpPr>
          <p:nvPr>
            <p:ph type="title"/>
          </p:nvPr>
        </p:nvSpPr>
        <p:spPr>
          <a:xfrm>
            <a:off x="274800" y="2502000"/>
            <a:ext cx="11642400" cy="1854000"/>
          </a:xfrm>
        </p:spPr>
        <p:txBody>
          <a:bodyPr/>
          <a:lstStyle/>
          <a:p>
            <a:pPr algn="ctr"/>
            <a:br>
              <a:rPr lang="de-DE" dirty="0"/>
            </a:br>
            <a:r>
              <a:rPr lang="de-DE" dirty="0"/>
              <a:t>Questions?</a:t>
            </a:r>
          </a:p>
        </p:txBody>
      </p:sp>
      <p:sp>
        <p:nvSpPr>
          <p:cNvPr id="3" name="Foliennummernplatzhalter 2">
            <a:extLst>
              <a:ext uri="{FF2B5EF4-FFF2-40B4-BE49-F238E27FC236}">
                <a16:creationId xmlns:a16="http://schemas.microsoft.com/office/drawing/2014/main" id="{9559F5EC-2106-B272-E9F7-C501CE9DE2C9}"/>
              </a:ext>
            </a:extLst>
          </p:cNvPr>
          <p:cNvSpPr>
            <a:spLocks noGrp="1"/>
          </p:cNvSpPr>
          <p:nvPr>
            <p:ph type="sldNum" sz="quarter" idx="10"/>
          </p:nvPr>
        </p:nvSpPr>
        <p:spPr/>
        <p:txBody>
          <a:bodyPr/>
          <a:lstStyle/>
          <a:p>
            <a:fld id="{7409167B-7A9B-460A-AC8D-6F72C9603382}" type="slidenum">
              <a:rPr lang="en-GB" smtClean="0"/>
              <a:pPr/>
              <a:t>12</a:t>
            </a:fld>
            <a:endParaRPr lang="en-GB"/>
          </a:p>
        </p:txBody>
      </p:sp>
    </p:spTree>
    <p:extLst>
      <p:ext uri="{BB962C8B-B14F-4D97-AF65-F5344CB8AC3E}">
        <p14:creationId xmlns:p14="http://schemas.microsoft.com/office/powerpoint/2010/main" val="2409354369"/>
      </p:ext>
    </p:extLst>
  </p:cSld>
  <p:clrMapOvr>
    <a:masterClrMapping/>
  </p:clrMapOvr>
</p:sld>
</file>

<file path=ppt/theme/theme1.xml><?xml version="1.0" encoding="utf-8"?>
<a:theme xmlns:a="http://schemas.openxmlformats.org/drawingml/2006/main" name="Linnaeus University">
  <a:themeElements>
    <a:clrScheme name="Linnéuniversitetet vit">
      <a:dk1>
        <a:srgbClr val="232326"/>
      </a:dk1>
      <a:lt1>
        <a:srgbClr val="FFFFFF"/>
      </a:lt1>
      <a:dk2>
        <a:srgbClr val="232326"/>
      </a:dk2>
      <a:lt2>
        <a:srgbClr val="FFE000"/>
      </a:lt2>
      <a:accent1>
        <a:srgbClr val="FFE000"/>
      </a:accent1>
      <a:accent2>
        <a:srgbClr val="FDECB2"/>
      </a:accent2>
      <a:accent3>
        <a:srgbClr val="A62186"/>
      </a:accent3>
      <a:accent4>
        <a:srgbClr val="5D4FB1"/>
      </a:accent4>
      <a:accent5>
        <a:srgbClr val="007340"/>
      </a:accent5>
      <a:accent6>
        <a:srgbClr val="232326"/>
      </a:accent6>
      <a:hlink>
        <a:srgbClr val="5D4FB1"/>
      </a:hlink>
      <a:folHlink>
        <a:srgbClr val="A62186"/>
      </a:folHlink>
    </a:clrScheme>
    <a:fontScheme name="Linnéuniversitete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N-lnu-white-v241008.potx" id="{8919440C-F707-41AA-88BC-9F7590BD85E5}" vid="{2D558ADC-4E79-4B8D-A1C2-2A9A7044A91F}"/>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en-lnu-neutral</Template>
  <TotalTime>0</TotalTime>
  <Words>1570</Words>
  <Application>Microsoft Office PowerPoint</Application>
  <PresentationFormat>Breitbild</PresentationFormat>
  <Paragraphs>234</Paragraphs>
  <Slides>12</Slides>
  <Notes>8</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12</vt:i4>
      </vt:variant>
    </vt:vector>
  </HeadingPairs>
  <TitlesOfParts>
    <vt:vector size="16" baseType="lpstr">
      <vt:lpstr>Aptos</vt:lpstr>
      <vt:lpstr>Arial</vt:lpstr>
      <vt:lpstr>Wingdings</vt:lpstr>
      <vt:lpstr>Linnaeus University</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Study</vt:lpstr>
      <vt:lpstr>Demo </vt:lpstr>
      <vt:lpstr>PowerPoint-Präsentation</vt:lpstr>
      <vt:lpstr>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Moritz Steinke</dc:creator>
  <cp:lastModifiedBy>Moritz Steinke</cp:lastModifiedBy>
  <cp:revision>5</cp:revision>
  <dcterms:created xsi:type="dcterms:W3CDTF">2026-10-01T14:01:27Z</dcterms:created>
  <dcterms:modified xsi:type="dcterms:W3CDTF">2026-10-01T21:25:23Z</dcterms:modified>
</cp:coreProperties>
</file>