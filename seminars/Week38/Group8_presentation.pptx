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5" r:id="rId1"/>
  </p:sldMasterIdLst>
  <p:notesMasterIdLst>
    <p:notesMasterId r:id="rId22"/>
  </p:notesMasterIdLst>
  <p:sldIdLst>
    <p:sldId id="313" r:id="rId2"/>
    <p:sldId id="319" r:id="rId3"/>
    <p:sldId id="320" r:id="rId4"/>
    <p:sldId id="314" r:id="rId5"/>
    <p:sldId id="315" r:id="rId6"/>
    <p:sldId id="316" r:id="rId7"/>
    <p:sldId id="317" r:id="rId8"/>
    <p:sldId id="318" r:id="rId9"/>
    <p:sldId id="323" r:id="rId10"/>
    <p:sldId id="326" r:id="rId11"/>
    <p:sldId id="327" r:id="rId12"/>
    <p:sldId id="328" r:id="rId13"/>
    <p:sldId id="329" r:id="rId14"/>
    <p:sldId id="324" r:id="rId15"/>
    <p:sldId id="330" r:id="rId16"/>
    <p:sldId id="331" r:id="rId17"/>
    <p:sldId id="325" r:id="rId18"/>
    <p:sldId id="321" r:id="rId19"/>
    <p:sldId id="322" r:id="rId20"/>
    <p:sldId id="332" r:id="rId21"/>
  </p:sldIdLst>
  <p:sldSz cx="14630400" cy="82296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000000"/>
          </p15:clr>
        </p15:guide>
        <p15:guide id="2" orient="horz" pos="2784">
          <p15:clr>
            <a:srgbClr val="000000"/>
          </p15:clr>
        </p15:guide>
        <p15:guide id="3" pos="528">
          <p15:clr>
            <a:srgbClr val="000000"/>
          </p15:clr>
        </p15:guide>
        <p15:guide id="4" pos="8688">
          <p15:clr>
            <a:srgbClr val="000000"/>
          </p15:clr>
        </p15:guide>
        <p15:guide id="5" pos="6432">
          <p15:clr>
            <a:srgbClr val="000000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60" roundtripDataSignature="AMtx7mhrt7OXSRvNoIxoXbb63s+qTadP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89615E"/>
    <a:srgbClr val="FFD966"/>
    <a:srgbClr val="FFFFFF"/>
    <a:srgbClr val="F4B183"/>
    <a:srgbClr val="000000"/>
    <a:srgbClr val="004620"/>
    <a:srgbClr val="57980B"/>
    <a:srgbClr val="6CBA3C"/>
    <a:srgbClr val="CDE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874" y="67"/>
      </p:cViewPr>
      <p:guideLst>
        <p:guide orient="horz" pos="2592"/>
        <p:guide orient="horz" pos="2784"/>
        <p:guide pos="528"/>
        <p:guide pos="8688"/>
        <p:guide pos="64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6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6T20:00:18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8791 28719 16383 0 0,'-7'-3'0'0'0,"-10"-6"0"0"0,-9-3 0 0 0,-7-5 0 0 0,-9 1 0 0 0,-5 4 0 0 0,-1-1 0 0 0,-3 3 0 0 0,-1 3 0 0 0,-1 2 0 0 0,-4 2 0 0 0,2 2 0 0 0,-1 1 0 0 0,-2 4 0 0 0,2 5 0 0 0,3 5 0 0 0,3 6 0 0 0,0 12 0 0 0,-3 14 0 0 0,-2 17 0 0 0,-8 17 0 0 0,-3 19 0 0 0,-1 14 0 0 0,7 14 0 0 0,11 3 0 0 0,16 0 0 0 0,22-2 0 0 0,23-7 0 0 0,24-5 0 0 0,24-4 0 0 0,27-3 0 0 0,20-7 0 0 0,17-8 0 0 0,17-11 0 0 0,8-15 0 0 0,9-19 0 0 0,3-22 0 0 0,-2-22 0 0 0,-2-20 0 0 0,-3-18 0 0 0,-9-17 0 0 0,-11-15 0 0 0,-19-15 0 0 0,-17-7 0 0 0,-18-11 0 0 0,-19-7 0 0 0,-20-7 0 0 0,-21-6 0 0 0,-17-5 0 0 0,-13-3 0 0 0,-15-1 0 0 0,-11-1 0 0 0,-13-1 0 0 0,-14 1 0 0 0,-13 4 0 0 0,-12 8 0 0 0,-5 14 0 0 0,5 16 0 0 0,11 20 0 0 0,19 20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6T18:50:51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8791 28719 16383 0 0,'-7'-3'0'0'0,"-10"-6"0"0"0,-9-3 0 0 0,-7-5 0 0 0,-9 1 0 0 0,-5 4 0 0 0,-1-1 0 0 0,-3 3 0 0 0,-1 3 0 0 0,-1 2 0 0 0,-4 2 0 0 0,2 2 0 0 0,-1 1 0 0 0,-2 4 0 0 0,2 5 0 0 0,3 5 0 0 0,3 6 0 0 0,0 12 0 0 0,-3 14 0 0 0,-2 17 0 0 0,-8 17 0 0 0,-3 19 0 0 0,-1 14 0 0 0,7 14 0 0 0,11 3 0 0 0,16 0 0 0 0,22-2 0 0 0,23-7 0 0 0,24-5 0 0 0,24-4 0 0 0,27-3 0 0 0,20-7 0 0 0,17-8 0 0 0,17-11 0 0 0,8-15 0 0 0,9-19 0 0 0,3-22 0 0 0,-2-22 0 0 0,-2-20 0 0 0,-3-18 0 0 0,-9-17 0 0 0,-11-15 0 0 0,-19-15 0 0 0,-17-7 0 0 0,-18-11 0 0 0,-19-7 0 0 0,-20-7 0 0 0,-21-6 0 0 0,-17-5 0 0 0,-13-3 0 0 0,-15-1 0 0 0,-11-1 0 0 0,-13-1 0 0 0,-14 1 0 0 0,-13 4 0 0 0,-12 8 0 0 0,-5 14 0 0 0,5 16 0 0 0,11 20 0 0 0,19 20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6T20:00:18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16148 11196 16383 0 0,'3'4'0'0'0,"9"8"0"0"0,13 20 0 0 0,20 30 0 0 0,32 37 0 0 0,34 40 0 0 0,35 45 0 0 0,39 44 0 0 0,39 48 0 0 0,35 50 0 0 0,34 51 0 0 0,33 56 0 0 0,29 58 0 0 0,26 54 0 0 0,21 50 0 0 0,13 41 0 0 0,12 29 0 0 0,2 16 0 0 0,0 4 0 0 0,-5-10 0 0 0,-9-20 0 0 0,-15-30 0 0 0,-21-36 0 0 0,-24-45 0 0 0,-26-55 0 0 0,-26-56 0 0 0,-64-102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6T20:00:18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23695 12496 16383 0 0,'-3'0'0'0'0,"-6"7"0"0"0,-4 7 0 0 0,-7 10 0 0 0,-11 17 0 0 0,-19 19 0 0 0,-21 20 0 0 0,-29 30 0 0 0,-32 39 0 0 0,-41 52 0 0 0,-49 60 0 0 0,-55 75 0 0 0,-59 82 0 0 0,-59 89 0 0 0,-56 87 0 0 0,-49 76 0 0 0,-35 60 0 0 0,-19 37 0 0 0,-3 13 0 0 0,13-14 0 0 0,31-34 0 0 0,41-50 0 0 0,51-66 0 0 0,53-73 0 0 0,57-79 0 0 0,57-70 0 0 0,53-68 0 0 0,61-88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‹#›</a:t>
            </a:fld>
            <a:endParaRPr lang="en-US" sz="12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FA9C8706-F73B-0A34-9A77-4A71E234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>
            <a:extLst>
              <a:ext uri="{FF2B5EF4-FFF2-40B4-BE49-F238E27FC236}">
                <a16:creationId xmlns:a16="http://schemas.microsoft.com/office/drawing/2014/main" id="{7C60AADD-8118-ED9D-47DA-09CD19C173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:notes">
            <a:extLst>
              <a:ext uri="{FF2B5EF4-FFF2-40B4-BE49-F238E27FC236}">
                <a16:creationId xmlns:a16="http://schemas.microsoft.com/office/drawing/2014/main" id="{7F17EF39-E771-6268-5D82-D5292E36D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rmAutofit/>
          </a:bodyPr>
          <a:lstStyle/>
          <a:p>
            <a:pPr marL="0" indent="0"/>
            <a:endParaRPr lang="en-US"/>
          </a:p>
        </p:txBody>
      </p:sp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703C1065-FE1C-4FB4-1343-76C8174D4B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8474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31891CCF-0EA7-F01A-1FF1-0EA0A8C5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>
            <a:extLst>
              <a:ext uri="{FF2B5EF4-FFF2-40B4-BE49-F238E27FC236}">
                <a16:creationId xmlns:a16="http://schemas.microsoft.com/office/drawing/2014/main" id="{726C8012-98F1-A804-CE74-15ECAFCFD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:notes">
            <a:extLst>
              <a:ext uri="{FF2B5EF4-FFF2-40B4-BE49-F238E27FC236}">
                <a16:creationId xmlns:a16="http://schemas.microsoft.com/office/drawing/2014/main" id="{913D900E-5B00-95FD-FB8D-3101B3C6F7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rmAutofit/>
          </a:bodyPr>
          <a:lstStyle/>
          <a:p>
            <a:pPr marL="0" indent="0"/>
            <a:endParaRPr lang="en-US"/>
          </a:p>
        </p:txBody>
      </p:sp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5AA80DCE-E782-434A-A7A0-170C6376CF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5310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F6853EBD-89D0-1C03-0241-9BA404D2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>
            <a:extLst>
              <a:ext uri="{FF2B5EF4-FFF2-40B4-BE49-F238E27FC236}">
                <a16:creationId xmlns:a16="http://schemas.microsoft.com/office/drawing/2014/main" id="{E4EC5D9A-38B9-9854-F406-A38B8C275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:notes">
            <a:extLst>
              <a:ext uri="{FF2B5EF4-FFF2-40B4-BE49-F238E27FC236}">
                <a16:creationId xmlns:a16="http://schemas.microsoft.com/office/drawing/2014/main" id="{CFC8BA3E-39F2-E1B1-2827-6ADABA802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rmAutofit/>
          </a:bodyPr>
          <a:lstStyle/>
          <a:p>
            <a:pPr marL="0" indent="0"/>
            <a:r>
              <a:rPr lang="en-US"/>
              <a:t>~45s for 1-3</a:t>
            </a:r>
          </a:p>
        </p:txBody>
      </p:sp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778E7FF8-5BD7-6255-BFC8-B3EC89D521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2670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CF46-C6BE-DFCE-6BB5-65172343C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346E0-F9C2-0270-254D-74CA78607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18FFB-2276-C6E3-193C-51C2CD238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Just 30s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CD927-C90E-D71A-ED77-A79ECBA4AD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4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769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3515-AD15-ED2C-8042-47AE9160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1E538-0D15-A0EC-4CED-B6EB0FA8B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72E0A-A21B-23B0-01EF-8007646F2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3D811-DEA9-D1EA-FF49-8990DD495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5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874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9E0E-32A4-AE87-0182-5A16A012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AB249-4F69-FDA4-53B8-995FE1B62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392D3-6A66-72A6-718C-2D733F19B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04B7C-AF34-53AF-E302-87ADB36B7E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6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940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FA1CF-0C64-D17A-45E4-B0854F502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20FC3-34EC-FD45-DABF-C61800202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BD972-FF24-6D43-899B-A69104AD1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~1minute 45s for 5-7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D755B-91F9-62C1-C984-DE826600C4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7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379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632A4-F536-9D3A-1EB5-F826C87A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9F86A-CCBA-AA49-69DA-5C0DCDDB2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6F4DE-F595-9032-2DB2-ECA1AA5AD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Around 50s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1D2AA-1ABA-B0CC-631D-72B8AA1BFC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8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054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In the feature extraction stage, the dataset is analysed to extract properties of each column and relations between two columns.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9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436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Then, a knowledge graph is plotted containing these extracted features, the columns, the dataset and the possible visualization choices.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10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870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In the next stage, the defined features are combined into a dataset that includes potentially suitable chart types. The dimensions are assigned to the corresponding columns.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11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931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Next, the software returns one or more suitable graphs.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12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845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And finally, the reasoning is constructed based on the most influential features that got identified by the attention mechanism.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13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642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AdaVis was compared against 3 similar software. At chart type recommendation, only the Decision Tree performed better in axis prediction accuracy.</a:t>
            </a:r>
          </a:p>
          <a:p>
            <a:r>
              <a:rPr lang="hu-HU"/>
              <a:t>During the testing AdaVis proved to be able to recommend multiple suitable charts.</a:t>
            </a:r>
          </a:p>
          <a:p>
            <a:r>
              <a:rPr lang="hu-HU"/>
              <a:t>(And by adding cross-coumn features, the output improved for all models.)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14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667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8AD40-6687-5848-CFD1-E8D77555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DA795-1736-BA6C-153A-8ADC48AD6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50B61-0CEE-45CA-B7D0-26D4706BF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In the case studies AdaVis was tested against established design rules.</a:t>
            </a:r>
          </a:p>
          <a:p>
            <a:r>
              <a:rPr lang="hu-HU"/>
              <a:t>Without cross-column features, it recommended inappropriate visualization types.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FE691-F5A7-BF78-F677-3B8CF99962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15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443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7A99A-24F3-B924-FAFB-BD18C482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B5ADB-F145-965B-C98E-F17CEE312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E6D13-EA76-427C-F901-AF0BEA5DD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Otherwise, it followed the visualization guidelines.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/>
              <a:t>And overall, the results are positive (supporting the paper’s claim).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81037-3A6F-01EB-5063-C3DD1FEE0B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16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002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12 participants reviewed the tool.</a:t>
            </a:r>
          </a:p>
          <a:p>
            <a:r>
              <a:rPr lang="hu-HU"/>
              <a:t>All found most recommendations appropriate and the attached explanations clear.</a:t>
            </a:r>
          </a:p>
          <a:p>
            <a:r>
              <a:rPr lang="hu-HU"/>
              <a:t>However, they found some missing features, such as explanation on the not recommended chart types and taking the user’s intent with the dataset into consideration.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17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3060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9F849-10C7-D828-7632-598C6A2C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554F3-86BC-0048-4876-D02D36160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D3309-2C29-538E-C646-C1F5CC412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1FA74-2C4F-FDE2-4733-04C4E8860D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18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433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09BC-B588-A10D-1BE3-788F02F4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72E5C-482B-BE6A-CCF6-7DD14208E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BF2D1-4392-776E-6194-9A344B3FA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Around ~1minute 30seconds for 9-10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8BA34-6E64-B13F-9B68-8B5233BB7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</a:rPr>
              <a:pPr algn="r"/>
              <a:t>19</a:t>
            </a:fld>
            <a:endParaRPr lang="en-US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232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2F0D-E27D-5C6E-DDC0-22A13EE8C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7C82C-45A9-5CD5-51C2-23CCDFCB3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9F184-D4F4-5ADD-977A-BFA3D8B3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EF12E-650E-0F06-3268-24418284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7F02D-AE26-44FD-61DB-AB52F889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3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5022-F24E-E539-4D32-2795BFD67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AF92A-EC92-5F7B-9C42-431DC003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F1988-D4BC-347D-1A0F-B64432D3C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DAC48-8B2A-5689-CE87-6663B198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70F5C-40D3-51ED-BBDB-D296501B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4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56F6-CA5D-F536-265A-26740B0A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03326-B2A6-A3DF-B516-61583A288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3E004-616B-9583-809F-185AA936A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2201C-A8A4-B119-716C-28E1CFA8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1DB6A-65EB-FB24-3EC7-9E39CD1E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375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123F-EFD3-3856-11B5-759CF09E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EA146-7943-9801-93AE-C9E47D2FE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A95FE-257A-D689-2586-A86C80D54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66C40-6C9B-8FC5-B2B7-B28C771A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2526E-69F0-9C79-07FB-EEF2CEA4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5984A-93A3-E639-43CB-C1DA4116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898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862D-DBE9-D1F2-0CE4-318F1B53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1B981-65B6-A44E-4529-0C1C654D1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F6A67-47FA-BA42-D794-2812A2F37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02753-D364-9BA3-B145-AC32414A2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80E2A8-DC06-CA74-1760-8774A361D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7FA5DC-ECC5-2AA0-78E8-2AB0D3230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4F73E4-1E89-7D1F-E956-885B3903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C6B36-4865-196C-46F2-A4BE882A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691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62A5-51AD-AB09-FA0A-7C8A072F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394035-97FC-896D-D1CF-FDBEC2D5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38488-C348-E4AB-FE04-9F00AF65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34643-8B8D-823E-0AFA-98DDD9C7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001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EF34A-B2E7-A45E-DEE7-F59DE661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3A7A0-5D98-56AA-20F6-DF0E0E75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F4409-B6AB-4D18-3840-4B4DB12F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14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CB6F-D817-A830-9429-4E1E56707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8B84-6872-C3B0-1A10-68966462D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E4A47-3558-E07C-1F24-6E0C7F843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4C9E0-575B-2EB7-D110-3D3E68D0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D5066-663B-F6B2-B13E-F0201FE2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31666-C274-F7B9-FDBA-3780E9B1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692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26C6-C8BC-D2F3-2060-F52922A4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470CB-087C-0CBD-D635-CC0EB03A8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02596-8E38-DB4A-B99E-1C4600C46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D5A5B-A921-268C-28EC-93CFBA777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DC0B6-E658-FB45-25F5-F54EDF45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A15BB-41E2-EEAD-82D5-3759E470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970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ECCD-4526-2A77-E82D-45A3B585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A0D2E-018E-25A5-D8AE-0684D4AE4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B5C87-FC61-594F-1FEF-0C3BB493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C0237-E367-3077-3CB7-B28CFBAE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D9F18-EADA-B1F4-961C-FD42DEC7A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97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CE662-52A7-7F7A-0CF2-063831D34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8C1CD-B794-3999-32B0-3F777ED3B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FCC48-2614-7F97-99F8-72F42246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CFFB-2EC9-6936-5F6A-E97336963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152DA-11FB-235F-911B-D60CD7AA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968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bg>
      <p:bgPr>
        <a:solidFill>
          <a:srgbClr val="FFFFFF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body" idx="1"/>
          </p:nvPr>
        </p:nvSpPr>
        <p:spPr>
          <a:xfrm>
            <a:off x="838200" y="1981200"/>
            <a:ext cx="129540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0" tIns="65300" rIns="130600" bIns="65300" anchor="t" anchorCtr="0">
            <a:noAutofit/>
          </a:bodyPr>
          <a:lstStyle>
            <a:lvl1pPr marL="457200" lvl="0" indent="-4000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Char char="•"/>
              <a:defRPr>
                <a:solidFill>
                  <a:srgbClr val="3F647F"/>
                </a:solidFill>
              </a:defRPr>
            </a:lvl1pPr>
            <a:lvl2pPr marL="914400" lvl="1" indent="-37719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340"/>
              <a:buChar char="•"/>
              <a:defRPr>
                <a:solidFill>
                  <a:srgbClr val="3F647F"/>
                </a:solidFill>
              </a:defRPr>
            </a:lvl2pPr>
            <a:lvl3pPr marL="1371600" lvl="2" indent="-36576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Char char="•"/>
              <a:defRPr>
                <a:solidFill>
                  <a:srgbClr val="3F647F"/>
                </a:solidFill>
              </a:defRPr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rgbClr val="3F647F"/>
                </a:solidFill>
              </a:defRPr>
            </a:lvl4pPr>
            <a:lvl5pPr marL="2286000" lvl="4" indent="-33147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20"/>
              <a:buChar char="•"/>
              <a:defRPr>
                <a:solidFill>
                  <a:srgbClr val="3F647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Char char="»"/>
              <a:defRPr/>
            </a:lvl9pPr>
          </a:lstStyle>
          <a:p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3"/>
            <a:endParaRPr lang="en-US"/>
          </a:p>
          <a:p>
            <a:pPr lvl="4"/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30200"/>
            <a:ext cx="129540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rgbClr val="3F64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063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AC84A6-9B50-B0E9-2B0E-B8C73DD85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46A9A-96A4-A3F5-68D7-3C511678B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0CEE-2EFC-7FE0-C23C-7074A5CAA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7B9CE-7BCA-104C-A59B-6148DC8AE9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347BD-7987-000D-9436-7CF550399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AABC-2651-D989-02A2-3E8C8DBBB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5BA90-9AE0-E943-9C50-7C8E99DF1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2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customXml" Target="../ink/ink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>
          <a:extLst>
            <a:ext uri="{FF2B5EF4-FFF2-40B4-BE49-F238E27FC236}">
              <a16:creationId xmlns:a16="http://schemas.microsoft.com/office/drawing/2014/main" id="{6B145BCE-E4D1-3FBD-D47B-624E3085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>
            <a:extLst>
              <a:ext uri="{FF2B5EF4-FFF2-40B4-BE49-F238E27FC236}">
                <a16:creationId xmlns:a16="http://schemas.microsoft.com/office/drawing/2014/main" id="{04D1379A-A1BA-B7B0-BD56-E7E75C4CDD2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3417" y="1360558"/>
            <a:ext cx="14634446" cy="20813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800" i="1" err="1"/>
              <a:t>AdaVis</a:t>
            </a:r>
            <a:r>
              <a:rPr lang="en-US" sz="4800" i="1"/>
              <a:t> </a:t>
            </a:r>
            <a:r>
              <a:rPr lang="en-US" sz="4800"/>
              <a:t>: Adaptive and Explainable Visualization Recommendation for Tabular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FE3F58-6150-AF8D-E2D2-A2C2FE83FD74}"/>
              </a:ext>
            </a:extLst>
          </p:cNvPr>
          <p:cNvSpPr txBox="1"/>
          <p:nvPr/>
        </p:nvSpPr>
        <p:spPr>
          <a:xfrm>
            <a:off x="1" y="3214691"/>
            <a:ext cx="146303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Songheng Zhang , Haotian Li , Huamin Qu , and Yong Wang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420E1-907E-D9A2-90E8-4FE8B12471F3}"/>
              </a:ext>
            </a:extLst>
          </p:cNvPr>
          <p:cNvSpPr txBox="1"/>
          <p:nvPr/>
        </p:nvSpPr>
        <p:spPr>
          <a:xfrm>
            <a:off x="1" y="7197243"/>
            <a:ext cx="146303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Maciej Jan Korzenecki, Petra Horváth</a:t>
            </a:r>
          </a:p>
        </p:txBody>
      </p:sp>
    </p:spTree>
    <p:extLst>
      <p:ext uri="{BB962C8B-B14F-4D97-AF65-F5344CB8AC3E}">
        <p14:creationId xmlns:p14="http://schemas.microsoft.com/office/powerpoint/2010/main" val="344169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>
          <a:extLst>
            <a:ext uri="{FF2B5EF4-FFF2-40B4-BE49-F238E27FC236}">
              <a16:creationId xmlns:a16="http://schemas.microsoft.com/office/drawing/2014/main" id="{B29C7F57-A755-D167-F71C-0236CA7A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>
            <a:extLst>
              <a:ext uri="{FF2B5EF4-FFF2-40B4-BE49-F238E27FC236}">
                <a16:creationId xmlns:a16="http://schemas.microsoft.com/office/drawing/2014/main" id="{A89D8E50-AF5B-13CD-5003-C259AEAF6A9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3417" y="1360558"/>
            <a:ext cx="14634446" cy="20813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800" i="1" err="1"/>
              <a:t>AdaVis</a:t>
            </a:r>
            <a:r>
              <a:rPr lang="en-US" sz="4800" i="1"/>
              <a:t> </a:t>
            </a:r>
            <a:r>
              <a:rPr lang="en-US" sz="4800"/>
              <a:t>: Adaptive and Explainable Visualization Recommendation for Tabular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80732-852A-FD52-E6D3-9C9B2D1117B4}"/>
              </a:ext>
            </a:extLst>
          </p:cNvPr>
          <p:cNvSpPr txBox="1"/>
          <p:nvPr/>
        </p:nvSpPr>
        <p:spPr>
          <a:xfrm>
            <a:off x="1" y="3214691"/>
            <a:ext cx="146303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Songheng Zhang , Haotian Li , Huamin Qu , and Yong Wang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53783-769C-4438-7090-E6D91D53A7D8}"/>
              </a:ext>
            </a:extLst>
          </p:cNvPr>
          <p:cNvSpPr txBox="1"/>
          <p:nvPr/>
        </p:nvSpPr>
        <p:spPr>
          <a:xfrm>
            <a:off x="1" y="7197243"/>
            <a:ext cx="146303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Maciej Jan Korzenecki, Petra Horváth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809B6-8406-E92D-372B-39A685BEC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602" y="4563427"/>
            <a:ext cx="1638300" cy="2028825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F84721ED-A79E-5BF9-4521-F8F7D7E9218B}"/>
              </a:ext>
            </a:extLst>
          </p:cNvPr>
          <p:cNvSpPr/>
          <p:nvPr/>
        </p:nvSpPr>
        <p:spPr>
          <a:xfrm>
            <a:off x="4979285" y="3746541"/>
            <a:ext cx="532295" cy="614187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89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>
          <a:extLst>
            <a:ext uri="{FF2B5EF4-FFF2-40B4-BE49-F238E27FC236}">
              <a16:creationId xmlns:a16="http://schemas.microsoft.com/office/drawing/2014/main" id="{ECE713CB-9493-4B7C-6399-F2A3E276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>
            <a:extLst>
              <a:ext uri="{FF2B5EF4-FFF2-40B4-BE49-F238E27FC236}">
                <a16:creationId xmlns:a16="http://schemas.microsoft.com/office/drawing/2014/main" id="{442C880D-47F9-4D3D-4A26-D0CC5356633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3417" y="1360558"/>
            <a:ext cx="14634446" cy="20813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800" i="1" err="1"/>
              <a:t>AdaVis</a:t>
            </a:r>
            <a:r>
              <a:rPr lang="en-US" sz="4800" i="1"/>
              <a:t> </a:t>
            </a:r>
            <a:r>
              <a:rPr lang="en-US" sz="4800"/>
              <a:t>: Adaptive and Explainable Visualization Recommendation for Tabular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C9648-0A58-A3A2-FEA5-BE72BBEAB6B4}"/>
              </a:ext>
            </a:extLst>
          </p:cNvPr>
          <p:cNvSpPr txBox="1"/>
          <p:nvPr/>
        </p:nvSpPr>
        <p:spPr>
          <a:xfrm>
            <a:off x="1" y="3214691"/>
            <a:ext cx="146303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Songheng Zhang , Haotian Li , Huamin Qu , and Yong Wang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36DA9-48BC-6EFC-2C34-D47F895F5D67}"/>
              </a:ext>
            </a:extLst>
          </p:cNvPr>
          <p:cNvSpPr txBox="1"/>
          <p:nvPr/>
        </p:nvSpPr>
        <p:spPr>
          <a:xfrm>
            <a:off x="1" y="7197243"/>
            <a:ext cx="146303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Maciej Jan Korzenecki, Petra Horváth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77389-B89E-A7E5-4AD1-E4FF139D4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602" y="4563427"/>
            <a:ext cx="1638300" cy="2028825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D1666E76-4EE8-1249-BDA9-F137B9624F00}"/>
              </a:ext>
            </a:extLst>
          </p:cNvPr>
          <p:cNvSpPr/>
          <p:nvPr/>
        </p:nvSpPr>
        <p:spPr>
          <a:xfrm>
            <a:off x="4979285" y="3746541"/>
            <a:ext cx="532295" cy="614187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BCD99-091C-B5B4-0EFB-5AEE39B69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495" y="3986784"/>
            <a:ext cx="4551426" cy="291388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648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C9A0-79C1-EB1D-3572-1C336DFF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3CC3400-E4A9-3C33-E54A-2D56F211C6B0}"/>
              </a:ext>
            </a:extLst>
          </p:cNvPr>
          <p:cNvGrpSpPr/>
          <p:nvPr/>
        </p:nvGrpSpPr>
        <p:grpSpPr>
          <a:xfrm>
            <a:off x="1882826" y="1139783"/>
            <a:ext cx="3287888" cy="5947754"/>
            <a:chOff x="1882826" y="1386652"/>
            <a:chExt cx="3287888" cy="594775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35F2C6-D4BE-FE20-5CCC-1DF8BF29144F}"/>
                </a:ext>
              </a:extLst>
            </p:cNvPr>
            <p:cNvGrpSpPr/>
            <p:nvPr/>
          </p:nvGrpSpPr>
          <p:grpSpPr>
            <a:xfrm>
              <a:off x="1882826" y="1386652"/>
              <a:ext cx="3287888" cy="5947754"/>
              <a:chOff x="1812070" y="1495509"/>
              <a:chExt cx="3287888" cy="594775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179B2BD-211D-A987-DF68-87702FD08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80375" r="11563" b="9695"/>
              <a:stretch/>
            </p:blipFill>
            <p:spPr>
              <a:xfrm>
                <a:off x="1812969" y="6855872"/>
                <a:ext cx="3286989" cy="587391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136511F-E2A4-47B7-7121-57EFF958E6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78606" b="16848"/>
              <a:stretch/>
            </p:blipFill>
            <p:spPr>
              <a:xfrm>
                <a:off x="1970077" y="1495509"/>
                <a:ext cx="3129881" cy="5360363"/>
              </a:xfrm>
              <a:prstGeom prst="rect">
                <a:avLst/>
              </a:prstGeom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041A3F8-8157-FC97-26D7-51A5BD06AE77}"/>
                  </a:ext>
                </a:extLst>
              </p:cNvPr>
              <p:cNvSpPr/>
              <p:nvPr/>
            </p:nvSpPr>
            <p:spPr>
              <a:xfrm>
                <a:off x="1812070" y="1495509"/>
                <a:ext cx="229002" cy="5360363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6BE664-61F4-B830-3ABA-10F3DE046289}"/>
                </a:ext>
              </a:extLst>
            </p:cNvPr>
            <p:cNvSpPr/>
            <p:nvPr/>
          </p:nvSpPr>
          <p:spPr>
            <a:xfrm>
              <a:off x="2040833" y="6395357"/>
              <a:ext cx="386681" cy="315686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>
                  <a:solidFill>
                    <a:schemeClr val="bg2"/>
                  </a:solidFill>
                </a:rPr>
                <a:t>…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14BF989-4EAB-E85F-F3CA-D40BBC49DEFD}"/>
              </a:ext>
            </a:extLst>
          </p:cNvPr>
          <p:cNvGrpSpPr/>
          <p:nvPr/>
        </p:nvGrpSpPr>
        <p:grpSpPr>
          <a:xfrm>
            <a:off x="6287479" y="2486999"/>
            <a:ext cx="6387955" cy="3251199"/>
            <a:chOff x="5359545" y="2730500"/>
            <a:chExt cx="6387955" cy="3251199"/>
          </a:xfrm>
        </p:grpSpPr>
        <p:pic>
          <p:nvPicPr>
            <p:cNvPr id="27" name="Picture 26" descr="A yellow emoji with a finger on his chin&#10;&#10;Description automatically generated">
              <a:extLst>
                <a:ext uri="{FF2B5EF4-FFF2-40B4-BE49-F238E27FC236}">
                  <a16:creationId xmlns:a16="http://schemas.microsoft.com/office/drawing/2014/main" id="{A7B15BD1-2FE6-B0E7-01D2-2097418F5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59545" y="3359448"/>
              <a:ext cx="2557319" cy="2622251"/>
            </a:xfrm>
            <a:prstGeom prst="rect">
              <a:avLst/>
            </a:prstGeom>
          </p:spPr>
        </p:pic>
        <p:sp>
          <p:nvSpPr>
            <p:cNvPr id="28" name="Cloud 27">
              <a:extLst>
                <a:ext uri="{FF2B5EF4-FFF2-40B4-BE49-F238E27FC236}">
                  <a16:creationId xmlns:a16="http://schemas.microsoft.com/office/drawing/2014/main" id="{4F755A8F-BF8D-B513-FCFB-4C6BB1039BDA}"/>
                </a:ext>
              </a:extLst>
            </p:cNvPr>
            <p:cNvSpPr/>
            <p:nvPr/>
          </p:nvSpPr>
          <p:spPr>
            <a:xfrm>
              <a:off x="7916864" y="2730500"/>
              <a:ext cx="3830636" cy="1701800"/>
            </a:xfrm>
            <a:prstGeom prst="clou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What Charts Should I Use?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887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2D397-90FA-FE9E-BDAC-9FE8C7B1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31569E-7E3B-9D6B-8E46-45C4B4AA1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016796"/>
              </p:ext>
            </p:extLst>
          </p:nvPr>
        </p:nvGraphicFramePr>
        <p:xfrm>
          <a:off x="9524492" y="2013735"/>
          <a:ext cx="4648200" cy="40441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03666">
                  <a:extLst>
                    <a:ext uri="{9D8B030D-6E8A-4147-A177-3AD203B41FA5}">
                      <a16:colId xmlns:a16="http://schemas.microsoft.com/office/drawing/2014/main" val="2170166120"/>
                    </a:ext>
                  </a:extLst>
                </a:gridCol>
                <a:gridCol w="2144534">
                  <a:extLst>
                    <a:ext uri="{9D8B030D-6E8A-4147-A177-3AD203B41FA5}">
                      <a16:colId xmlns:a16="http://schemas.microsoft.com/office/drawing/2014/main" val="18044598"/>
                    </a:ext>
                  </a:extLst>
                </a:gridCol>
              </a:tblGrid>
              <a:tr h="808827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Chart Type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32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</a:t>
                      </a:r>
                      <a:r>
                        <a:rPr lang="en-US" altLang="zh-CN" sz="32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anking</a:t>
                      </a:r>
                      <a:endParaRPr lang="en-US" sz="3200" b="1" i="0" u="none" strike="noStrike" cap="none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02553511"/>
                  </a:ext>
                </a:extLst>
              </a:tr>
              <a:tr h="80882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3200" b="0" i="0" u="none" strike="noStrike" cap="none">
                        <a:solidFill>
                          <a:srgbClr val="3F647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>
                          <a:solidFill>
                            <a:srgbClr val="3F647F"/>
                          </a:solidFill>
                        </a:rPr>
                        <a:t>1</a:t>
                      </a:r>
                      <a:endParaRPr lang="en-US">
                        <a:solidFill>
                          <a:srgbClr val="3F647F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96312422"/>
                  </a:ext>
                </a:extLst>
              </a:tr>
              <a:tr h="80882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3200" b="0" i="0" u="none" strike="noStrike" cap="none">
                        <a:solidFill>
                          <a:srgbClr val="3F647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i="0" u="none" strike="noStrike" cap="none">
                          <a:solidFill>
                            <a:srgbClr val="3F647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28625927"/>
                  </a:ext>
                </a:extLst>
              </a:tr>
              <a:tr h="80882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3200" b="0" i="0" u="none" strike="noStrike" cap="none">
                        <a:solidFill>
                          <a:srgbClr val="3F647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i="0" u="none" strike="noStrike" cap="none">
                          <a:solidFill>
                            <a:srgbClr val="3F647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939727"/>
                  </a:ext>
                </a:extLst>
              </a:tr>
              <a:tr h="80882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3200" b="0" i="0" u="none" strike="noStrike" cap="none">
                        <a:solidFill>
                          <a:srgbClr val="3F647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i="0" u="none" strike="noStrike" cap="none">
                          <a:solidFill>
                            <a:srgbClr val="3F647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66151593"/>
                  </a:ext>
                </a:extLst>
              </a:tr>
            </a:tbl>
          </a:graphicData>
        </a:graphic>
      </p:graphicFrame>
      <p:pic>
        <p:nvPicPr>
          <p:cNvPr id="15" name="Graphic 14" descr="Artificial Intelligence outline">
            <a:extLst>
              <a:ext uri="{FF2B5EF4-FFF2-40B4-BE49-F238E27FC236}">
                <a16:creationId xmlns:a16="http://schemas.microsoft.com/office/drawing/2014/main" id="{68711162-8D3F-50AB-E9DC-7789EAA46D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7192" y="2695953"/>
            <a:ext cx="2451100" cy="2451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75A510-C555-35D1-5A5B-6D7756844FB0}"/>
              </a:ext>
            </a:extLst>
          </p:cNvPr>
          <p:cNvSpPr txBox="1"/>
          <p:nvPr/>
        </p:nvSpPr>
        <p:spPr>
          <a:xfrm>
            <a:off x="5606833" y="5195821"/>
            <a:ext cx="2489784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Recommender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671D1D7-E02B-E572-8D3B-3B658FDA5FAD}"/>
              </a:ext>
            </a:extLst>
          </p:cNvPr>
          <p:cNvSpPr/>
          <p:nvPr/>
        </p:nvSpPr>
        <p:spPr>
          <a:xfrm>
            <a:off x="4723892" y="3797808"/>
            <a:ext cx="1092200" cy="523220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D410995-05CB-CC2E-9F45-A8C50E032773}"/>
              </a:ext>
            </a:extLst>
          </p:cNvPr>
          <p:cNvSpPr/>
          <p:nvPr/>
        </p:nvSpPr>
        <p:spPr>
          <a:xfrm>
            <a:off x="8089392" y="3797808"/>
            <a:ext cx="1092200" cy="523220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Graphic 13" descr="Signal outline">
            <a:extLst>
              <a:ext uri="{FF2B5EF4-FFF2-40B4-BE49-F238E27FC236}">
                <a16:creationId xmlns:a16="http://schemas.microsoft.com/office/drawing/2014/main" id="{81AA7FEC-430A-85E5-AE30-9CA34E4E61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6286" y="4353295"/>
            <a:ext cx="914400" cy="914400"/>
          </a:xfrm>
          <a:prstGeom prst="rect">
            <a:avLst/>
          </a:prstGeom>
        </p:spPr>
      </p:pic>
      <p:pic>
        <p:nvPicPr>
          <p:cNvPr id="20" name="Graphic 19" descr="Scatterplot outline">
            <a:extLst>
              <a:ext uri="{FF2B5EF4-FFF2-40B4-BE49-F238E27FC236}">
                <a16:creationId xmlns:a16="http://schemas.microsoft.com/office/drawing/2014/main" id="{63151D4B-81AD-52A4-5161-6B80680ABC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4772" y="3602218"/>
            <a:ext cx="914400" cy="914400"/>
          </a:xfrm>
          <a:prstGeom prst="rect">
            <a:avLst/>
          </a:prstGeom>
        </p:spPr>
      </p:pic>
      <p:pic>
        <p:nvPicPr>
          <p:cNvPr id="22" name="Graphic 21" descr="Hockey Stick Curve Graph outline">
            <a:extLst>
              <a:ext uri="{FF2B5EF4-FFF2-40B4-BE49-F238E27FC236}">
                <a16:creationId xmlns:a16="http://schemas.microsoft.com/office/drawing/2014/main" id="{FDCE11A3-04D4-2D34-0AA3-1B599C3AE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4772" y="2784553"/>
            <a:ext cx="914400" cy="9144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7A75688-5002-7AD2-D82E-9ECE870423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16286" y="5170960"/>
            <a:ext cx="1104900" cy="1104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8598014-9CD6-74D6-5200-80E883187530}"/>
              </a:ext>
            </a:extLst>
          </p:cNvPr>
          <p:cNvGrpSpPr/>
          <p:nvPr/>
        </p:nvGrpSpPr>
        <p:grpSpPr>
          <a:xfrm>
            <a:off x="982550" y="1157814"/>
            <a:ext cx="3055506" cy="5527377"/>
            <a:chOff x="1882826" y="1386652"/>
            <a:chExt cx="3287888" cy="594775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C225C2-DEBD-E651-6DCA-8450E12D73A6}"/>
                </a:ext>
              </a:extLst>
            </p:cNvPr>
            <p:cNvGrpSpPr/>
            <p:nvPr/>
          </p:nvGrpSpPr>
          <p:grpSpPr>
            <a:xfrm>
              <a:off x="1882826" y="1386652"/>
              <a:ext cx="3287888" cy="5947754"/>
              <a:chOff x="1812070" y="1495509"/>
              <a:chExt cx="3287888" cy="5947754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6D54D32-3215-6759-972E-DFB4A61CE5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80375" r="11563" b="9695"/>
              <a:stretch/>
            </p:blipFill>
            <p:spPr>
              <a:xfrm>
                <a:off x="1812969" y="6855872"/>
                <a:ext cx="3286989" cy="587391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5A79747-3598-7008-4952-E8A13C678E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r="78606" b="16848"/>
              <a:stretch/>
            </p:blipFill>
            <p:spPr>
              <a:xfrm>
                <a:off x="1970077" y="1495509"/>
                <a:ext cx="3129881" cy="5360363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F379914-7DC2-AE76-791D-E02EA2245183}"/>
                  </a:ext>
                </a:extLst>
              </p:cNvPr>
              <p:cNvSpPr/>
              <p:nvPr/>
            </p:nvSpPr>
            <p:spPr>
              <a:xfrm>
                <a:off x="1812070" y="1495509"/>
                <a:ext cx="229002" cy="5360363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9DE71A-BB2D-7C34-58E8-B9D235E49DB2}"/>
                </a:ext>
              </a:extLst>
            </p:cNvPr>
            <p:cNvSpPr/>
            <p:nvPr/>
          </p:nvSpPr>
          <p:spPr>
            <a:xfrm>
              <a:off x="2040833" y="6395357"/>
              <a:ext cx="386681" cy="315686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>
                  <a:solidFill>
                    <a:srgbClr val="000000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7057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17ADA-7AA8-3EC4-61B7-EDAE53FF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F810583-E308-E4F6-2622-C1C0B6474549}"/>
              </a:ext>
            </a:extLst>
          </p:cNvPr>
          <p:cNvGrpSpPr/>
          <p:nvPr/>
        </p:nvGrpSpPr>
        <p:grpSpPr>
          <a:xfrm>
            <a:off x="5606833" y="0"/>
            <a:ext cx="2675604" cy="3023088"/>
            <a:chOff x="5606833" y="2695953"/>
            <a:chExt cx="2675604" cy="3023088"/>
          </a:xfrm>
        </p:grpSpPr>
        <p:pic>
          <p:nvPicPr>
            <p:cNvPr id="15" name="Graphic 14" descr="Artificial Intelligence outline">
              <a:extLst>
                <a:ext uri="{FF2B5EF4-FFF2-40B4-BE49-F238E27FC236}">
                  <a16:creationId xmlns:a16="http://schemas.microsoft.com/office/drawing/2014/main" id="{6F576156-30F7-F523-9D36-6B670CB3AB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7192" y="2695953"/>
              <a:ext cx="2451100" cy="24511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EF770B8-5D1C-B1D2-F693-5EEDA1B15CB3}"/>
                </a:ext>
              </a:extLst>
            </p:cNvPr>
            <p:cNvSpPr txBox="1"/>
            <p:nvPr/>
          </p:nvSpPr>
          <p:spPr>
            <a:xfrm>
              <a:off x="5606833" y="5195821"/>
              <a:ext cx="2675604" cy="523220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Recommender?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4" name="Arrow: Down 3">
            <a:extLst>
              <a:ext uri="{FF2B5EF4-FFF2-40B4-BE49-F238E27FC236}">
                <a16:creationId xmlns:a16="http://schemas.microsoft.com/office/drawing/2014/main" id="{80AFF1DA-439A-8C54-AC03-A1B3A2A8883E}"/>
              </a:ext>
            </a:extLst>
          </p:cNvPr>
          <p:cNvSpPr/>
          <p:nvPr/>
        </p:nvSpPr>
        <p:spPr>
          <a:xfrm rot="2340000">
            <a:off x="4405787" y="2940686"/>
            <a:ext cx="1090648" cy="17743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2C0AC-F4D7-19C1-5946-EE2AC604116D}"/>
              </a:ext>
            </a:extLst>
          </p:cNvPr>
          <p:cNvSpPr txBox="1"/>
          <p:nvPr/>
        </p:nvSpPr>
        <p:spPr>
          <a:xfrm>
            <a:off x="1201013" y="4698519"/>
            <a:ext cx="469392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Rule-based recommendation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47C3C-BF2B-547F-CB98-1DE686CB5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" y="6383464"/>
            <a:ext cx="6762750" cy="790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53F68D-FDEC-0446-3686-1E2640D4E329}"/>
              </a:ext>
            </a:extLst>
          </p:cNvPr>
          <p:cNvSpPr txBox="1"/>
          <p:nvPr/>
        </p:nvSpPr>
        <p:spPr>
          <a:xfrm>
            <a:off x="1944671" y="5384145"/>
            <a:ext cx="320649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BF4F14"/>
                </a:solidFill>
              </a:rPr>
              <a:t>Relies on heuristics</a:t>
            </a:r>
            <a:endParaRPr lang="en-US">
              <a:solidFill>
                <a:srgbClr val="000000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BF4F14"/>
                </a:solidFill>
              </a:rPr>
              <a:t>Old!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6567362-54A6-1153-CF20-F3E8310B0606}"/>
                  </a:ext>
                </a:extLst>
              </p14:cNvPr>
              <p14:cNvContentPartPr/>
              <p14:nvPr/>
            </p14:nvContentPartPr>
            <p14:xfrm>
              <a:off x="516352" y="6638764"/>
              <a:ext cx="792844" cy="7427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6567362-54A6-1153-CF20-F3E8310B06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8357" y="6620780"/>
                <a:ext cx="828473" cy="7783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8583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6FDC-A315-37BE-04D5-BBABAE613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F4D47C3-99AE-8DCF-15CA-151CDB5DECF1}"/>
              </a:ext>
            </a:extLst>
          </p:cNvPr>
          <p:cNvGrpSpPr/>
          <p:nvPr/>
        </p:nvGrpSpPr>
        <p:grpSpPr>
          <a:xfrm>
            <a:off x="5606833" y="0"/>
            <a:ext cx="2675604" cy="3023088"/>
            <a:chOff x="5606833" y="2695953"/>
            <a:chExt cx="2675604" cy="3023088"/>
          </a:xfrm>
        </p:grpSpPr>
        <p:pic>
          <p:nvPicPr>
            <p:cNvPr id="15" name="Graphic 14" descr="Artificial Intelligence outline">
              <a:extLst>
                <a:ext uri="{FF2B5EF4-FFF2-40B4-BE49-F238E27FC236}">
                  <a16:creationId xmlns:a16="http://schemas.microsoft.com/office/drawing/2014/main" id="{B094A26E-27C3-586E-43C3-A2BBFF497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7192" y="2695953"/>
              <a:ext cx="2451100" cy="24511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4A24E8-61ED-7D86-21FB-25A7918DF774}"/>
                </a:ext>
              </a:extLst>
            </p:cNvPr>
            <p:cNvSpPr txBox="1"/>
            <p:nvPr/>
          </p:nvSpPr>
          <p:spPr>
            <a:xfrm>
              <a:off x="5606833" y="5195821"/>
              <a:ext cx="2675604" cy="523220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</a:rPr>
                <a:t>Recommender?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4" name="Arrow: Down 3">
            <a:extLst>
              <a:ext uri="{FF2B5EF4-FFF2-40B4-BE49-F238E27FC236}">
                <a16:creationId xmlns:a16="http://schemas.microsoft.com/office/drawing/2014/main" id="{1DBFF33D-23EC-1C3A-6F17-BF0665F21A11}"/>
              </a:ext>
            </a:extLst>
          </p:cNvPr>
          <p:cNvSpPr/>
          <p:nvPr/>
        </p:nvSpPr>
        <p:spPr>
          <a:xfrm rot="2340000">
            <a:off x="4405787" y="2940686"/>
            <a:ext cx="1090648" cy="17743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8B23F-AEB8-77F4-0515-5281BC62236C}"/>
              </a:ext>
            </a:extLst>
          </p:cNvPr>
          <p:cNvSpPr txBox="1"/>
          <p:nvPr/>
        </p:nvSpPr>
        <p:spPr>
          <a:xfrm>
            <a:off x="1201013" y="4698519"/>
            <a:ext cx="469392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Rule-based recommendation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E3856-D5B1-945B-A398-922B63C51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" y="6383464"/>
            <a:ext cx="6762750" cy="790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EF08BF-8281-51FA-73E7-BD8393A6395C}"/>
              </a:ext>
            </a:extLst>
          </p:cNvPr>
          <p:cNvSpPr txBox="1"/>
          <p:nvPr/>
        </p:nvSpPr>
        <p:spPr>
          <a:xfrm>
            <a:off x="1944671" y="5384145"/>
            <a:ext cx="320649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BF4F14"/>
                </a:solidFill>
              </a:rPr>
              <a:t>Relies on heuristics</a:t>
            </a:r>
            <a:endParaRPr lang="en-US">
              <a:solidFill>
                <a:srgbClr val="000000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BF4F14"/>
                </a:solidFill>
              </a:rPr>
              <a:t>Old!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5A03C75-F6B0-1DB1-70FB-4AEDE61B30B9}"/>
                  </a:ext>
                </a:extLst>
              </p14:cNvPr>
              <p14:cNvContentPartPr/>
              <p14:nvPr/>
            </p14:nvContentPartPr>
            <p14:xfrm>
              <a:off x="516352" y="6638764"/>
              <a:ext cx="792844" cy="7427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5A03C75-F6B0-1DB1-70FB-4AEDE61B30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8357" y="6620780"/>
                <a:ext cx="828473" cy="778361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Arrow: Down 27">
            <a:extLst>
              <a:ext uri="{FF2B5EF4-FFF2-40B4-BE49-F238E27FC236}">
                <a16:creationId xmlns:a16="http://schemas.microsoft.com/office/drawing/2014/main" id="{CF2285B4-12EC-D94F-22A3-9252D4DD6F95}"/>
              </a:ext>
            </a:extLst>
          </p:cNvPr>
          <p:cNvSpPr/>
          <p:nvPr/>
        </p:nvSpPr>
        <p:spPr>
          <a:xfrm rot="-1980000">
            <a:off x="8398666" y="3001646"/>
            <a:ext cx="1090648" cy="17743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BC0BC-FA92-E05B-8710-3EF6A97C1023}"/>
              </a:ext>
            </a:extLst>
          </p:cNvPr>
          <p:cNvSpPr txBox="1"/>
          <p:nvPr/>
        </p:nvSpPr>
        <p:spPr>
          <a:xfrm>
            <a:off x="8005672" y="4698518"/>
            <a:ext cx="61569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Machine-learning-based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DAEC2-2A71-F083-B368-6A88A4B351DC}"/>
              </a:ext>
            </a:extLst>
          </p:cNvPr>
          <p:cNvSpPr txBox="1"/>
          <p:nvPr/>
        </p:nvSpPr>
        <p:spPr>
          <a:xfrm>
            <a:off x="8459771" y="5384145"/>
            <a:ext cx="484479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BF4F14"/>
                </a:solidFill>
              </a:rPr>
              <a:t>Typically one recommendation</a:t>
            </a:r>
          </a:p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BF4F14"/>
                </a:solidFill>
              </a:rPr>
              <a:t>Confusing black box</a:t>
            </a:r>
          </a:p>
        </p:txBody>
      </p:sp>
    </p:spTree>
    <p:extLst>
      <p:ext uri="{BB962C8B-B14F-4D97-AF65-F5344CB8AC3E}">
        <p14:creationId xmlns:p14="http://schemas.microsoft.com/office/powerpoint/2010/main" val="1118780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7BE9-7715-E67C-E171-F75B2B180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A146A39-6CBE-CB0C-3D83-B3FBC7E50672}"/>
              </a:ext>
            </a:extLst>
          </p:cNvPr>
          <p:cNvGrpSpPr/>
          <p:nvPr/>
        </p:nvGrpSpPr>
        <p:grpSpPr>
          <a:xfrm>
            <a:off x="571063" y="1135162"/>
            <a:ext cx="4721684" cy="4860472"/>
            <a:chOff x="468086" y="2354779"/>
            <a:chExt cx="4834642" cy="49767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B0D927-6597-0BD8-8C65-9ADE0ADC4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086" y="2354779"/>
              <a:ext cx="4834642" cy="4976750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3478A4D-2FCB-D9B1-86EF-2E65E6C4202E}"/>
                </a:ext>
              </a:extLst>
            </p:cNvPr>
            <p:cNvSpPr/>
            <p:nvPr/>
          </p:nvSpPr>
          <p:spPr>
            <a:xfrm>
              <a:off x="4701936" y="2398323"/>
              <a:ext cx="578328" cy="5916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715B710-144E-5F13-72D1-71AF4E1808AF}"/>
                </a:ext>
              </a:extLst>
            </p:cNvPr>
            <p:cNvSpPr/>
            <p:nvPr/>
          </p:nvSpPr>
          <p:spPr>
            <a:xfrm>
              <a:off x="4701936" y="4877625"/>
              <a:ext cx="578328" cy="5916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4929FC-4BEC-1EA2-9C63-94A530752C3B}"/>
              </a:ext>
            </a:extLst>
          </p:cNvPr>
          <p:cNvGrpSpPr/>
          <p:nvPr/>
        </p:nvGrpSpPr>
        <p:grpSpPr>
          <a:xfrm>
            <a:off x="5542361" y="1037626"/>
            <a:ext cx="3543939" cy="4860472"/>
            <a:chOff x="5786201" y="2427514"/>
            <a:chExt cx="3543939" cy="486047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086F7EC-9B4B-5DC8-30C7-4B110B6F9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6201" y="2431476"/>
              <a:ext cx="3543939" cy="4856510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6C7E51-6DA0-BE19-E467-7B2AF65FB77F}"/>
                </a:ext>
              </a:extLst>
            </p:cNvPr>
            <p:cNvSpPr/>
            <p:nvPr/>
          </p:nvSpPr>
          <p:spPr>
            <a:xfrm>
              <a:off x="8765324" y="2427514"/>
              <a:ext cx="564816" cy="5777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DF92991-F18B-4FE5-C4F9-378BDF607780}"/>
                </a:ext>
              </a:extLst>
            </p:cNvPr>
            <p:cNvSpPr/>
            <p:nvPr/>
          </p:nvSpPr>
          <p:spPr>
            <a:xfrm>
              <a:off x="8743385" y="4857750"/>
              <a:ext cx="564816" cy="5777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2334D2C-56C7-73C4-A06B-2CF116EEFBB8}"/>
              </a:ext>
            </a:extLst>
          </p:cNvPr>
          <p:cNvGrpSpPr/>
          <p:nvPr/>
        </p:nvGrpSpPr>
        <p:grpSpPr>
          <a:xfrm>
            <a:off x="9773244" y="1043577"/>
            <a:ext cx="4253500" cy="4817945"/>
            <a:chOff x="9822012" y="2470041"/>
            <a:chExt cx="4253500" cy="481794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1CB1D24-1C60-AC72-0C94-194A3A4D2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22012" y="2470041"/>
              <a:ext cx="4253500" cy="4817945"/>
            </a:xfrm>
            <a:prstGeom prst="rect">
              <a:avLst/>
            </a:prstGeom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6A9B370-51E1-B7AD-62FD-C7376DC3F7C7}"/>
                </a:ext>
              </a:extLst>
            </p:cNvPr>
            <p:cNvSpPr/>
            <p:nvPr/>
          </p:nvSpPr>
          <p:spPr>
            <a:xfrm>
              <a:off x="13451624" y="2470041"/>
              <a:ext cx="564816" cy="5777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0B10B76-6331-E86A-A1BD-4AA7B0BDF107}"/>
                </a:ext>
              </a:extLst>
            </p:cNvPr>
            <p:cNvSpPr/>
            <p:nvPr/>
          </p:nvSpPr>
          <p:spPr>
            <a:xfrm>
              <a:off x="13430935" y="4891416"/>
              <a:ext cx="564816" cy="5777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530FFBC-4F28-3303-BC57-8E4E361D64C1}"/>
              </a:ext>
            </a:extLst>
          </p:cNvPr>
          <p:cNvSpPr txBox="1"/>
          <p:nvPr/>
        </p:nvSpPr>
        <p:spPr>
          <a:xfrm>
            <a:off x="687475" y="6236630"/>
            <a:ext cx="440131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Bar and line are recommended if Column A data values are </a:t>
            </a:r>
            <a:r>
              <a:rPr lang="en-US" b="1">
                <a:ea typeface="+mn-lt"/>
                <a:cs typeface="+mn-lt"/>
              </a:rPr>
              <a:t>arranged in disorder</a:t>
            </a:r>
            <a:r>
              <a:rPr lang="en-US">
                <a:ea typeface="+mn-lt"/>
                <a:cs typeface="+mn-lt"/>
              </a:rPr>
              <a:t> ; </a:t>
            </a:r>
          </a:p>
          <a:p>
            <a:r>
              <a:rPr lang="en-US">
                <a:ea typeface="+mn-lt"/>
                <a:cs typeface="+mn-lt"/>
              </a:rPr>
              <a:t>Cross-column data types are </a:t>
            </a:r>
            <a:r>
              <a:rPr lang="en-US" b="1">
                <a:ea typeface="+mn-lt"/>
                <a:cs typeface="+mn-lt"/>
              </a:rPr>
              <a:t>datetime-</a:t>
            </a:r>
            <a:r>
              <a:rPr lang="en-US" b="1" err="1">
                <a:ea typeface="+mn-lt"/>
                <a:cs typeface="+mn-lt"/>
              </a:rPr>
              <a:t>numercial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B3EEC-9631-793E-99B7-DC3BEF7C036F}"/>
              </a:ext>
            </a:extLst>
          </p:cNvPr>
          <p:cNvSpPr txBox="1"/>
          <p:nvPr/>
        </p:nvSpPr>
        <p:spPr>
          <a:xfrm>
            <a:off x="5283859" y="6236629"/>
            <a:ext cx="440131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Line and scatter are recommended if</a:t>
            </a:r>
          </a:p>
          <a:p>
            <a:r>
              <a:rPr lang="en-US">
                <a:ea typeface="+mn-lt"/>
                <a:cs typeface="+mn-lt"/>
              </a:rPr>
              <a:t>Cross-column data are </a:t>
            </a:r>
            <a:r>
              <a:rPr lang="en-US" b="1">
                <a:ea typeface="+mn-lt"/>
                <a:cs typeface="+mn-lt"/>
              </a:rPr>
              <a:t>significantly correlated</a:t>
            </a:r>
            <a:r>
              <a:rPr lang="en-US">
                <a:ea typeface="+mn-lt"/>
                <a:cs typeface="+mn-lt"/>
              </a:rPr>
              <a:t>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and </a:t>
            </a:r>
            <a:r>
              <a:rPr lang="en-US" b="1">
                <a:ea typeface="+mn-lt"/>
                <a:cs typeface="+mn-lt"/>
              </a:rPr>
              <a:t>fit a linear regression model</a:t>
            </a:r>
            <a:r>
              <a:rPr lang="en-US">
                <a:ea typeface="+mn-lt"/>
                <a:cs typeface="+mn-lt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C75E3A-1B52-FF6E-C3A1-FA036A738745}"/>
              </a:ext>
            </a:extLst>
          </p:cNvPr>
          <p:cNvSpPr txBox="1"/>
          <p:nvPr/>
        </p:nvSpPr>
        <p:spPr>
          <a:xfrm>
            <a:off x="9770515" y="6236628"/>
            <a:ext cx="440131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Scatter and box are recommended if</a:t>
            </a:r>
          </a:p>
          <a:p>
            <a:r>
              <a:rPr lang="en-US">
                <a:ea typeface="+mn-lt"/>
                <a:cs typeface="+mn-lt"/>
              </a:rPr>
              <a:t>Cross-column data has </a:t>
            </a:r>
            <a:r>
              <a:rPr lang="en-US" b="1">
                <a:ea typeface="+mn-lt"/>
                <a:cs typeface="+mn-lt"/>
              </a:rPr>
              <a:t>different data</a:t>
            </a:r>
            <a:endParaRPr lang="en-US" b="1"/>
          </a:p>
          <a:p>
            <a:r>
              <a:rPr lang="en-US" b="1">
                <a:ea typeface="+mn-lt"/>
                <a:cs typeface="+mn-lt"/>
              </a:rPr>
              <a:t>distributions</a:t>
            </a:r>
            <a:r>
              <a:rPr lang="en-US">
                <a:ea typeface="+mn-lt"/>
                <a:cs typeface="+mn-lt"/>
              </a:rPr>
              <a:t>, and there </a:t>
            </a:r>
            <a:r>
              <a:rPr lang="en-US" b="1">
                <a:ea typeface="+mn-lt"/>
                <a:cs typeface="+mn-lt"/>
              </a:rPr>
              <a:t>exist clusters</a:t>
            </a:r>
            <a:r>
              <a:rPr lang="en-US">
                <a:ea typeface="+mn-lt"/>
                <a:cs typeface="+mn-lt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FB66E5-0593-E4B5-7823-911F6B564507}"/>
              </a:ext>
            </a:extLst>
          </p:cNvPr>
          <p:cNvSpPr txBox="1"/>
          <p:nvPr/>
        </p:nvSpPr>
        <p:spPr>
          <a:xfrm>
            <a:off x="5701020" y="0"/>
            <a:ext cx="313334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0" i="1" u="none" strike="noStrike" baseline="0" err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AdaVis</a:t>
            </a:r>
            <a:endParaRPr lang="en-US" sz="7200"/>
          </a:p>
          <a:p>
            <a:pPr algn="ctr"/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185365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548C06-0F5E-D8E7-7871-680F33FE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Methodology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53200-317C-85CB-242B-37BE33426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583"/>
            <a:ext cx="14630400" cy="4058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C1FA8E-92FA-DA0E-5DA4-917088B0D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2204447"/>
            <a:ext cx="10675620" cy="458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08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6B3E8-C1AB-4C1A-187A-14F145290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929386-1BF0-96FB-0CC7-3B6CD4A2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Methodology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CDE5F-E5FF-6AF6-4EA6-43567A5A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583"/>
            <a:ext cx="14630400" cy="4058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3BBC9-9467-4BA4-DA2B-0FE2A3A94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20" y="2204447"/>
            <a:ext cx="6507479" cy="458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61010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8659-7E68-64E6-D43A-37F67C6D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5FA121-4F9F-9AAE-60F9-175F8A46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Methodology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3A9E8-97D7-1334-2FF9-6C92A6B12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583"/>
            <a:ext cx="14630400" cy="4058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429A96-9D50-5EBE-67C0-51388F333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0440" y="2204447"/>
            <a:ext cx="3489959" cy="45844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43C17F-706D-EEA4-BC60-7B1027D27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5046563"/>
            <a:ext cx="6505575" cy="18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8863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58C06-0890-0CEB-2FDF-17BAA043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647A96-584C-C1AD-FBC8-4F5EF2910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Methodology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50C93-812D-07F6-8507-5B905CBF9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583"/>
            <a:ext cx="14630400" cy="4058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FE8606-E744-3E08-936A-159A97568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5113020"/>
            <a:ext cx="6505575" cy="182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32920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1649-EA3E-589E-94B0-D72A4462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50165E-38C3-BA34-08EE-6DDECCB76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Methodology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42554-5D31-023A-52FB-3103F5B0D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583"/>
            <a:ext cx="14630400" cy="405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83501"/>
      </p:ext>
    </p:extLst>
  </p:cSld>
  <p:clrMapOvr>
    <a:masterClrMapping/>
  </p:clrMapOvr>
  <p:transition spd="slow">
    <p:strips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B90E05-E137-3312-A216-9B47FB3CE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1200"/>
            <a:ext cx="10546080" cy="5334000"/>
          </a:xfrm>
        </p:spPr>
        <p:txBody>
          <a:bodyPr numCol="2"/>
          <a:lstStyle/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Quantitative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Compared works:</a:t>
            </a:r>
          </a:p>
          <a:p>
            <a:r>
              <a:rPr lang="hu-HU" sz="3200" dirty="0">
                <a:solidFill>
                  <a:schemeClr val="tx1"/>
                </a:solidFill>
              </a:rPr>
              <a:t>KG4Vis</a:t>
            </a:r>
          </a:p>
          <a:p>
            <a:r>
              <a:rPr lang="hu-HU" sz="3200" dirty="0">
                <a:solidFill>
                  <a:schemeClr val="tx1"/>
                </a:solidFill>
              </a:rPr>
              <a:t>GQE</a:t>
            </a:r>
          </a:p>
          <a:p>
            <a:r>
              <a:rPr lang="hu-HU" sz="3200" dirty="0">
                <a:solidFill>
                  <a:schemeClr val="tx1"/>
                </a:solidFill>
              </a:rPr>
              <a:t>Decision Tree</a:t>
            </a:r>
          </a:p>
          <a:p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Multiple suitable graphs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7DAA25-1C5F-E964-8741-1BA76F98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Evaluation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86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00697-003A-9831-3046-F2B7E022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BE7266-3802-65EB-B21B-C9437FF7B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1200"/>
            <a:ext cx="10774680" cy="5334000"/>
          </a:xfrm>
        </p:spPr>
        <p:txBody>
          <a:bodyPr numCol="2"/>
          <a:lstStyle/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Quantitative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Compared works:</a:t>
            </a:r>
          </a:p>
          <a:p>
            <a:r>
              <a:rPr lang="hu-HU" sz="3200" dirty="0">
                <a:solidFill>
                  <a:schemeClr val="tx1"/>
                </a:solidFill>
              </a:rPr>
              <a:t>KG4Vis</a:t>
            </a:r>
          </a:p>
          <a:p>
            <a:r>
              <a:rPr lang="hu-HU" sz="3200" dirty="0">
                <a:solidFill>
                  <a:schemeClr val="tx1"/>
                </a:solidFill>
              </a:rPr>
              <a:t>GQE</a:t>
            </a:r>
          </a:p>
          <a:p>
            <a:r>
              <a:rPr lang="hu-HU" sz="3200" dirty="0">
                <a:solidFill>
                  <a:schemeClr val="tx1"/>
                </a:solidFill>
              </a:rPr>
              <a:t>Decision Tree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Multiple suitable graphs</a:t>
            </a:r>
          </a:p>
          <a:p>
            <a:endParaRPr lang="hu-HU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12EE18-DBAD-D36F-64D6-B2963818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Evaluation</a:t>
            </a:r>
            <a:endParaRPr lang="en-US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B229C60-529D-5CCE-81D6-58CF5AB4466A}"/>
              </a:ext>
            </a:extLst>
          </p:cNvPr>
          <p:cNvSpPr txBox="1">
            <a:spLocks/>
          </p:cNvSpPr>
          <p:nvPr/>
        </p:nvSpPr>
        <p:spPr>
          <a:xfrm>
            <a:off x="7315200" y="1981200"/>
            <a:ext cx="11824855" cy="53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0600" tIns="65300" rIns="130600" bIns="65300" numCol="2" rtlCol="0" anchor="t" anchorCtr="0">
            <a:noAutofit/>
          </a:bodyPr>
          <a:lstStyle>
            <a:lvl1pPr marL="457200" lvl="0" indent="-40005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 panose="020B0604020202020204" pitchFamily="34" charset="0"/>
              <a:buChar char="•"/>
              <a:defRPr sz="336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1pPr>
            <a:lvl2pPr marL="914400" lvl="1" indent="-37719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Arial" panose="020B0604020202020204" pitchFamily="34" charset="0"/>
              <a:buChar char="•"/>
              <a:defRPr sz="288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2pPr>
            <a:lvl3pPr marL="1371600" lvl="2" indent="-36576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 panose="020B0604020202020204" pitchFamily="34" charset="0"/>
              <a:buChar char="•"/>
              <a:defRPr sz="240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  <a:defRPr sz="216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4pPr>
            <a:lvl5pPr marL="2286000" lvl="4" indent="-33147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 panose="020B0604020202020204" pitchFamily="34" charset="0"/>
              <a:buChar char="•"/>
              <a:defRPr sz="216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1097280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Font typeface="Arial" panose="020B0604020202020204" pitchFamily="34" charset="0"/>
              <a:buChar char="»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1097280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Font typeface="Arial" panose="020B0604020202020204" pitchFamily="34" charset="0"/>
              <a:buChar char="»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1097280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Font typeface="Arial" panose="020B0604020202020204" pitchFamily="34" charset="0"/>
              <a:buChar char="»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1097280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Font typeface="Arial" panose="020B0604020202020204" pitchFamily="34" charset="0"/>
              <a:buChar char="»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Qualitative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Case studies on 4 datasets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Only performed well with cross-column features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814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658A-AA6B-CAB4-83A8-E65253A9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CC3D6D-AC1E-46AB-2F08-9D56F4E12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1200"/>
            <a:ext cx="10774680" cy="5334000"/>
          </a:xfrm>
        </p:spPr>
        <p:txBody>
          <a:bodyPr numCol="2"/>
          <a:lstStyle/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Quantitative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Compared works:</a:t>
            </a:r>
          </a:p>
          <a:p>
            <a:r>
              <a:rPr lang="hu-HU" sz="3200" dirty="0">
                <a:solidFill>
                  <a:schemeClr val="tx1"/>
                </a:solidFill>
              </a:rPr>
              <a:t>KG4Vis</a:t>
            </a:r>
          </a:p>
          <a:p>
            <a:r>
              <a:rPr lang="hu-HU" sz="3200" dirty="0">
                <a:solidFill>
                  <a:schemeClr val="tx1"/>
                </a:solidFill>
              </a:rPr>
              <a:t>GQE</a:t>
            </a:r>
          </a:p>
          <a:p>
            <a:r>
              <a:rPr lang="hu-HU" sz="3200" dirty="0">
                <a:solidFill>
                  <a:schemeClr val="tx1"/>
                </a:solidFill>
              </a:rPr>
              <a:t>Decision Tree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Multiple suitable graphs</a:t>
            </a:r>
          </a:p>
          <a:p>
            <a:endParaRPr lang="hu-HU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F8DEB5-4E54-7C4C-6EEF-B07FAA37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Evaluation</a:t>
            </a:r>
            <a:endParaRPr lang="en-US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B03D99A-F196-BABD-CE17-16530B9F3326}"/>
              </a:ext>
            </a:extLst>
          </p:cNvPr>
          <p:cNvSpPr txBox="1">
            <a:spLocks/>
          </p:cNvSpPr>
          <p:nvPr/>
        </p:nvSpPr>
        <p:spPr>
          <a:xfrm>
            <a:off x="7315200" y="1981200"/>
            <a:ext cx="11824855" cy="53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0600" tIns="65300" rIns="130600" bIns="65300" numCol="2" rtlCol="0" anchor="t" anchorCtr="0">
            <a:noAutofit/>
          </a:bodyPr>
          <a:lstStyle>
            <a:lvl1pPr marL="457200" lvl="0" indent="-40005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 panose="020B0604020202020204" pitchFamily="34" charset="0"/>
              <a:buChar char="•"/>
              <a:defRPr sz="336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1pPr>
            <a:lvl2pPr marL="914400" lvl="1" indent="-37719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Arial" panose="020B0604020202020204" pitchFamily="34" charset="0"/>
              <a:buChar char="•"/>
              <a:defRPr sz="288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2pPr>
            <a:lvl3pPr marL="1371600" lvl="2" indent="-36576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 panose="020B0604020202020204" pitchFamily="34" charset="0"/>
              <a:buChar char="•"/>
              <a:defRPr sz="240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  <a:defRPr sz="216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4pPr>
            <a:lvl5pPr marL="2286000" lvl="4" indent="-331470" algn="l" defTabSz="109728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 panose="020B0604020202020204" pitchFamily="34" charset="0"/>
              <a:buChar char="•"/>
              <a:defRPr sz="2160" kern="1200">
                <a:solidFill>
                  <a:srgbClr val="3F647F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1097280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Font typeface="Arial" panose="020B0604020202020204" pitchFamily="34" charset="0"/>
              <a:buChar char="»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1097280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Font typeface="Arial" panose="020B0604020202020204" pitchFamily="34" charset="0"/>
              <a:buChar char="»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1097280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Font typeface="Arial" panose="020B0604020202020204" pitchFamily="34" charset="0"/>
              <a:buChar char="»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1097280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EEEAFF"/>
              </a:buClr>
              <a:buSzPts val="1800"/>
              <a:buFont typeface="Arial" panose="020B0604020202020204" pitchFamily="34" charset="0"/>
              <a:buChar char="»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Qualitative</a:t>
            </a:r>
          </a:p>
          <a:p>
            <a:pPr marL="57150" indent="0">
              <a:buNone/>
            </a:pPr>
            <a:endParaRPr lang="hu-HU" sz="3200" dirty="0"/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Case studies on 4 datasets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Only performed well with cross-column features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1B753923-0B3B-D66E-A319-2292FF4F5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7382" y="1835728"/>
            <a:ext cx="914400" cy="914400"/>
          </a:xfrm>
          <a:prstGeom prst="rect">
            <a:avLst/>
          </a:prstGeom>
        </p:spPr>
      </p:pic>
      <p:pic>
        <p:nvPicPr>
          <p:cNvPr id="7" name="Graphic 6" descr="Checkbox Checked with solid fill">
            <a:extLst>
              <a:ext uri="{FF2B5EF4-FFF2-40B4-BE49-F238E27FC236}">
                <a16:creationId xmlns:a16="http://schemas.microsoft.com/office/drawing/2014/main" id="{DE951354-C080-3FCB-2B18-082E6F4D72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7345" y="1835728"/>
            <a:ext cx="914400" cy="914400"/>
          </a:xfrm>
          <a:prstGeom prst="rect">
            <a:avLst/>
          </a:prstGeom>
        </p:spPr>
      </p:pic>
      <p:pic>
        <p:nvPicPr>
          <p:cNvPr id="9" name="Graphic 8" descr="Checkbox Crossed with solid fill">
            <a:extLst>
              <a:ext uri="{FF2B5EF4-FFF2-40B4-BE49-F238E27FC236}">
                <a16:creationId xmlns:a16="http://schemas.microsoft.com/office/drawing/2014/main" id="{978CE0F0-762F-C616-DD9E-D9DB7C527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1582" y="18357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08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40DBE7-383A-0D99-9ABF-1A166FE44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1200"/>
            <a:ext cx="9033164" cy="5334000"/>
          </a:xfrm>
        </p:spPr>
        <p:txBody>
          <a:bodyPr/>
          <a:lstStyle/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6 experts + 6 general users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”</a:t>
            </a:r>
            <a:r>
              <a:rPr lang="en-US" sz="3200" dirty="0">
                <a:solidFill>
                  <a:schemeClr val="tx1"/>
                </a:solidFill>
              </a:rPr>
              <a:t>It is reasonable to recommend these multiple types of visualizations for the same dataset</a:t>
            </a:r>
            <a:r>
              <a:rPr lang="hu-HU" sz="3200" dirty="0">
                <a:solidFill>
                  <a:schemeClr val="tx1"/>
                </a:solidFill>
              </a:rPr>
              <a:t>”</a:t>
            </a:r>
          </a:p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Missing:</a:t>
            </a:r>
          </a:p>
          <a:p>
            <a:r>
              <a:rPr lang="hu-HU" sz="3200" dirty="0">
                <a:solidFill>
                  <a:schemeClr val="tx1"/>
                </a:solidFill>
              </a:rPr>
              <a:t>Explanation for non-suitable graph</a:t>
            </a:r>
          </a:p>
          <a:p>
            <a:r>
              <a:rPr lang="hu-HU" sz="3200" dirty="0">
                <a:solidFill>
                  <a:schemeClr val="tx1"/>
                </a:solidFill>
              </a:rPr>
              <a:t>User-centric recommendation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BBD15C-7A47-1655-4112-9CE31F3C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User feedback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83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E34EC-7415-9E0A-6841-4403D401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EB0545-24F4-D58F-B4F2-5F687F09775C}"/>
              </a:ext>
            </a:extLst>
          </p:cNvPr>
          <p:cNvSpPr txBox="1"/>
          <p:nvPr/>
        </p:nvSpPr>
        <p:spPr>
          <a:xfrm>
            <a:off x="5267395" y="0"/>
            <a:ext cx="40965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/>
              <a:t>Our Thoughts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93E640-D644-8EB0-86AC-0DA8590E3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265" y="1753553"/>
            <a:ext cx="2219325" cy="4600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72D221-4812-DEB2-EA85-C58B442A3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432" y="1707642"/>
            <a:ext cx="2771775" cy="4838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42DEC-FF7C-F7D1-1A64-A14AD2E6885B}"/>
              </a:ext>
            </a:extLst>
          </p:cNvPr>
          <p:cNvSpPr txBox="1"/>
          <p:nvPr/>
        </p:nvSpPr>
        <p:spPr>
          <a:xfrm>
            <a:off x="1212029" y="3578412"/>
            <a:ext cx="601065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Useful for "normal" users, dubious for experts and researchers</a:t>
            </a:r>
          </a:p>
        </p:txBody>
      </p:sp>
    </p:spTree>
    <p:extLst>
      <p:ext uri="{BB962C8B-B14F-4D97-AF65-F5344CB8AC3E}">
        <p14:creationId xmlns:p14="http://schemas.microsoft.com/office/powerpoint/2010/main" val="804663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E5648-6A44-888E-7D1C-51F5E841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816B5A-EDAE-7CD3-7EBE-E38922C13510}"/>
              </a:ext>
            </a:extLst>
          </p:cNvPr>
          <p:cNvSpPr txBox="1"/>
          <p:nvPr/>
        </p:nvSpPr>
        <p:spPr>
          <a:xfrm>
            <a:off x="5267395" y="0"/>
            <a:ext cx="40965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/>
              <a:t>Our Thoughts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F122B8-AD15-1969-ABB4-570DB026F184}"/>
              </a:ext>
            </a:extLst>
          </p:cNvPr>
          <p:cNvGrpSpPr/>
          <p:nvPr/>
        </p:nvGrpSpPr>
        <p:grpSpPr>
          <a:xfrm>
            <a:off x="1219200" y="1707642"/>
            <a:ext cx="5275326" cy="4838700"/>
            <a:chOff x="7839265" y="1707642"/>
            <a:chExt cx="5250942" cy="48387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EBF07FC-235E-040D-EFD3-BFCB98549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9265" y="1753553"/>
              <a:ext cx="2219325" cy="460057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19E983-4F67-57F0-2077-9CD554FBA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8432" y="1707642"/>
              <a:ext cx="2771775" cy="4838700"/>
            </a:xfrm>
            <a:prstGeom prst="rect">
              <a:avLst/>
            </a:prstGeom>
          </p:spPr>
        </p:pic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59176300-2A2D-DFA6-CE73-5C6EB8169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7767" y="1645920"/>
            <a:ext cx="5133906" cy="49377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9A7F990-9D35-6EED-8D48-4AE8A1E960F3}"/>
                  </a:ext>
                </a:extLst>
              </p14:cNvPr>
              <p14:cNvContentPartPr/>
              <p14:nvPr/>
            </p14:nvContentPartPr>
            <p14:xfrm>
              <a:off x="3632351" y="2232546"/>
              <a:ext cx="2659708" cy="3891992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9A7F990-9D35-6EED-8D48-4AE8A1E960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14353" y="2214548"/>
                <a:ext cx="2695344" cy="3927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B3EE094-3158-7321-85B6-6322C052DCF0}"/>
                  </a:ext>
                </a:extLst>
              </p14:cNvPr>
              <p14:cNvContentPartPr/>
              <p14:nvPr/>
            </p14:nvContentPartPr>
            <p14:xfrm>
              <a:off x="3605011" y="2567826"/>
              <a:ext cx="2755299" cy="3783532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B3EE094-3158-7321-85B6-6322C052DC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87012" y="2549828"/>
                <a:ext cx="2790937" cy="38191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8760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12EE0C-D84E-EE99-0319-8E39200B8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" indent="0">
              <a:buNone/>
            </a:pPr>
            <a:endParaRPr lang="hu-HU" sz="3200" dirty="0">
              <a:solidFill>
                <a:schemeClr val="tx1"/>
              </a:solidFill>
            </a:endParaRPr>
          </a:p>
          <a:p>
            <a:pPr marL="57150" indent="0">
              <a:buNone/>
            </a:pPr>
            <a:r>
              <a:rPr lang="hu-HU" sz="3200" dirty="0">
                <a:solidFill>
                  <a:schemeClr val="tx1"/>
                </a:solidFill>
              </a:rPr>
              <a:t>Sources:</a:t>
            </a:r>
          </a:p>
          <a:p>
            <a:r>
              <a:rPr lang="en-US" sz="3200" dirty="0">
                <a:solidFill>
                  <a:schemeClr val="tx1"/>
                </a:solidFill>
              </a:rPr>
              <a:t>S. Zhang, H. Li, H. Qu, and Y. Wang, “ADAVIS: Adaptive and Explainable Visualization Recommendation for Tabular data,” IEEE Transactions on Visualization and Computer Graphics, vol. 30, no. 9, pp. 5923–5938, Sep. 2023, </a:t>
            </a:r>
            <a:r>
              <a:rPr lang="en-US" sz="3200" dirty="0" err="1">
                <a:solidFill>
                  <a:schemeClr val="tx1"/>
                </a:solidFill>
              </a:rPr>
              <a:t>doi</a:t>
            </a:r>
            <a:r>
              <a:rPr lang="en-US" sz="3200" dirty="0">
                <a:solidFill>
                  <a:schemeClr val="tx1"/>
                </a:solidFill>
              </a:rPr>
              <a:t>: 10.1109/tvcg.2023.3316469.</a:t>
            </a:r>
          </a:p>
          <a:p>
            <a:r>
              <a:rPr lang="hu-HU" sz="3200" dirty="0">
                <a:solidFill>
                  <a:schemeClr val="tx1"/>
                </a:solidFill>
              </a:rPr>
              <a:t>Presentation slides provided by S. Zhang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DBF2E2-FEA4-96D8-9F2C-D35120C6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Thank you for your attention!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96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657</Words>
  <Application>Microsoft Office PowerPoint</Application>
  <PresentationFormat>Custom</PresentationFormat>
  <Paragraphs>137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Arial</vt:lpstr>
      <vt:lpstr>Aptos Display</vt:lpstr>
      <vt:lpstr>Aptos</vt:lpstr>
      <vt:lpstr>Office Theme</vt:lpstr>
      <vt:lpstr>AdaVis : Adaptive and Explainable Visualization Recommendation for Tabular Data</vt:lpstr>
      <vt:lpstr>AdaVis : Adaptive and Explainable Visualization Recommendation for Tabular Data</vt:lpstr>
      <vt:lpstr>AdaVis : Adaptive and Explainable Visualization Recommendation for Tabular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Methodology</vt:lpstr>
      <vt:lpstr>Methodology</vt:lpstr>
      <vt:lpstr>Methodology</vt:lpstr>
      <vt:lpstr>Methodology</vt:lpstr>
      <vt:lpstr>Evaluation</vt:lpstr>
      <vt:lpstr>Evaluation</vt:lpstr>
      <vt:lpstr>Evaluation</vt:lpstr>
      <vt:lpstr>User feedback</vt:lpstr>
      <vt:lpstr>PowerPoint Presentation</vt:lpstr>
      <vt:lpstr>PowerPoint Presentation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AdaVis : Adaptive and Explainable Visualization Recommendation for Tabular Data</dc:title>
  <dc:creator>ZHANG Songheng</dc:creator>
  <cp:lastModifiedBy>Petra Horvath</cp:lastModifiedBy>
  <cp:revision>3</cp:revision>
  <cp:lastPrinted>2024-10-04T01:28:05Z</cp:lastPrinted>
  <dcterms:created xsi:type="dcterms:W3CDTF">2021-06-16T18:32:57Z</dcterms:created>
  <dcterms:modified xsi:type="dcterms:W3CDTF">2026-09-17T13:14:10Z</dcterms:modified>
</cp:coreProperties>
</file>