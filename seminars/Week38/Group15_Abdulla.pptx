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65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8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5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4A23-B576-6A5C-36C6-FE2CED71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45DB-1580-212F-525A-80A9E5E8E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4547C-329E-50BE-602E-A21BCC838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FE4F1-A7C6-8425-6469-9D2AAF1D1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43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5B5B"/>
          </a:solidFill>
          <a:ln w="12700">
            <a:solidFill>
              <a:srgbClr val="1F5B5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Talbot, Setlur &amp; Anand · IEEE TVCG 2014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64040" y="64922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VISUALIZATION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3152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121"/>
                </a:solidFill>
              </a:rPr>
              <a:t>Four Experiments on the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72121"/>
                </a:solidFill>
              </a:rPr>
              <a:t>Perception of Bar Charts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76655" y="2331720"/>
            <a:ext cx="6789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96363"/>
                </a:solidFill>
              </a:rPr>
              <a:t>Why small design choices change how accurately we read bar charts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" y="30906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21"/>
                </a:solidFill>
              </a:rPr>
              <a:t>Justin Talbot · Vidya Setlur · Anushka Anand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3447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363"/>
                </a:solidFill>
              </a:rPr>
              <a:t>IEEE Transactions on Visualization and Computer Graphics · 2014 – </a:t>
            </a:r>
            <a:r>
              <a:rPr lang="en-US" sz="1100" i="1" dirty="0">
                <a:solidFill>
                  <a:srgbClr val="596363"/>
                </a:solidFill>
              </a:rPr>
              <a:t>129 citations</a:t>
            </a:r>
            <a:endParaRPr lang="en-US" sz="1100" i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F04A1-3176-499F-3D90-F283F5B9AC3A}"/>
              </a:ext>
            </a:extLst>
          </p:cNvPr>
          <p:cNvSpPr txBox="1"/>
          <p:nvPr/>
        </p:nvSpPr>
        <p:spPr>
          <a:xfrm>
            <a:off x="403058" y="6196060"/>
            <a:ext cx="4217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72121"/>
                </a:solidFill>
              </a:rPr>
              <a:t>Mouzhar Alhoumsi . Abdulla Abu </a:t>
            </a:r>
            <a:r>
              <a:rPr lang="en-US" b="1" dirty="0" err="1">
                <a:solidFill>
                  <a:srgbClr val="172121"/>
                </a:solidFill>
              </a:rPr>
              <a:t>Ainin</a:t>
            </a:r>
            <a:endParaRPr lang="en-SE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E36F699-A5F0-E70F-D07A-31E3E75C4C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16075" y="1147769"/>
            <a:ext cx="6809850" cy="4766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THE STARTING POINT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Introduction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78992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96363"/>
                </a:solidFill>
              </a:rPr>
              <a:t>What are bar charts used for?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96363"/>
                </a:solidFill>
              </a:rPr>
              <a:t>Goal of the study</a:t>
            </a:r>
          </a:p>
          <a:p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B3C566DA-A2BC-FF7F-3A05-DDAC8F077ED2}"/>
              </a:ext>
            </a:extLst>
          </p:cNvPr>
          <p:cNvSpPr/>
          <p:nvPr/>
        </p:nvSpPr>
        <p:spPr>
          <a:xfrm>
            <a:off x="6981444" y="4987349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72121"/>
                </a:solidFill>
              </a:rPr>
              <a:t>Simple-Bar charts</a:t>
            </a:r>
            <a:endParaRPr lang="en-US" sz="1700" i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AD3C61-8F5F-E5FB-B466-350BF1315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8493"/>
            <a:ext cx="5508672" cy="30986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00B9DC0-FE58-AFEE-C4C8-D167D925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18492"/>
            <a:ext cx="5508673" cy="30986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 11">
            <a:extLst>
              <a:ext uri="{FF2B5EF4-FFF2-40B4-BE49-F238E27FC236}">
                <a16:creationId xmlns:a16="http://schemas.microsoft.com/office/drawing/2014/main" id="{0388D50B-A404-5739-83E3-CEFD5BC22778}"/>
              </a:ext>
            </a:extLst>
          </p:cNvPr>
          <p:cNvSpPr/>
          <p:nvPr/>
        </p:nvSpPr>
        <p:spPr>
          <a:xfrm>
            <a:off x="1433615" y="498629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72121"/>
                </a:solidFill>
              </a:rPr>
              <a:t>Stacked-Bar charts</a:t>
            </a:r>
            <a:endParaRPr lang="en-US" sz="17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3313-2843-FB63-A8C3-24C5B68DC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4FB820-B239-FDC7-E97B-1710253A4EC9}"/>
              </a:ext>
            </a:extLst>
          </p:cNvPr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THE STARTING POINT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E41898-00ED-EF32-401C-E80676C0B711}"/>
              </a:ext>
            </a:extLst>
          </p:cNvPr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Related work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9E5313-741A-6274-E517-398C32CFBEF8}"/>
              </a:ext>
            </a:extLst>
          </p:cNvPr>
          <p:cNvSpPr/>
          <p:nvPr/>
        </p:nvSpPr>
        <p:spPr>
          <a:xfrm>
            <a:off x="594360" y="12984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96363"/>
                </a:solidFill>
              </a:rPr>
              <a:t>Cleveland &amp; McGill showed that perceptual accuracy depends on chart configuration.</a:t>
            </a:r>
            <a:endParaRPr lang="en-US" sz="1800" dirty="0"/>
          </a:p>
        </p:txBody>
      </p:sp>
      <p:pic>
        <p:nvPicPr>
          <p:cNvPr id="5" name="Image 0" descr="/mnt/data/bar_assets/fig1.png">
            <a:extLst>
              <a:ext uri="{FF2B5EF4-FFF2-40B4-BE49-F238E27FC236}">
                <a16:creationId xmlns:a16="http://schemas.microsoft.com/office/drawing/2014/main" id="{3F16AB59-C1AA-1428-454D-670CA60BA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16" b="12931"/>
          <a:stretch>
            <a:fillRect/>
          </a:stretch>
        </p:blipFill>
        <p:spPr>
          <a:xfrm>
            <a:off x="960120" y="1948524"/>
            <a:ext cx="10232136" cy="2762371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5EA0CA0-6964-F3AC-110F-8C7AD61AD2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354FF55-5F70-6B4F-B18B-7A7D302338BE}"/>
              </a:ext>
            </a:extLst>
          </p:cNvPr>
          <p:cNvSpPr txBox="1"/>
          <p:nvPr/>
        </p:nvSpPr>
        <p:spPr>
          <a:xfrm>
            <a:off x="733434" y="4768744"/>
            <a:ext cx="1051177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1" dirty="0">
                <a:ea typeface="+mn-lt"/>
                <a:cs typeface="+mn-lt"/>
              </a:rPr>
              <a:t>The five bar chart tasks studied in Cleveland &amp; McGill</a:t>
            </a:r>
            <a:endParaRPr lang="en-US" i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B87299-877B-750A-7858-CF3D076B14BF}"/>
              </a:ext>
            </a:extLst>
          </p:cNvPr>
          <p:cNvCxnSpPr/>
          <p:nvPr/>
        </p:nvCxnSpPr>
        <p:spPr>
          <a:xfrm>
            <a:off x="1784838" y="5521569"/>
            <a:ext cx="813288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 18">
            <a:extLst>
              <a:ext uri="{FF2B5EF4-FFF2-40B4-BE49-F238E27FC236}">
                <a16:creationId xmlns:a16="http://schemas.microsoft.com/office/drawing/2014/main" id="{88B05C26-DFF3-6AFE-FF78-DF92307E08D5}"/>
              </a:ext>
            </a:extLst>
          </p:cNvPr>
          <p:cNvSpPr/>
          <p:nvPr/>
        </p:nvSpPr>
        <p:spPr>
          <a:xfrm>
            <a:off x="733434" y="5559552"/>
            <a:ext cx="10076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5B5B"/>
                </a:solidFill>
              </a:rPr>
              <a:t>Best to worse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240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STUDY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Four experiments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6D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50876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Adjacent vs. separated bars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166360" y="153619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Is extra error caused by distance, distractors, or both?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572768" y="2176272"/>
            <a:ext cx="9509760" cy="0"/>
          </a:xfrm>
          <a:prstGeom prst="line">
            <a:avLst/>
          </a:prstGeom>
          <a:noFill/>
          <a:ln w="12700">
            <a:solidFill>
              <a:srgbClr val="D5DAD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6D4D"/>
                </a:solidFill>
              </a:rPr>
              <a:t>02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72768" y="2572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Aligned vs. unaligned bars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166360" y="2544679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What makes stacked, unaligned comparisons difficult?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72768" y="3182112"/>
            <a:ext cx="9509760" cy="0"/>
          </a:xfrm>
          <a:prstGeom prst="line">
            <a:avLst/>
          </a:prstGeom>
          <a:noFill/>
          <a:ln w="12700">
            <a:solidFill>
              <a:srgbClr val="D5DAD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6D4D"/>
                </a:solidFill>
              </a:rPr>
              <a:t>03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572768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Divided bars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166360" y="35295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Why are segments in the same stack unusually difficult?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72768" y="4187952"/>
            <a:ext cx="9509760" cy="0"/>
          </a:xfrm>
          <a:prstGeom prst="line">
            <a:avLst/>
          </a:prstGeom>
          <a:noFill/>
          <a:ln w="12700">
            <a:solidFill>
              <a:srgbClr val="D5DAD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6D4D"/>
                </a:solidFill>
              </a:rPr>
              <a:t>04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572768" y="4589325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True percent &amp; rounding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166360" y="45474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How does the true ratio affect error and how do people estimate?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Experiment 1 · Adjacent vs. separated bars</a:t>
            </a:r>
            <a:endParaRPr lang="en-US" sz="2700" dirty="0"/>
          </a:p>
        </p:txBody>
      </p:sp>
      <p:pic>
        <p:nvPicPr>
          <p:cNvPr id="4" name="Image 0" descr="/mnt/data/bar_assets/fig2.png"/>
          <p:cNvPicPr>
            <a:picLocks noChangeAspect="1"/>
          </p:cNvPicPr>
          <p:nvPr/>
        </p:nvPicPr>
        <p:blipFill>
          <a:blip r:embed="rId3"/>
          <a:srcRect r="4608"/>
          <a:stretch>
            <a:fillRect/>
          </a:stretch>
        </p:blipFill>
        <p:spPr>
          <a:xfrm>
            <a:off x="1221003" y="1325880"/>
            <a:ext cx="3715600" cy="41445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47144" y="1443151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B5B"/>
                </a:solidFill>
              </a:rPr>
              <a:t>What changed?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47144" y="1808911"/>
            <a:ext cx="53035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121"/>
                </a:solidFill>
              </a:rPr>
              <a:t>Compared adjacent and separated bars.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endParaRPr lang="en-US" sz="1600" dirty="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121"/>
                </a:solidFill>
              </a:rPr>
              <a:t>Varied distractors: none, short, and tall.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endParaRPr lang="en-US" sz="1600" dirty="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121"/>
                </a:solidFill>
              </a:rPr>
              <a:t>Also varied reference-bar height.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47144" y="3729151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C76D4D"/>
                </a:solidFill>
              </a:rPr>
              <a:t>0.81 pp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975427" y="38141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96363"/>
                </a:solidFill>
              </a:rPr>
              <a:t>estimated total separation effect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6146937" y="4499417"/>
            <a:ext cx="6021556" cy="503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5B5B"/>
                </a:solidFill>
              </a:rPr>
              <a:t>Separation itself was the main source of difficulty; short bars were especially hard when far apart.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3570" y="565745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121"/>
                </a:solidFill>
              </a:rPr>
              <a:t>Design implication: sorting, reference lines, or interaction can bring distant values closer for comparison.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ALIGNMENT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Experiment 2 · Aligned vs. unaligned bars</a:t>
            </a:r>
            <a:endParaRPr lang="en-US" sz="2700" dirty="0"/>
          </a:p>
        </p:txBody>
      </p:sp>
      <p:pic>
        <p:nvPicPr>
          <p:cNvPr id="4" name="Image 0" descr="/mnt/data/bar_assets/exp2_visuals.png"/>
          <p:cNvPicPr>
            <a:picLocks noChangeAspect="1"/>
          </p:cNvPicPr>
          <p:nvPr/>
        </p:nvPicPr>
        <p:blipFill>
          <a:blip r:embed="rId3"/>
          <a:srcRect l="50719" t="1644" r="1791" b="6262"/>
          <a:stretch>
            <a:fillRect/>
          </a:stretch>
        </p:blipFill>
        <p:spPr>
          <a:xfrm>
            <a:off x="3758321" y="1552725"/>
            <a:ext cx="3449478" cy="3299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4380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C76D4D"/>
                </a:solidFill>
              </a:rPr>
              <a:t>1.16 pp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7571232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363"/>
                </a:solidFill>
              </a:rPr>
              <a:t>unalignment effect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2606040"/>
            <a:ext cx="384048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Unaligned comparisons clearly increased error.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endParaRPr lang="en-US" sz="150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Stacked distractors added further difficulty.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endParaRPr lang="en-US" sz="150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A middle marking dot actually made both aligned and unaligned comparisons slightly easier.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6220" y="5349240"/>
            <a:ext cx="106051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5B5B"/>
                </a:solidFill>
              </a:rPr>
              <a:t>A common baseline helps because position is easier to judge than unaligned length.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Image 0" descr="/mnt/data/bar_assets/exp2_visuals.png">
            <a:extLst>
              <a:ext uri="{FF2B5EF4-FFF2-40B4-BE49-F238E27FC236}">
                <a16:creationId xmlns:a16="http://schemas.microsoft.com/office/drawing/2014/main" id="{EB06533E-BD4E-6BF1-6A6C-1C34BCDFD2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4" t="1644" r="49326" b="-1"/>
          <a:stretch>
            <a:fillRect/>
          </a:stretch>
        </p:blipFill>
        <p:spPr>
          <a:xfrm>
            <a:off x="596220" y="1554480"/>
            <a:ext cx="3083159" cy="3302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PART-TO-WHOLE BIAS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Experiment 3 · Divided bars</a:t>
            </a:r>
            <a:endParaRPr lang="en-US" sz="2700" dirty="0"/>
          </a:p>
        </p:txBody>
      </p:sp>
      <p:pic>
        <p:nvPicPr>
          <p:cNvPr id="4" name="Image 0" descr="/mnt/data/bar_assets/fig11.png"/>
          <p:cNvPicPr>
            <a:picLocks noChangeAspect="1"/>
          </p:cNvPicPr>
          <p:nvPr/>
        </p:nvPicPr>
        <p:blipFill>
          <a:blip r:embed="rId3"/>
          <a:srcRect l="1854" t="-28" r="1167" b="16782"/>
          <a:stretch>
            <a:fillRect/>
          </a:stretch>
        </p:blipFill>
        <p:spPr>
          <a:xfrm>
            <a:off x="1044780" y="1350166"/>
            <a:ext cx="4343235" cy="38908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6303" y="147595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5B5B"/>
                </a:solidFill>
              </a:rPr>
              <a:t>Unexpected result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906303" y="1841715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1"/>
                </a:solidFill>
              </a:rPr>
              <a:t>Adding a gap made the comparison easier.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906303" y="275611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C76D4D"/>
                </a:solidFill>
              </a:rPr>
              <a:t>−0.87 pp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780823" y="2820123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96363"/>
                </a:solidFill>
              </a:rPr>
              <a:t>error with one intervening bar vs. adjacent segments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06303" y="368880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5B5B"/>
                </a:solidFill>
              </a:rPr>
              <a:t>Possible explanation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6906303" y="4036275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121"/>
                </a:solidFill>
              </a:rPr>
              <a:t>Adjacent segments may trigger a part-to-whole judgment. Example: 30/60 = 50%, but 30/(30+60) = 33%.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3932" y="5498799"/>
            <a:ext cx="9985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5B5B"/>
                </a:solidFill>
              </a:rPr>
              <a:t>In stacked bars, visual grouping can bias the task—not just make it harder.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ESTIMATION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Experiment 4 · True percent &amp; rounding</a:t>
            </a:r>
            <a:endParaRPr lang="en-US" sz="2700" dirty="0"/>
          </a:p>
        </p:txBody>
      </p:sp>
      <p:pic>
        <p:nvPicPr>
          <p:cNvPr id="4" name="Image 0" descr="/mnt/data/bar_assets/fig15.png"/>
          <p:cNvPicPr>
            <a:picLocks noChangeAspect="1"/>
          </p:cNvPicPr>
          <p:nvPr/>
        </p:nvPicPr>
        <p:blipFill>
          <a:blip r:embed="rId3"/>
          <a:srcRect l="6064" b="10216"/>
          <a:stretch>
            <a:fillRect/>
          </a:stretch>
        </p:blipFill>
        <p:spPr>
          <a:xfrm>
            <a:off x="566927" y="1417320"/>
            <a:ext cx="5074919" cy="46586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978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5B5B"/>
                </a:solidFill>
              </a:rPr>
              <a:t>What the curve shows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97880" y="1783080"/>
            <a:ext cx="507492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Error is lowest near 0%, 50%, and 100%.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endParaRPr lang="en-US" sz="150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The error curve is roughly symmetric around 50%.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endParaRPr lang="en-US" sz="150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Small ratios tend to be overestimated; large ratios tend to be underestimated.</a:t>
            </a:r>
            <a:endParaRPr lang="en-US" sz="1500"/>
          </a:p>
          <a:p>
            <a:pPr marL="177800" indent="-177800">
              <a:buSzPct val="100000"/>
              <a:buChar char="•"/>
            </a:pPr>
            <a:endParaRPr lang="en-US" sz="1500">
              <a:solidFill>
                <a:srgbClr val="172121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72121"/>
                </a:solidFill>
              </a:rPr>
              <a:t>Participants strongly favor rounded answers—especially multiples of 10 and 5.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97880" y="4526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C76D4D"/>
                </a:solidFill>
              </a:rPr>
              <a:t>50%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223760" y="4617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6363"/>
                </a:solidFill>
              </a:rPr>
              <a:t>was unusually accurate—not merely a rounding artifact.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36792" y="5285232"/>
            <a:ext cx="4773168" cy="7359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5B5B"/>
                </a:solidFill>
              </a:rPr>
              <a:t>Perceptual accuracy depends on the value being judged, not only on the chart design.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WHAT DO THE EXPERIMENTS TELL US?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Discussion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435608"/>
            <a:ext cx="219456" cy="219456"/>
          </a:xfrm>
          <a:prstGeom prst="ellipse">
            <a:avLst/>
          </a:prstGeom>
          <a:solidFill>
            <a:srgbClr val="1F5B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1280160" y="13990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Distance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337560" y="13030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363"/>
                </a:solidFill>
              </a:rPr>
              <a:t>Separated values are harder to compare especially when bars are short.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219456" cy="219456"/>
          </a:xfrm>
          <a:prstGeom prst="ellipse">
            <a:avLst/>
          </a:prstGeom>
          <a:solidFill>
            <a:srgbClr val="C76D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1280160" y="24963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Alignment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37560" y="25023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363"/>
                </a:solidFill>
              </a:rPr>
              <a:t>Shared baselines support more accurate position judgments than unaligned length judgments.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30168"/>
            <a:ext cx="219456" cy="219456"/>
          </a:xfrm>
          <a:prstGeom prst="ellipse">
            <a:avLst/>
          </a:prstGeom>
          <a:solidFill>
            <a:srgbClr val="1F5B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280160" y="35935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Context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337560" y="359359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363"/>
                </a:solidFill>
              </a:rPr>
              <a:t>Distractors and visual grouping can change the task people think they are performing.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727448"/>
            <a:ext cx="219456" cy="219456"/>
          </a:xfrm>
          <a:prstGeom prst="ellipse">
            <a:avLst/>
          </a:prstGeom>
          <a:solidFill>
            <a:srgbClr val="C76D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280160" y="4690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121"/>
                </a:solidFill>
              </a:rPr>
              <a:t>Human strategy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337560" y="47274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363"/>
                </a:solidFill>
              </a:rPr>
              <a:t>People use anchors and rounded values; 50% is a particularly strong perceptual reference.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5806440"/>
            <a:ext cx="9893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5B5B"/>
                </a:solidFill>
              </a:rPr>
              <a:t>Good visualization design reduces perceptual work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1F5B5B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1"/>
                </a:solidFill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2121"/>
                </a:solidFill>
              </a:rPr>
              <a:t>What can we take from this study?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6D4D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1"/>
                </a:solidFill>
              </a:rPr>
              <a:t>Keep comparisons close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17720" y="2148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Spatial separation increases estimation error.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6D4D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999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1"/>
                </a:solidFill>
              </a:rPr>
              <a:t>Prefer common baselines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9992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Aligned position judgments are easier than unaligned length judgments.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8496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6D4D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84962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1"/>
                </a:solidFill>
              </a:rPr>
              <a:t>Be careful with stacked bars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8496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Distractors and part-to-whole grouping can bias comparisons.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7000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6D4D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7000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1"/>
                </a:solidFill>
              </a:rPr>
              <a:t>Design for human estimation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96363"/>
                </a:solidFill>
              </a:rPr>
              <a:t>People use anchors, rounding, and especially strong references such as 100%.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669280"/>
            <a:ext cx="9966960" cy="0"/>
          </a:xfrm>
          <a:prstGeom prst="line">
            <a:avLst/>
          </a:prstGeom>
          <a:noFill/>
          <a:ln w="12700">
            <a:solidFill>
              <a:srgbClr val="D5DAD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822960" y="5870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5B5B"/>
                </a:solidFill>
              </a:rPr>
              <a:t>Main message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5797296"/>
            <a:ext cx="8641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121"/>
                </a:solidFill>
              </a:rPr>
              <a:t>The same data can be easier or harder to understand depending on how it is visually arranged.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7DE49C180D1B469C0289EEA8AF9C58" ma:contentTypeVersion="10" ma:contentTypeDescription="Skapa ett nytt dokument." ma:contentTypeScope="" ma:versionID="348df175df3400695da0c2878a8935f7">
  <xsd:schema xmlns:xsd="http://www.w3.org/2001/XMLSchema" xmlns:xs="http://www.w3.org/2001/XMLSchema" xmlns:p="http://schemas.microsoft.com/office/2006/metadata/properties" xmlns:ns3="bc015863-004a-4c59-9e45-4771f849e387" targetNamespace="http://schemas.microsoft.com/office/2006/metadata/properties" ma:root="true" ma:fieldsID="9acd2da02d95965537d8432d7c64132d" ns3:_="">
    <xsd:import namespace="bc015863-004a-4c59-9e45-4771f849e38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015863-004a-4c59-9e45-4771f849e38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015863-004a-4c59-9e45-4771f849e387" xsi:nil="true"/>
  </documentManagement>
</p:properties>
</file>

<file path=customXml/itemProps1.xml><?xml version="1.0" encoding="utf-8"?>
<ds:datastoreItem xmlns:ds="http://schemas.openxmlformats.org/officeDocument/2006/customXml" ds:itemID="{FD984C90-E206-4D59-8411-E0B6FE7C79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015863-004a-4c59-9e45-4771f849e3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03B68D-9E76-4DEC-96DD-F1C05E9BB8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36DA58-7260-49F9-AEFB-0C8E83C62062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bc015863-004a-4c59-9e45-4771f849e38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628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Experiments on the Perception of Bar Charts</dc:title>
  <dc:subject>Information Visualization article presentation</dc:subject>
  <dc:creator>OpenAI</dc:creator>
  <cp:lastModifiedBy>Abdulla Abu Ainin</cp:lastModifiedBy>
  <cp:revision>11</cp:revision>
  <dcterms:created xsi:type="dcterms:W3CDTF">2026-09-17T17:46:46Z</dcterms:created>
  <dcterms:modified xsi:type="dcterms:W3CDTF">2026-09-17T19:52:19Z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0x010100917DE49C180D1B469C0289EEA8AF9C58</vt:lpwstr>
  </property>
</Properties>
</file>